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0a0f723-2d5c-57de-9d32-7f71260c6512}">
          <p14:sldIdLst>
            <p14:sldId id="256"/>
          </p14:sldIdLst>
        </p14:section>
        <p14:section name="Research activity" id="{ec573727-0acb-4d12-fc51-af2a56b08c60}">
          <p14:sldIdLst>
            <p14:sldId id="257"/>
            <p14:sldId id="258"/>
            <p14:sldId id="259"/>
            <p14:sldId id="260"/>
            <p14:sldId id="261"/>
            <p14:sldId id="262"/>
            <p14:sldId id="263"/>
          </p14:sldIdLst>
        </p14:section>
        <p14:section name="Training activities" id="{c4ddc8fe-23b0-4cac-ac75-877fef7e2cb0}">
          <p14:sldIdLst>
            <p14:sldId id="264"/>
            <p14:sldId id="265"/>
            <p14:sldId id="266"/>
          </p14:sldIdLst>
        </p14:section>
        <p14:section name="Closing" id="{c2277feb-aece-1337-77de-1bcfe90f92cd}">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references:
1. A. Convertino, V. Mussi, L. Maiolo, "Disordered array of Au covered silicon nanowires for SERS biosensing combined with electrochemical detection," Sci. Rep. 2016, 6, 25099.
2. A. Convertino, V. Mussi, L. Maiolo, M. Ledda, M. G. Lolli, F. A. Bovino, G. Fortunato, M. Rocchia, A. Lisi, "Array of disordered silicon nanowires coated by a gold film for combined NIR photothermal treatment of cancer cells and Raman monitoring of the process evolution," Nanotechnology 2018, 29, 415102.
3. D. Paria, A. Convertino, V. Mussi, L. Maiolo, I. Barman, "Silver-Coated Disordered Silicon Nanowires Provide Highly Sensitive Label-Free Glycated Albumin Detection through Molecular Trapping and Plasmonic Hotspot Formation," Adv. Healthcare Mater. 2020, 2001110.
4. V. Mussi, M. Ledda, A. Convertino, A. Lisi, "Raman Mapping of Biological Systems Interacting with a Disordered Nanostructured Surface: A Simple and Powerful Approach to the Label-Free Analysis of Single DNA Bases," Micromachines 2021, 12, 264.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lab we don't look at single spectra one by one. We use Raman mapping: the laser scans across the sample and records a full spectrum at every pixel, so one map gives us hundreds to thousands of spectra. Each spectrum is a chemical fingerprint. Here you can see bands for proteins, such as phenylalanine at 1001, amide III at 1240 and amide I around 1600, and C-H stretching around 2936 from lipids and proteins. From the map we learn not only what biomolecules are present but where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problem with Raman mapping is that some biomolecules have a very weak Raman signal. To solve this we use SERS, surface-enhanced Raman scattering. Our substrate is silicon nanowires coated with metal. When the laser hits the metal, it excites surface plasmons, which create very strong electromagnetic fields in the small gaps between the wires, the so-called hot spots. Molecules sitting there give a Raman signal that is typically enhanced by ten thousand to a hundred million times. You can see it here: the bottom grey line is the same Acacia EV sample on a standard CaF2 substrate, with no detectable peaks. The red line is on our SERS substrate, where the protein and lipid bands appear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extract extracellular vesicles (EV) and nanovesicles (NV) from Acacia and drop them on our Ag/SiNW SERS substrate. We record Raman maps on the dried drops. The spectra are preprocessed in Python: we crop the informative region, smooth, and normalise with SNV. Then we use PCA for dimensionality reduction, followed by PCA-LDA classification, cross-checked with PLS-DA, using site-grouped 5-fold cross-validation so that spectra from the same spot never appear in both training and test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mean spectra show differences mainly in the 1380 and 1600 bands, and in the PCA of the C-H stretching region (2760–3095 cm-1) the two vesicle types form clearly separated clusters. This shows that SERS combined with machine learning can distinguish the vesicle types without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9C3EC"/>
                </a:solidFill>
              </a:defRPr>
            </a:lvl1pPr>
          </a:lstStyle>
          <a:p>
            <a:pPr algn="r"/>
            <a:fld id="{F7021451-1387-4CA6-816F-3879F97B5CBC}" type="slidenum">
              <a:rPr b="0" lang="en-US"/>
              <a:t>1000</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RO">
    <p:bg>
      <p:bgPr>
        <a:solidFill>
          <a:srgbClr val="0B1026"/>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B102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2880360"/>
            <a:ext cx="10332720" cy="100584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3" name="Text 0"/>
          <p:cNvSpPr/>
          <p:nvPr>
            <p:ph idx="101" type="body" hasCustomPrompt="1"/>
          </p:nvPr>
        </p:nvSpPr>
        <p:spPr>
          <a:xfrm>
            <a:off x="914400" y="3977640"/>
            <a:ext cx="10332720" cy="822960"/>
          </a:xfrm>
          <a:prstGeom prst="rect">
            <a:avLst/>
          </a:prstGeom>
          <a:noFill/>
          <a:ln/>
        </p:spPr>
        <p:txBody>
          <a:bodyPr wrap="square" rtlCol="0"/>
          <a:lstStyle>
            <a:lvl1pPr algn="l" indent="0" marL="0">
              <a:buNone/>
              <a:defRPr lang="en-US" sz="2000" dirty="0">
                <a:solidFill>
                  <a:schemeClr val="accent2"/>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0B102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rtlCol="0"/>
          <a:lstStyle>
            <a:lvl1pPr algn="l" indent="0" marL="0">
              <a:buNone/>
              <a:defRPr lang="en-US" sz="3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ph idx="101" type="body" hasCustomPrompt="1"/>
          </p:nvPr>
        </p:nvSpPr>
        <p:spPr>
          <a:xfrm>
            <a:off x="548640" y="960120"/>
            <a:ext cx="11064240" cy="365760"/>
          </a:xfrm>
          <a:prstGeom prst="rect">
            <a:avLst/>
          </a:prstGeom>
          <a:noFill/>
          <a:ln/>
        </p:spPr>
        <p:txBody>
          <a:bodyPr wrap="square" rtlCol="0"/>
          <a:lstStyle>
            <a:lvl1pPr algn="l" indent="0" marL="0">
              <a:buNone/>
              <a:defRPr lang="en-US" sz="1500" i="1" dirty="0">
                <a:solidFill>
                  <a:schemeClr val="accent2"/>
                </a:solidFill>
                <a:latin typeface="Calibri" pitchFamily="34" charset="0"/>
                <a:ea typeface="Calibri" pitchFamily="34" charset="-122"/>
                <a:cs typeface="Calibri" pitchFamily="34" charset="-120"/>
              </a:defRPr>
            </a:lvl1pPr>
          </a:lstStyle>
          <a:p>
            <a:pPr algn="l" indent="0" marL="0">
              <a:buNone/>
            </a:pPr>
            <a:endParaRPr lang="en-US" sz="15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9C3E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gif"/><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2.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1.gif"/><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0-1.gif"/><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0-1.gif"/><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0-1.gif"/><Relationship Id="rId2" Type="http://schemas.openxmlformats.org/officeDocument/2006/relationships/image" Target="../media/image-5-2.png"/><Relationship Id="rId3" Type="http://schemas.openxmlformats.org/officeDocument/2006/relationships/image" Target="../media/image-5-3.jpe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0-1.gif"/><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0-1.gif"/><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4.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0-1.gif"/><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4.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gif"/><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gif"/><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0-1.gif"/><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1.gif"/><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Animated background" descr="Animated background: glowing molecular network and Raman spectra">    </p:cNvPr>
          <p:cNvPicPr>
            <a:picLocks noChangeAspect="1"/>
          </p:cNvPicPr>
          <p:nvPr/>
        </p:nvPicPr>
        <p:blipFill>
          <a:blip r:embed="rId1"/>
          <a:stretch>
            <a:fillRect/>
          </a:stretch>
        </p:blipFill>
        <p:spPr>
          <a:xfrm>
            <a:off x="0" y="0"/>
            <a:ext cx="12191695" cy="6858000"/>
          </a:xfrm>
          <a:prstGeom prst="rect">
            <a:avLst/>
          </a:prstGeom>
        </p:spPr>
      </p:pic>
      <p:sp>
        <p:nvSpPr>
          <p:cNvPr id="3" name="Logo disc"/>
          <p:cNvSpPr/>
          <p:nvPr/>
        </p:nvSpPr>
        <p:spPr>
          <a:xfrm>
            <a:off x="5547208" y="365760"/>
            <a:ext cx="1097280" cy="1097280"/>
          </a:xfrm>
          <a:prstGeom prst="ellipse">
            <a:avLst/>
          </a:prstGeom>
          <a:solidFill>
            <a:schemeClr val="bg1"/>
          </a:solidFill>
          <a:ln w="25400">
            <a:solidFill>
              <a:schemeClr val="accent1"/>
            </a:solidFill>
            <a:prstDash val="solid"/>
          </a:ln>
        </p:spPr>
      </p:sp>
      <p:pic>
        <p:nvPicPr>
          <p:cNvPr id="4" name="University logo" descr="Università degli Studi Mediterranea di Reggio Calabria logo">    </p:cNvPr>
          <p:cNvPicPr>
            <a:picLocks noChangeAspect="1"/>
          </p:cNvPicPr>
          <p:nvPr/>
        </p:nvPicPr>
        <p:blipFill>
          <a:blip r:embed="rId2"/>
          <a:stretch>
            <a:fillRect/>
          </a:stretch>
        </p:blipFill>
        <p:spPr>
          <a:xfrm>
            <a:off x="5720944" y="539496"/>
            <a:ext cx="749808" cy="749808"/>
          </a:xfrm>
          <a:prstGeom prst="rect">
            <a:avLst/>
          </a:prstGeom>
        </p:spPr>
      </p:pic>
      <p:sp>
        <p:nvSpPr>
          <p:cNvPr id="5" name="Text 1"/>
          <p:cNvSpPr txBox="1"/>
          <p:nvPr/>
        </p:nvSpPr>
        <p:spPr>
          <a:xfrm>
            <a:off x="914400" y="1645920"/>
            <a:ext cx="10362895" cy="365760"/>
          </a:xfrm>
          <a:prstGeom prst="rect">
            <a:avLst/>
          </a:prstGeom>
          <a:noFill/>
          <a:ln/>
        </p:spPr>
        <p:txBody>
          <a:bodyPr wrap="square" lIns="0" tIns="0" rIns="0" bIns="0" rtlCol="0" anchor="ctr"/>
          <a:lstStyle/>
          <a:p>
            <a:pPr algn="ctr" indent="0" marL="0">
              <a:buNone/>
            </a:pPr>
            <a:r>
              <a:rPr lang="en-US" sz="1800" b="1" dirty="0">
                <a:solidFill>
                  <a:schemeClr val="bg1"/>
                </a:solidFill>
              </a:rPr>
              <a:t>PhD Programme in “Information Engineering” – 41</a:t>
            </a:r>
            <a:pPr algn="ctr" indent="0" marL="0">
              <a:buNone/>
            </a:pPr>
            <a:r>
              <a:rPr lang="en-US" sz="1800" b="1" baseline="30000" dirty="0">
                <a:solidFill>
                  <a:schemeClr val="bg1"/>
                </a:solidFill>
              </a:rPr>
              <a:t>st</a:t>
            </a:r>
            <a:pPr algn="ctr" indent="0" marL="0">
              <a:buNone/>
            </a:pPr>
            <a:r>
              <a:rPr lang="en-US" sz="1800" b="1" dirty="0">
                <a:solidFill>
                  <a:schemeClr val="bg1"/>
                </a:solidFill>
              </a:rPr>
              <a:t> Cycle</a:t>
            </a:r>
            <a:endParaRPr lang="en-US" sz="1800" dirty="0"/>
          </a:p>
        </p:txBody>
      </p:sp>
      <p:sp>
        <p:nvSpPr>
          <p:cNvPr id="6" name="Text 2"/>
          <p:cNvSpPr txBox="1"/>
          <p:nvPr/>
        </p:nvSpPr>
        <p:spPr>
          <a:xfrm>
            <a:off x="914400" y="2011680"/>
            <a:ext cx="10362895" cy="320040"/>
          </a:xfrm>
          <a:prstGeom prst="rect">
            <a:avLst/>
          </a:prstGeom>
          <a:noFill/>
          <a:ln/>
        </p:spPr>
        <p:txBody>
          <a:bodyPr wrap="square" lIns="0" tIns="0" rIns="0" bIns="0" rtlCol="0" anchor="ctr"/>
          <a:lstStyle/>
          <a:p>
            <a:pPr algn="ctr" indent="0" marL="0">
              <a:buNone/>
            </a:pPr>
            <a:r>
              <a:rPr lang="en-US" sz="1400" dirty="0">
                <a:solidFill>
                  <a:schemeClr val="bg2"/>
                </a:solidFill>
              </a:rPr>
              <a:t>Department of Information Engineering, Infrastructure and Sustainable Energy (DIIES)</a:t>
            </a:r>
            <a:endParaRPr lang="en-US" sz="1400" dirty="0"/>
          </a:p>
        </p:txBody>
      </p:sp>
      <p:sp>
        <p:nvSpPr>
          <p:cNvPr id="7" name="Text 3"/>
          <p:cNvSpPr txBox="1"/>
          <p:nvPr/>
        </p:nvSpPr>
        <p:spPr>
          <a:xfrm>
            <a:off x="731520" y="2514600"/>
            <a:ext cx="10728655" cy="914400"/>
          </a:xfrm>
          <a:prstGeom prst="rect">
            <a:avLst/>
          </a:prstGeom>
          <a:noFill/>
          <a:ln/>
          <a:effectLst>
            <a:outerShdw sx="100000" sy="100000" kx="0" ky="0" algn="bl" rotWithShape="0" blurRad="127000" dist="25400" dir="5400000">
              <a:srgbClr val="000000">
                <a:alpha val="60000"/>
              </a:srgbClr>
            </a:outerShdw>
          </a:effectLst>
        </p:spPr>
        <p:txBody>
          <a:bodyPr wrap="square" lIns="0" tIns="0" rIns="0" bIns="0" rtlCol="0" anchor="ctr"/>
          <a:lstStyle/>
          <a:p>
            <a:pPr algn="ctr" indent="0" marL="0">
              <a:buNone/>
            </a:pPr>
            <a:r>
              <a:rPr lang="en-US" sz="5000" b="1" dirty="0">
                <a:solidFill>
                  <a:schemeClr val="bg1"/>
                </a:solidFill>
                <a:latin typeface="Cambria" pitchFamily="34" charset="0"/>
                <a:ea typeface="Cambria" pitchFamily="34" charset="-122"/>
                <a:cs typeface="Cambria" pitchFamily="34" charset="-120"/>
              </a:rPr>
              <a:t>Activity of Research and Training</a:t>
            </a:r>
            <a:endParaRPr lang="en-US" sz="5000" dirty="0"/>
          </a:p>
        </p:txBody>
      </p:sp>
      <p:sp>
        <p:nvSpPr>
          <p:cNvPr id="8" name="Text 4"/>
          <p:cNvSpPr txBox="1"/>
          <p:nvPr/>
        </p:nvSpPr>
        <p:spPr>
          <a:xfrm>
            <a:off x="914400" y="3429000"/>
            <a:ext cx="10362895" cy="457200"/>
          </a:xfrm>
          <a:prstGeom prst="rect">
            <a:avLst/>
          </a:prstGeom>
          <a:noFill/>
          <a:ln/>
        </p:spPr>
        <p:txBody>
          <a:bodyPr wrap="square" lIns="0" tIns="0" rIns="0" bIns="0" rtlCol="0" anchor="ctr"/>
          <a:lstStyle/>
          <a:p>
            <a:pPr algn="ctr" indent="0" marL="0">
              <a:buNone/>
            </a:pPr>
            <a:r>
              <a:rPr lang="en-US" sz="2600" b="1" spc="400" kern="0" dirty="0">
                <a:solidFill>
                  <a:schemeClr val="accent1"/>
                </a:solidFill>
              </a:rPr>
              <a:t>2025 – 2026</a:t>
            </a:r>
            <a:endParaRPr lang="en-US" sz="2600" dirty="0"/>
          </a:p>
        </p:txBody>
      </p:sp>
      <p:sp>
        <p:nvSpPr>
          <p:cNvPr id="9" name="Pipeline Sample"/>
          <p:cNvSpPr/>
          <p:nvPr/>
        </p:nvSpPr>
        <p:spPr>
          <a:xfrm>
            <a:off x="1500988" y="4160520"/>
            <a:ext cx="777240" cy="777240"/>
          </a:xfrm>
          <a:prstGeom prst="ellipse">
            <a:avLst/>
          </a:prstGeom>
          <a:solidFill>
            <a:schemeClr val="accent1">
              <a:alpha val="85000"/>
            </a:schemeClr>
          </a:solidFill>
          <a:ln/>
        </p:spPr>
      </p:sp>
      <p:pic>
        <p:nvPicPr>
          <p:cNvPr id="10" name="Pipeline Sample icon" descr="preencoded.png">    </p:cNvPr>
          <p:cNvPicPr>
            <a:picLocks noChangeAspect="1"/>
          </p:cNvPicPr>
          <p:nvPr/>
        </p:nvPicPr>
        <p:blipFill>
          <a:blip r:embed="rId3"/>
          <a:stretch>
            <a:fillRect/>
          </a:stretch>
        </p:blipFill>
        <p:spPr>
          <a:xfrm>
            <a:off x="1703070" y="4362602"/>
            <a:ext cx="373075" cy="373075"/>
          </a:xfrm>
          <a:prstGeom prst="rect">
            <a:avLst/>
          </a:prstGeom>
        </p:spPr>
      </p:pic>
      <p:sp>
        <p:nvSpPr>
          <p:cNvPr id="11" name="Text 6"/>
          <p:cNvSpPr txBox="1"/>
          <p:nvPr/>
        </p:nvSpPr>
        <p:spPr>
          <a:xfrm>
            <a:off x="952348" y="4983480"/>
            <a:ext cx="1874520" cy="320040"/>
          </a:xfrm>
          <a:prstGeom prst="rect">
            <a:avLst/>
          </a:prstGeom>
          <a:noFill/>
          <a:ln/>
        </p:spPr>
        <p:txBody>
          <a:bodyPr wrap="square" lIns="0" tIns="0" rIns="0" bIns="0" rtlCol="0" anchor="ctr"/>
          <a:lstStyle/>
          <a:p>
            <a:pPr algn="ctr" indent="0" marL="0">
              <a:buNone/>
            </a:pPr>
            <a:r>
              <a:rPr lang="en-US" sz="1200" dirty="0">
                <a:solidFill>
                  <a:schemeClr val="bg1"/>
                </a:solidFill>
              </a:rPr>
              <a:t>Sample</a:t>
            </a:r>
            <a:endParaRPr lang="en-US" sz="1200" dirty="0"/>
          </a:p>
        </p:txBody>
      </p:sp>
      <p:sp>
        <p:nvSpPr>
          <p:cNvPr id="12" name="Pipeline arrow"/>
          <p:cNvSpPr/>
          <p:nvPr/>
        </p:nvSpPr>
        <p:spPr>
          <a:xfrm>
            <a:off x="2506828" y="4549140"/>
            <a:ext cx="868680" cy="0"/>
          </a:xfrm>
          <a:prstGeom prst="line">
            <a:avLst/>
          </a:prstGeom>
          <a:noFill/>
          <a:ln w="19050">
            <a:solidFill>
              <a:schemeClr val="accent2"/>
            </a:solidFill>
            <a:prstDash val="dash"/>
            <a:tailEnd type="triangle"/>
          </a:ln>
        </p:spPr>
      </p:sp>
      <p:sp>
        <p:nvSpPr>
          <p:cNvPr id="13" name="Pipeline Raman measurement"/>
          <p:cNvSpPr/>
          <p:nvPr/>
        </p:nvSpPr>
        <p:spPr>
          <a:xfrm>
            <a:off x="3604108" y="4160520"/>
            <a:ext cx="777240" cy="777240"/>
          </a:xfrm>
          <a:prstGeom prst="ellipse">
            <a:avLst/>
          </a:prstGeom>
          <a:solidFill>
            <a:schemeClr val="accent3">
              <a:alpha val="85000"/>
            </a:schemeClr>
          </a:solidFill>
          <a:ln/>
        </p:spPr>
      </p:sp>
      <p:pic>
        <p:nvPicPr>
          <p:cNvPr id="14" name="Pipeline Raman measurement icon" descr="preencoded.png">    </p:cNvPr>
          <p:cNvPicPr>
            <a:picLocks noChangeAspect="1"/>
          </p:cNvPicPr>
          <p:nvPr/>
        </p:nvPicPr>
        <p:blipFill>
          <a:blip r:embed="rId4"/>
          <a:stretch>
            <a:fillRect/>
          </a:stretch>
        </p:blipFill>
        <p:spPr>
          <a:xfrm>
            <a:off x="3806190" y="4362602"/>
            <a:ext cx="373075" cy="373075"/>
          </a:xfrm>
          <a:prstGeom prst="rect">
            <a:avLst/>
          </a:prstGeom>
        </p:spPr>
      </p:pic>
      <p:sp>
        <p:nvSpPr>
          <p:cNvPr id="15" name="Text 9"/>
          <p:cNvSpPr txBox="1"/>
          <p:nvPr/>
        </p:nvSpPr>
        <p:spPr>
          <a:xfrm>
            <a:off x="3055468" y="4983480"/>
            <a:ext cx="1874520" cy="320040"/>
          </a:xfrm>
          <a:prstGeom prst="rect">
            <a:avLst/>
          </a:prstGeom>
          <a:noFill/>
          <a:ln/>
        </p:spPr>
        <p:txBody>
          <a:bodyPr wrap="square" lIns="0" tIns="0" rIns="0" bIns="0" rtlCol="0" anchor="ctr"/>
          <a:lstStyle/>
          <a:p>
            <a:pPr algn="ctr" indent="0" marL="0">
              <a:buNone/>
            </a:pPr>
            <a:r>
              <a:rPr lang="en-US" sz="1200" dirty="0">
                <a:solidFill>
                  <a:schemeClr val="bg1"/>
                </a:solidFill>
              </a:rPr>
              <a:t>Raman measurement</a:t>
            </a:r>
            <a:endParaRPr lang="en-US" sz="1200" dirty="0"/>
          </a:p>
        </p:txBody>
      </p:sp>
      <p:sp>
        <p:nvSpPr>
          <p:cNvPr id="16" name="Pipeline arrow"/>
          <p:cNvSpPr/>
          <p:nvPr/>
        </p:nvSpPr>
        <p:spPr>
          <a:xfrm>
            <a:off x="4609948" y="4549140"/>
            <a:ext cx="868680" cy="0"/>
          </a:xfrm>
          <a:prstGeom prst="line">
            <a:avLst/>
          </a:prstGeom>
          <a:noFill/>
          <a:ln w="19050">
            <a:solidFill>
              <a:schemeClr val="accent2"/>
            </a:solidFill>
            <a:prstDash val="dash"/>
            <a:tailEnd type="triangle"/>
          </a:ln>
        </p:spPr>
      </p:sp>
      <p:sp>
        <p:nvSpPr>
          <p:cNvPr id="17" name="Pipeline AI analysis"/>
          <p:cNvSpPr/>
          <p:nvPr/>
        </p:nvSpPr>
        <p:spPr>
          <a:xfrm>
            <a:off x="5707228" y="4160520"/>
            <a:ext cx="777240" cy="777240"/>
          </a:xfrm>
          <a:prstGeom prst="ellipse">
            <a:avLst/>
          </a:prstGeom>
          <a:solidFill>
            <a:schemeClr val="accent1">
              <a:alpha val="85000"/>
            </a:schemeClr>
          </a:solidFill>
          <a:ln/>
        </p:spPr>
      </p:sp>
      <p:pic>
        <p:nvPicPr>
          <p:cNvPr id="18" name="Pipeline AI analysis icon" descr="preencoded.png">    </p:cNvPr>
          <p:cNvPicPr>
            <a:picLocks noChangeAspect="1"/>
          </p:cNvPicPr>
          <p:nvPr/>
        </p:nvPicPr>
        <p:blipFill>
          <a:blip r:embed="rId5"/>
          <a:stretch>
            <a:fillRect/>
          </a:stretch>
        </p:blipFill>
        <p:spPr>
          <a:xfrm>
            <a:off x="5909310" y="4362602"/>
            <a:ext cx="373075" cy="373075"/>
          </a:xfrm>
          <a:prstGeom prst="rect">
            <a:avLst/>
          </a:prstGeom>
        </p:spPr>
      </p:pic>
      <p:sp>
        <p:nvSpPr>
          <p:cNvPr id="19" name="Text 12"/>
          <p:cNvSpPr txBox="1"/>
          <p:nvPr/>
        </p:nvSpPr>
        <p:spPr>
          <a:xfrm>
            <a:off x="5158588" y="4983480"/>
            <a:ext cx="1874520" cy="320040"/>
          </a:xfrm>
          <a:prstGeom prst="rect">
            <a:avLst/>
          </a:prstGeom>
          <a:noFill/>
          <a:ln/>
        </p:spPr>
        <p:txBody>
          <a:bodyPr wrap="square" lIns="0" tIns="0" rIns="0" bIns="0" rtlCol="0" anchor="ctr"/>
          <a:lstStyle/>
          <a:p>
            <a:pPr algn="ctr" indent="0" marL="0">
              <a:buNone/>
            </a:pPr>
            <a:r>
              <a:rPr lang="en-US" sz="1200" dirty="0">
                <a:solidFill>
                  <a:schemeClr val="bg1"/>
                </a:solidFill>
              </a:rPr>
              <a:t>AI analysis</a:t>
            </a:r>
            <a:endParaRPr lang="en-US" sz="1200" dirty="0"/>
          </a:p>
        </p:txBody>
      </p:sp>
      <p:sp>
        <p:nvSpPr>
          <p:cNvPr id="20" name="Pipeline arrow"/>
          <p:cNvSpPr/>
          <p:nvPr/>
        </p:nvSpPr>
        <p:spPr>
          <a:xfrm>
            <a:off x="6713068" y="4549140"/>
            <a:ext cx="868680" cy="0"/>
          </a:xfrm>
          <a:prstGeom prst="line">
            <a:avLst/>
          </a:prstGeom>
          <a:noFill/>
          <a:ln w="19050">
            <a:solidFill>
              <a:schemeClr val="accent2"/>
            </a:solidFill>
            <a:prstDash val="dash"/>
            <a:tailEnd type="triangle"/>
          </a:ln>
        </p:spPr>
      </p:sp>
      <p:sp>
        <p:nvSpPr>
          <p:cNvPr id="21" name="Pipeline Spectrum interpretation"/>
          <p:cNvSpPr/>
          <p:nvPr/>
        </p:nvSpPr>
        <p:spPr>
          <a:xfrm>
            <a:off x="7810348" y="4160520"/>
            <a:ext cx="777240" cy="777240"/>
          </a:xfrm>
          <a:prstGeom prst="ellipse">
            <a:avLst/>
          </a:prstGeom>
          <a:solidFill>
            <a:schemeClr val="accent3">
              <a:alpha val="85000"/>
            </a:schemeClr>
          </a:solidFill>
          <a:ln/>
        </p:spPr>
      </p:sp>
      <p:pic>
        <p:nvPicPr>
          <p:cNvPr id="22" name="Pipeline Spectrum interpretation icon" descr="preencoded.png">    </p:cNvPr>
          <p:cNvPicPr>
            <a:picLocks noChangeAspect="1"/>
          </p:cNvPicPr>
          <p:nvPr/>
        </p:nvPicPr>
        <p:blipFill>
          <a:blip r:embed="rId6"/>
          <a:stretch>
            <a:fillRect/>
          </a:stretch>
        </p:blipFill>
        <p:spPr>
          <a:xfrm>
            <a:off x="8012430" y="4362602"/>
            <a:ext cx="373075" cy="373075"/>
          </a:xfrm>
          <a:prstGeom prst="rect">
            <a:avLst/>
          </a:prstGeom>
        </p:spPr>
      </p:pic>
      <p:sp>
        <p:nvSpPr>
          <p:cNvPr id="23" name="Text 15"/>
          <p:cNvSpPr txBox="1"/>
          <p:nvPr/>
        </p:nvSpPr>
        <p:spPr>
          <a:xfrm>
            <a:off x="7261708" y="4983480"/>
            <a:ext cx="1874520" cy="320040"/>
          </a:xfrm>
          <a:prstGeom prst="rect">
            <a:avLst/>
          </a:prstGeom>
          <a:noFill/>
          <a:ln/>
        </p:spPr>
        <p:txBody>
          <a:bodyPr wrap="square" lIns="0" tIns="0" rIns="0" bIns="0" rtlCol="0" anchor="ctr"/>
          <a:lstStyle/>
          <a:p>
            <a:pPr algn="ctr" indent="0" marL="0">
              <a:buNone/>
            </a:pPr>
            <a:r>
              <a:rPr lang="en-US" sz="1200" dirty="0">
                <a:solidFill>
                  <a:schemeClr val="bg1"/>
                </a:solidFill>
              </a:rPr>
              <a:t>Spectrum interpretation</a:t>
            </a:r>
            <a:endParaRPr lang="en-US" sz="1200" dirty="0"/>
          </a:p>
        </p:txBody>
      </p:sp>
      <p:sp>
        <p:nvSpPr>
          <p:cNvPr id="24" name="Pipeline arrow"/>
          <p:cNvSpPr/>
          <p:nvPr/>
        </p:nvSpPr>
        <p:spPr>
          <a:xfrm>
            <a:off x="8816188" y="4549140"/>
            <a:ext cx="868680" cy="0"/>
          </a:xfrm>
          <a:prstGeom prst="line">
            <a:avLst/>
          </a:prstGeom>
          <a:noFill/>
          <a:ln w="19050">
            <a:solidFill>
              <a:schemeClr val="accent2"/>
            </a:solidFill>
            <a:prstDash val="dash"/>
            <a:tailEnd type="triangle"/>
          </a:ln>
        </p:spPr>
      </p:sp>
      <p:sp>
        <p:nvSpPr>
          <p:cNvPr id="25" name="Pipeline Chemical identification"/>
          <p:cNvSpPr/>
          <p:nvPr/>
        </p:nvSpPr>
        <p:spPr>
          <a:xfrm>
            <a:off x="9913468" y="4160520"/>
            <a:ext cx="777240" cy="777240"/>
          </a:xfrm>
          <a:prstGeom prst="ellipse">
            <a:avLst/>
          </a:prstGeom>
          <a:solidFill>
            <a:schemeClr val="accent1">
              <a:alpha val="85000"/>
            </a:schemeClr>
          </a:solidFill>
          <a:ln/>
        </p:spPr>
      </p:sp>
      <p:pic>
        <p:nvPicPr>
          <p:cNvPr id="26" name="Pipeline Chemical identification icon" descr="preencoded.png">    </p:cNvPr>
          <p:cNvPicPr>
            <a:picLocks noChangeAspect="1"/>
          </p:cNvPicPr>
          <p:nvPr/>
        </p:nvPicPr>
        <p:blipFill>
          <a:blip r:embed="rId7"/>
          <a:stretch>
            <a:fillRect/>
          </a:stretch>
        </p:blipFill>
        <p:spPr>
          <a:xfrm>
            <a:off x="10115550" y="4362602"/>
            <a:ext cx="373075" cy="373075"/>
          </a:xfrm>
          <a:prstGeom prst="rect">
            <a:avLst/>
          </a:prstGeom>
        </p:spPr>
      </p:pic>
      <p:sp>
        <p:nvSpPr>
          <p:cNvPr id="27" name="Text 18"/>
          <p:cNvSpPr txBox="1"/>
          <p:nvPr/>
        </p:nvSpPr>
        <p:spPr>
          <a:xfrm>
            <a:off x="9364828" y="4983480"/>
            <a:ext cx="1874520" cy="320040"/>
          </a:xfrm>
          <a:prstGeom prst="rect">
            <a:avLst/>
          </a:prstGeom>
          <a:noFill/>
          <a:ln/>
        </p:spPr>
        <p:txBody>
          <a:bodyPr wrap="square" lIns="0" tIns="0" rIns="0" bIns="0" rtlCol="0" anchor="ctr"/>
          <a:lstStyle/>
          <a:p>
            <a:pPr algn="ctr" indent="0" marL="0">
              <a:buNone/>
            </a:pPr>
            <a:r>
              <a:rPr lang="en-US" sz="1200" dirty="0">
                <a:solidFill>
                  <a:schemeClr val="bg1"/>
                </a:solidFill>
              </a:rPr>
              <a:t>Chemical identification</a:t>
            </a:r>
            <a:endParaRPr lang="en-US" sz="1200" dirty="0"/>
          </a:p>
        </p:txBody>
      </p:sp>
      <p:sp>
        <p:nvSpPr>
          <p:cNvPr id="28" name="Presenter pill"/>
          <p:cNvSpPr/>
          <p:nvPr/>
        </p:nvSpPr>
        <p:spPr>
          <a:xfrm>
            <a:off x="2804008" y="5715000"/>
            <a:ext cx="6583680" cy="548640"/>
          </a:xfrm>
          <a:prstGeom prst="roundRect">
            <a:avLst>
              <a:gd name="adj" fmla="val 20000"/>
            </a:avLst>
          </a:prstGeom>
          <a:solidFill>
            <a:schemeClr val="tx2">
              <a:alpha val="65000"/>
            </a:schemeClr>
          </a:solidFill>
          <a:ln w="9525">
            <a:solidFill>
              <a:schemeClr val="bg2">
                <a:alpha val="30000"/>
              </a:schemeClr>
            </a:solidFill>
            <a:prstDash val="solid"/>
          </a:ln>
        </p:spPr>
      </p:sp>
      <p:sp>
        <p:nvSpPr>
          <p:cNvPr id="29" name="Text 20"/>
          <p:cNvSpPr txBox="1"/>
          <p:nvPr/>
        </p:nvSpPr>
        <p:spPr>
          <a:xfrm>
            <a:off x="2804008" y="5715000"/>
            <a:ext cx="6583680" cy="548640"/>
          </a:xfrm>
          <a:prstGeom prst="rect">
            <a:avLst/>
          </a:prstGeom>
          <a:noFill/>
          <a:ln/>
        </p:spPr>
        <p:txBody>
          <a:bodyPr wrap="square" lIns="0" tIns="0" rIns="0" bIns="0" rtlCol="0" anchor="ctr"/>
          <a:lstStyle/>
          <a:p>
            <a:pPr algn="ctr" indent="0" marL="0">
              <a:buNone/>
            </a:pPr>
            <a:r>
              <a:rPr lang="en-US" sz="1500" dirty="0">
                <a:solidFill>
                  <a:schemeClr val="bg2"/>
                </a:solidFill>
              </a:rPr>
              <a:t>PhD Student: </a:t>
            </a:r>
            <a:pPr algn="ctr" indent="0" marL="0">
              <a:buNone/>
            </a:pPr>
            <a:r>
              <a:rPr lang="en-US" sz="1500" b="1" dirty="0">
                <a:solidFill>
                  <a:schemeClr val="bg1"/>
                </a:solidFill>
              </a:rPr>
              <a:t>Hira Aman</a:t>
            </a:r>
            <a:pPr algn="ctr" indent="0" marL="0">
              <a:buNone/>
            </a:pPr>
            <a:r>
              <a:rPr lang="en-US" sz="1500" dirty="0">
                <a:solidFill>
                  <a:schemeClr val="bg2"/>
                </a:solidFill>
              </a:rPr>
              <a:t>      Mentor: </a:t>
            </a:r>
            <a:pPr algn="ctr" indent="0" marL="0">
              <a:buNone/>
            </a:pPr>
            <a:r>
              <a:rPr lang="en-US" sz="1500" b="1" dirty="0">
                <a:solidFill>
                  <a:schemeClr val="bg1"/>
                </a:solidFill>
              </a:rPr>
              <a:t>Prof. Giuliana Faggio</a:t>
            </a:r>
            <a:endParaRPr lang="en-US" sz="1500" dirty="0"/>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Animated background" descr="Animated background: glowing molecular network and Raman spectra">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914400" y="1417320"/>
            <a:ext cx="2743200" cy="1371600"/>
          </a:xfrm>
          <a:prstGeom prst="rect">
            <a:avLst/>
          </a:prstGeom>
          <a:noFill/>
          <a:ln/>
        </p:spPr>
        <p:txBody>
          <a:bodyPr wrap="square" lIns="0" tIns="0" rIns="0" bIns="0" rtlCol="0" anchor="ctr"/>
          <a:lstStyle/>
          <a:p>
            <a:pPr indent="0" marL="0">
              <a:buNone/>
            </a:pPr>
            <a:r>
              <a:rPr lang="en-US" sz="9600" b="1" dirty="0">
                <a:solidFill>
                  <a:schemeClr val="accent1">
                    <a:alpha val="90000"/>
                  </a:schemeClr>
                </a:solidFill>
                <a:latin typeface="Cambria" pitchFamily="34" charset="0"/>
                <a:ea typeface="Cambria" pitchFamily="34" charset="-122"/>
                <a:cs typeface="Cambria" pitchFamily="34" charset="-120"/>
              </a:rPr>
              <a:t>01</a:t>
            </a:r>
            <a:endParaRPr lang="en-US" sz="9600" dirty="0"/>
          </a:p>
        </p:txBody>
      </p:sp>
      <p:sp>
        <p:nvSpPr>
          <p:cNvPr id="4" name="Text 0"/>
          <p:cNvSpPr/>
          <p:nvPr>
            <p:ph idx="100" type="title" hasCustomPrompt="1"/>
          </p:nvPr>
        </p:nvSpPr>
        <p:spPr>
          <a:xfrm>
            <a:off x="914400" y="2880360"/>
            <a:ext cx="10332720" cy="1005840"/>
          </a:xfrm>
          <a:prstGeom prst="rect">
            <a:avLst/>
          </a:prstGeom>
          <a:noFill/>
          <a:ln/>
        </p:spPr>
        <p:txBody>
          <a:bodyPr wrap="square" lIns="0" tIns="0" rIns="0" bIns="0" rtlCol="0" anchor="ctr"/>
          <a:lstStyle/>
          <a:p>
            <a:pPr algn="l" indent="0" marL="0">
              <a:buNone/>
            </a:pPr>
            <a:r>
              <a:rPr lang="en-US" sz="4800" b="1" dirty="0">
                <a:solidFill>
                  <a:schemeClr val="bg1"/>
                </a:solidFill>
                <a:latin typeface="Cambria" pitchFamily="34" charset="0"/>
                <a:ea typeface="Cambria" pitchFamily="34" charset="-122"/>
                <a:cs typeface="Cambria" pitchFamily="34" charset="-120"/>
              </a:rPr>
              <a:t>Research Activity</a:t>
            </a:r>
            <a:endParaRPr lang="en-US" sz="4800" dirty="0"/>
          </a:p>
        </p:txBody>
      </p:sp>
      <p:sp>
        <p:nvSpPr>
          <p:cNvPr id="5" name="Text 0"/>
          <p:cNvSpPr/>
          <p:nvPr>
            <p:ph idx="101" type="body" hasCustomPrompt="1"/>
          </p:nvPr>
        </p:nvSpPr>
        <p:spPr>
          <a:xfrm>
            <a:off x="914400" y="3977640"/>
            <a:ext cx="10332720" cy="822960"/>
          </a:xfrm>
          <a:prstGeom prst="rect">
            <a:avLst/>
          </a:prstGeom>
          <a:noFill/>
          <a:ln/>
        </p:spPr>
        <p:txBody>
          <a:bodyPr wrap="square" lIns="0" tIns="0" rIns="0" bIns="0" rtlCol="0" anchor="t"/>
          <a:lstStyle/>
          <a:p>
            <a:pPr algn="l" indent="0" marL="0">
              <a:buNone/>
            </a:pPr>
            <a:r>
              <a:rPr lang="en-US" sz="2000" dirty="0">
                <a:solidFill>
                  <a:schemeClr val="accent2"/>
                </a:solidFill>
                <a:latin typeface="Calibri" pitchFamily="34" charset="0"/>
                <a:ea typeface="Calibri" pitchFamily="34" charset="-122"/>
                <a:cs typeface="Calibri" pitchFamily="34" charset="-120"/>
              </a:rPr>
              <a:t>First year · Raman mapping, SERS and machine learning for biomolecules and nanostructured materials</a:t>
            </a:r>
            <a:endParaRPr lang="en-US" sz="2000" dirty="0"/>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Animated background" descr="Animated background: glowing molecular network and Raman spectra">    </p:cNvPr>
          <p:cNvPicPr>
            <a:picLocks noChangeAspect="1"/>
          </p:cNvPicPr>
          <p:nvPr/>
        </p:nvPicPr>
        <p:blipFill>
          <a:blip r:embed="rId1"/>
          <a:stretch>
            <a:fillRect/>
          </a:stretch>
        </p:blipFill>
        <p:spPr>
          <a:xfrm>
            <a:off x="0" y="0"/>
            <a:ext cx="12191695" cy="6858000"/>
          </a:xfrm>
          <a:prstGeom prst="rect">
            <a:avLst/>
          </a:prstGeom>
        </p:spPr>
      </p:pic>
      <p:sp>
        <p:nvSpPr>
          <p:cNvPr id="3" name="Footer"/>
          <p:cNvSpPr txBox="1"/>
          <p:nvPr/>
        </p:nvSpPr>
        <p:spPr>
          <a:xfrm>
            <a:off x="548640" y="6400800"/>
            <a:ext cx="7315200" cy="274320"/>
          </a:xfrm>
          <a:prstGeom prst="rect">
            <a:avLst/>
          </a:prstGeom>
          <a:noFill/>
          <a:ln/>
        </p:spPr>
        <p:txBody>
          <a:bodyPr wrap="square" lIns="0" tIns="0" rIns="0" bIns="0" rtlCol="0" anchor="t"/>
          <a:lstStyle/>
          <a:p>
            <a:pPr indent="0" marL="0">
              <a:buNone/>
            </a:pPr>
            <a:r>
              <a:rPr lang="en-US" sz="1000" dirty="0">
                <a:solidFill>
                  <a:schemeClr val="bg2"/>
                </a:solidFill>
              </a:rPr>
              <a:t>Hira Aman  ·  Activity of Research and Training 2025–2026</a:t>
            </a:r>
            <a:endParaRPr lang="en-US" sz="1000" dirty="0"/>
          </a:p>
        </p:txBody>
      </p:sp>
      <p:sp>
        <p:nvSpPr>
          <p:cNvPr id="4"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Research Activity – First Year: Motivation</a:t>
            </a:r>
            <a:endParaRPr lang="en-US" sz="3000" dirty="0"/>
          </a:p>
        </p:txBody>
      </p:sp>
      <p:sp>
        <p:nvSpPr>
          <p:cNvPr id="5" name="Text 0"/>
          <p:cNvSpPr/>
          <p:nvPr>
            <p:ph idx="101" type="body" hasCustomPrompt="1"/>
          </p:nvPr>
        </p:nvSpPr>
        <p:spPr>
          <a:xfrm>
            <a:off x="548640" y="960120"/>
            <a:ext cx="11064240" cy="365760"/>
          </a:xfrm>
          <a:prstGeom prst="rect">
            <a:avLst/>
          </a:prstGeom>
          <a:noFill/>
          <a:ln/>
        </p:spPr>
        <p:txBody>
          <a:bodyPr wrap="square" lIns="0" tIns="0" rIns="0" bIns="0" rtlCol="0" anchor="ctr"/>
          <a:lstStyle/>
          <a:p>
            <a:pPr algn="l" indent="0" marL="0">
              <a:buNone/>
            </a:pPr>
            <a:r>
              <a:rPr lang="en-US" sz="1500" i="1" dirty="0">
                <a:solidFill>
                  <a:schemeClr val="accent2"/>
                </a:solidFill>
                <a:latin typeface="Calibri" pitchFamily="34" charset="0"/>
                <a:ea typeface="Calibri" pitchFamily="34" charset="-122"/>
                <a:cs typeface="Calibri" pitchFamily="34" charset="-120"/>
              </a:rPr>
              <a:t>Advanced characterization and AI-based analysis of biological molecules and nanostructured materials</a:t>
            </a:r>
            <a:endParaRPr lang="en-US" sz="1500" dirty="0"/>
          </a:p>
        </p:txBody>
      </p:sp>
      <p:sp>
        <p:nvSpPr>
          <p:cNvPr id="6" name="DNA card"/>
          <p:cNvSpPr/>
          <p:nvPr/>
        </p:nvSpPr>
        <p:spPr>
          <a:xfrm>
            <a:off x="548640" y="1600200"/>
            <a:ext cx="6400800" cy="4526280"/>
          </a:xfrm>
          <a:prstGeom prst="roundRect">
            <a:avLst>
              <a:gd name="adj" fmla="val 2424"/>
            </a:avLst>
          </a:prstGeom>
          <a:solidFill>
            <a:schemeClr val="bg1"/>
          </a:solidFill>
          <a:ln/>
          <a:effectLst>
            <a:outerShdw sx="100000" sy="100000" kx="0" ky="0" algn="bl" rotWithShape="0" blurRad="152400" dist="38100" dir="5400000">
              <a:srgbClr val="000000">
                <a:alpha val="45000"/>
              </a:srgbClr>
            </a:outerShdw>
          </a:effectLst>
        </p:spPr>
      </p:sp>
      <p:sp>
        <p:nvSpPr>
          <p:cNvPr id="7" name="Text 4"/>
          <p:cNvSpPr txBox="1"/>
          <p:nvPr/>
        </p:nvSpPr>
        <p:spPr>
          <a:xfrm>
            <a:off x="822960" y="1737360"/>
            <a:ext cx="5852160"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Label-free DNA discrimination</a:t>
            </a:r>
            <a:endParaRPr lang="en-US" sz="1800" dirty="0"/>
          </a:p>
        </p:txBody>
      </p:sp>
      <p:sp>
        <p:nvSpPr>
          <p:cNvPr id="8" name="Text 5"/>
          <p:cNvSpPr txBox="1"/>
          <p:nvPr/>
        </p:nvSpPr>
        <p:spPr>
          <a:xfrm>
            <a:off x="822960" y="2148840"/>
            <a:ext cx="2377440" cy="256032"/>
          </a:xfrm>
          <a:prstGeom prst="rect">
            <a:avLst/>
          </a:prstGeom>
          <a:noFill/>
          <a:ln/>
        </p:spPr>
        <p:txBody>
          <a:bodyPr wrap="square" lIns="0" tIns="0" rIns="0" bIns="0" rtlCol="0" anchor="ctr"/>
          <a:lstStyle/>
          <a:p>
            <a:pPr algn="ctr" indent="0" marL="0">
              <a:buNone/>
            </a:pPr>
            <a:r>
              <a:rPr lang="en-US" sz="1200" b="1" dirty="0">
                <a:solidFill>
                  <a:schemeClr val="accent1"/>
                </a:solidFill>
              </a:rPr>
              <a:t>Raman spectra</a:t>
            </a:r>
            <a:endParaRPr lang="en-US" sz="1200" dirty="0"/>
          </a:p>
        </p:txBody>
      </p:sp>
      <p:sp>
        <p:nvSpPr>
          <p:cNvPr id="9" name="Text 6"/>
          <p:cNvSpPr txBox="1"/>
          <p:nvPr/>
        </p:nvSpPr>
        <p:spPr>
          <a:xfrm>
            <a:off x="3566160" y="2148840"/>
            <a:ext cx="3108960" cy="256032"/>
          </a:xfrm>
          <a:prstGeom prst="rect">
            <a:avLst/>
          </a:prstGeom>
          <a:noFill/>
          <a:ln/>
        </p:spPr>
        <p:txBody>
          <a:bodyPr wrap="square" lIns="0" tIns="0" rIns="0" bIns="0" rtlCol="0" anchor="ctr"/>
          <a:lstStyle/>
          <a:p>
            <a:pPr algn="ctr" indent="0" marL="0">
              <a:buNone/>
            </a:pPr>
            <a:r>
              <a:rPr lang="en-US" sz="1200" b="1" dirty="0">
                <a:solidFill>
                  <a:schemeClr val="accent1"/>
                </a:solidFill>
              </a:rPr>
              <a:t>PCA of the spectra</a:t>
            </a:r>
            <a:endParaRPr lang="en-US" sz="1200" dirty="0"/>
          </a:p>
        </p:txBody>
      </p:sp>
      <p:pic>
        <p:nvPicPr>
          <p:cNvPr id="10" name="Raman spectra DNA" descr="Mean Raman spectra of genomic DNA from three cell lines">    </p:cNvPr>
          <p:cNvPicPr>
            <a:picLocks noChangeAspect="1"/>
          </p:cNvPicPr>
          <p:nvPr/>
        </p:nvPicPr>
        <p:blipFill>
          <a:blip r:embed="rId2"/>
          <a:stretch>
            <a:fillRect/>
          </a:stretch>
        </p:blipFill>
        <p:spPr>
          <a:xfrm>
            <a:off x="987552" y="2423160"/>
            <a:ext cx="2048256" cy="2468880"/>
          </a:xfrm>
          <a:prstGeom prst="rect">
            <a:avLst/>
          </a:prstGeom>
        </p:spPr>
      </p:pic>
      <p:pic>
        <p:nvPicPr>
          <p:cNvPr id="11" name="PCA DNA" descr="PCA scores separating normal and melanoma DNA spectra">    </p:cNvPr>
          <p:cNvPicPr>
            <a:picLocks noChangeAspect="1"/>
          </p:cNvPicPr>
          <p:nvPr/>
        </p:nvPicPr>
        <p:blipFill>
          <a:blip r:embed="rId3"/>
          <a:stretch>
            <a:fillRect/>
          </a:stretch>
        </p:blipFill>
        <p:spPr>
          <a:xfrm>
            <a:off x="3685032" y="2423160"/>
            <a:ext cx="2862072" cy="2468880"/>
          </a:xfrm>
          <a:prstGeom prst="rect">
            <a:avLst/>
          </a:prstGeom>
        </p:spPr>
      </p:pic>
      <p:sp>
        <p:nvSpPr>
          <p:cNvPr id="12" name="Legend dot"/>
          <p:cNvSpPr/>
          <p:nvPr/>
        </p:nvSpPr>
        <p:spPr>
          <a:xfrm>
            <a:off x="868680" y="5029200"/>
            <a:ext cx="146304" cy="146304"/>
          </a:xfrm>
          <a:prstGeom prst="ellipse">
            <a:avLst/>
          </a:prstGeom>
          <a:solidFill>
            <a:srgbClr val="1F77B4"/>
          </a:solidFill>
          <a:ln/>
        </p:spPr>
      </p:sp>
      <p:sp>
        <p:nvSpPr>
          <p:cNvPr id="13" name="Text 8"/>
          <p:cNvSpPr txBox="1"/>
          <p:nvPr/>
        </p:nvSpPr>
        <p:spPr>
          <a:xfrm>
            <a:off x="1088136" y="4974336"/>
            <a:ext cx="1783080" cy="256032"/>
          </a:xfrm>
          <a:prstGeom prst="rect">
            <a:avLst/>
          </a:prstGeom>
          <a:noFill/>
          <a:ln/>
        </p:spPr>
        <p:txBody>
          <a:bodyPr wrap="square" lIns="0" tIns="0" rIns="0" bIns="0" rtlCol="0" anchor="ctr"/>
          <a:lstStyle/>
          <a:p>
            <a:pPr indent="0" marL="0">
              <a:buNone/>
            </a:pPr>
            <a:r>
              <a:rPr lang="en-US" sz="1200" dirty="0">
                <a:solidFill>
                  <a:schemeClr val="tx1"/>
                </a:solidFill>
              </a:rPr>
              <a:t>HaCaT · normal</a:t>
            </a:r>
            <a:endParaRPr lang="en-US" sz="1200" dirty="0"/>
          </a:p>
        </p:txBody>
      </p:sp>
      <p:sp>
        <p:nvSpPr>
          <p:cNvPr id="14" name="Legend dot"/>
          <p:cNvSpPr/>
          <p:nvPr/>
        </p:nvSpPr>
        <p:spPr>
          <a:xfrm>
            <a:off x="2880360" y="5029200"/>
            <a:ext cx="146304" cy="146304"/>
          </a:xfrm>
          <a:prstGeom prst="ellipse">
            <a:avLst/>
          </a:prstGeom>
          <a:solidFill>
            <a:srgbClr val="E8650E"/>
          </a:solidFill>
          <a:ln/>
        </p:spPr>
      </p:sp>
      <p:sp>
        <p:nvSpPr>
          <p:cNvPr id="15" name="Text 10"/>
          <p:cNvSpPr txBox="1"/>
          <p:nvPr/>
        </p:nvSpPr>
        <p:spPr>
          <a:xfrm>
            <a:off x="3099816" y="4974336"/>
            <a:ext cx="1783080" cy="256032"/>
          </a:xfrm>
          <a:prstGeom prst="rect">
            <a:avLst/>
          </a:prstGeom>
          <a:noFill/>
          <a:ln/>
        </p:spPr>
        <p:txBody>
          <a:bodyPr wrap="square" lIns="0" tIns="0" rIns="0" bIns="0" rtlCol="0" anchor="ctr"/>
          <a:lstStyle/>
          <a:p>
            <a:pPr indent="0" marL="0">
              <a:buNone/>
            </a:pPr>
            <a:r>
              <a:rPr lang="en-US" sz="1200" dirty="0">
                <a:solidFill>
                  <a:schemeClr val="tx1"/>
                </a:solidFill>
              </a:rPr>
              <a:t>SK-Mel-28 · melanoma</a:t>
            </a:r>
            <a:endParaRPr lang="en-US" sz="1200" dirty="0"/>
          </a:p>
        </p:txBody>
      </p:sp>
      <p:sp>
        <p:nvSpPr>
          <p:cNvPr id="16" name="Legend dot"/>
          <p:cNvSpPr/>
          <p:nvPr/>
        </p:nvSpPr>
        <p:spPr>
          <a:xfrm>
            <a:off x="4892040" y="5029200"/>
            <a:ext cx="146304" cy="146304"/>
          </a:xfrm>
          <a:prstGeom prst="ellipse">
            <a:avLst/>
          </a:prstGeom>
          <a:solidFill>
            <a:srgbClr val="2CA02C"/>
          </a:solidFill>
          <a:ln/>
        </p:spPr>
      </p:sp>
      <p:sp>
        <p:nvSpPr>
          <p:cNvPr id="17" name="Text 12"/>
          <p:cNvSpPr txBox="1"/>
          <p:nvPr/>
        </p:nvSpPr>
        <p:spPr>
          <a:xfrm>
            <a:off x="5111496" y="4974336"/>
            <a:ext cx="1783080" cy="256032"/>
          </a:xfrm>
          <a:prstGeom prst="rect">
            <a:avLst/>
          </a:prstGeom>
          <a:noFill/>
          <a:ln/>
        </p:spPr>
        <p:txBody>
          <a:bodyPr wrap="square" lIns="0" tIns="0" rIns="0" bIns="0" rtlCol="0" anchor="ctr"/>
          <a:lstStyle/>
          <a:p>
            <a:pPr indent="0" marL="0">
              <a:buNone/>
            </a:pPr>
            <a:r>
              <a:rPr lang="en-US" sz="1200" dirty="0">
                <a:solidFill>
                  <a:schemeClr val="tx1"/>
                </a:solidFill>
              </a:rPr>
              <a:t>A375 · melanoma</a:t>
            </a:r>
            <a:endParaRPr lang="en-US" sz="1200" dirty="0"/>
          </a:p>
        </p:txBody>
      </p:sp>
      <p:sp>
        <p:nvSpPr>
          <p:cNvPr id="18" name="Text 13"/>
          <p:cNvSpPr txBox="1"/>
          <p:nvPr/>
        </p:nvSpPr>
        <p:spPr>
          <a:xfrm>
            <a:off x="822960" y="5285232"/>
            <a:ext cx="5897880" cy="457200"/>
          </a:xfrm>
          <a:prstGeom prst="rect">
            <a:avLst/>
          </a:prstGeom>
          <a:noFill/>
          <a:ln/>
        </p:spPr>
        <p:txBody>
          <a:bodyPr wrap="square" lIns="0" tIns="0" rIns="0" bIns="0" rtlCol="0" anchor="ctr"/>
          <a:lstStyle/>
          <a:p>
            <a:pPr indent="0" marL="0">
              <a:buNone/>
            </a:pPr>
            <a:r>
              <a:rPr lang="en-US" sz="1200" dirty="0">
                <a:solidFill>
                  <a:schemeClr val="tx1"/>
                </a:solidFill>
              </a:rPr>
              <a:t>Genomic DNA drops from normal and melanoma cells on Ag-coated SiNW are separated by Raman spectroscopy and PCA, with no labels.</a:t>
            </a:r>
            <a:endParaRPr lang="en-US" sz="1200" dirty="0"/>
          </a:p>
        </p:txBody>
      </p:sp>
      <p:sp>
        <p:nvSpPr>
          <p:cNvPr id="19" name="Text 14"/>
          <p:cNvSpPr txBox="1"/>
          <p:nvPr/>
        </p:nvSpPr>
        <p:spPr>
          <a:xfrm>
            <a:off x="822960" y="5733288"/>
            <a:ext cx="5897880" cy="320040"/>
          </a:xfrm>
          <a:prstGeom prst="rect">
            <a:avLst/>
          </a:prstGeom>
          <a:noFill/>
          <a:ln/>
        </p:spPr>
        <p:txBody>
          <a:bodyPr wrap="square" lIns="0" tIns="0" rIns="0" bIns="0" rtlCol="0" anchor="ctr"/>
          <a:lstStyle/>
          <a:p>
            <a:pPr indent="0" marL="0">
              <a:buNone/>
            </a:pPr>
            <a:r>
              <a:rPr lang="en-US" sz="1000" i="1" dirty="0">
                <a:solidFill>
                  <a:schemeClr val="accent3"/>
                </a:solidFill>
              </a:rPr>
              <a:t>V. Mussi, M. Ledda, D. Polese, L. Maiolo, D. Paria, I. Barman, M. G. Lolli, A. Lisi, A. Convertino, Mater. Sci. Eng. C 2021, 122, 111951</a:t>
            </a:r>
            <a:endParaRPr lang="en-US" sz="1000" dirty="0"/>
          </a:p>
        </p:txBody>
      </p:sp>
      <p:sp>
        <p:nvSpPr>
          <p:cNvPr id="20" name="Motivation card"/>
          <p:cNvSpPr/>
          <p:nvPr/>
        </p:nvSpPr>
        <p:spPr>
          <a:xfrm>
            <a:off x="7178040" y="1600200"/>
            <a:ext cx="4462272" cy="4526280"/>
          </a:xfrm>
          <a:prstGeom prst="roundRect">
            <a:avLst>
              <a:gd name="adj" fmla="val 2459"/>
            </a:avLst>
          </a:prstGeom>
          <a:solidFill>
            <a:schemeClr val="tx2">
              <a:alpha val="78000"/>
            </a:schemeClr>
          </a:solidFill>
          <a:ln w="9525">
            <a:solidFill>
              <a:schemeClr val="bg2">
                <a:alpha val="30000"/>
              </a:schemeClr>
            </a:solidFill>
            <a:prstDash val="solid"/>
          </a:ln>
        </p:spPr>
      </p:sp>
      <p:sp>
        <p:nvSpPr>
          <p:cNvPr id="21" name="Text 16"/>
          <p:cNvSpPr txBox="1"/>
          <p:nvPr/>
        </p:nvSpPr>
        <p:spPr>
          <a:xfrm>
            <a:off x="7452360" y="1737360"/>
            <a:ext cx="3931920" cy="36576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Our group’s path to this PhD</a:t>
            </a:r>
            <a:endParaRPr lang="en-US" sz="1800" dirty="0"/>
          </a:p>
        </p:txBody>
      </p:sp>
      <p:sp>
        <p:nvSpPr>
          <p:cNvPr id="22" name="Timeline spine"/>
          <p:cNvSpPr/>
          <p:nvPr/>
        </p:nvSpPr>
        <p:spPr>
          <a:xfrm>
            <a:off x="7790688" y="2331720"/>
            <a:ext cx="0" cy="2377440"/>
          </a:xfrm>
          <a:prstGeom prst="line">
            <a:avLst/>
          </a:prstGeom>
          <a:noFill/>
          <a:ln w="15875">
            <a:solidFill>
              <a:schemeClr val="accent2">
                <a:alpha val="60000"/>
              </a:schemeClr>
            </a:solidFill>
            <a:prstDash val="solid"/>
          </a:ln>
        </p:spPr>
      </p:sp>
      <p:sp>
        <p:nvSpPr>
          <p:cNvPr id="23" name="Year 2016"/>
          <p:cNvSpPr/>
          <p:nvPr/>
        </p:nvSpPr>
        <p:spPr>
          <a:xfrm>
            <a:off x="7452360" y="2240280"/>
            <a:ext cx="685800" cy="329184"/>
          </a:xfrm>
          <a:prstGeom prst="roundRect">
            <a:avLst>
              <a:gd name="adj" fmla="val 50000"/>
            </a:avLst>
          </a:prstGeom>
          <a:solidFill>
            <a:schemeClr val="accent2">
              <a:alpha val="90000"/>
            </a:schemeClr>
          </a:solidFill>
          <a:ln/>
        </p:spPr>
      </p:sp>
      <p:sp>
        <p:nvSpPr>
          <p:cNvPr id="24" name="Text 19"/>
          <p:cNvSpPr txBox="1"/>
          <p:nvPr/>
        </p:nvSpPr>
        <p:spPr>
          <a:xfrm>
            <a:off x="7452360" y="2240280"/>
            <a:ext cx="685800" cy="329184"/>
          </a:xfrm>
          <a:prstGeom prst="rect">
            <a:avLst/>
          </a:prstGeom>
          <a:noFill/>
          <a:ln/>
        </p:spPr>
        <p:txBody>
          <a:bodyPr wrap="square" lIns="0" tIns="0" rIns="0" bIns="0" rtlCol="0" anchor="ctr"/>
          <a:lstStyle/>
          <a:p>
            <a:pPr algn="ctr" indent="0" marL="0">
              <a:buNone/>
            </a:pPr>
            <a:r>
              <a:rPr lang="en-US" sz="1100" b="1" spc="100" kern="0" dirty="0">
                <a:solidFill>
                  <a:schemeClr val="tx1"/>
                </a:solidFill>
              </a:rPr>
              <a:t>2016</a:t>
            </a:r>
            <a:endParaRPr lang="en-US" sz="1100" dirty="0"/>
          </a:p>
        </p:txBody>
      </p:sp>
      <p:sp>
        <p:nvSpPr>
          <p:cNvPr id="25" name="Text 20"/>
          <p:cNvSpPr txBox="1"/>
          <p:nvPr/>
        </p:nvSpPr>
        <p:spPr>
          <a:xfrm>
            <a:off x="8275320" y="2203704"/>
            <a:ext cx="3200400" cy="438912"/>
          </a:xfrm>
          <a:prstGeom prst="rect">
            <a:avLst/>
          </a:prstGeom>
          <a:noFill/>
          <a:ln/>
        </p:spPr>
        <p:txBody>
          <a:bodyPr wrap="square" lIns="0" tIns="0" rIns="0" bIns="0" rtlCol="0" anchor="t"/>
          <a:lstStyle/>
          <a:p>
            <a:pPr indent="0" marL="0">
              <a:buNone/>
            </a:pPr>
            <a:r>
              <a:rPr lang="en-US" sz="1200" b="1" dirty="0">
                <a:solidFill>
                  <a:schemeClr val="bg1"/>
                </a:solidFill>
              </a:rPr>
              <a:t>Au-coated SiNW arrays for SERS biosensing with electrochemical detection</a:t>
            </a:r>
            <a:endParaRPr lang="en-US" sz="1200" dirty="0"/>
          </a:p>
        </p:txBody>
      </p:sp>
      <p:sp>
        <p:nvSpPr>
          <p:cNvPr id="26" name="Text 21"/>
          <p:cNvSpPr txBox="1"/>
          <p:nvPr/>
        </p:nvSpPr>
        <p:spPr>
          <a:xfrm>
            <a:off x="8275320" y="2642616"/>
            <a:ext cx="3200400" cy="219456"/>
          </a:xfrm>
          <a:prstGeom prst="rect">
            <a:avLst/>
          </a:prstGeom>
          <a:noFill/>
          <a:ln/>
        </p:spPr>
        <p:txBody>
          <a:bodyPr wrap="square" lIns="0" tIns="0" rIns="0" bIns="0" rtlCol="0" anchor="ctr"/>
          <a:lstStyle/>
          <a:p>
            <a:pPr indent="0" marL="0">
              <a:buNone/>
            </a:pPr>
            <a:r>
              <a:rPr lang="en-US" sz="1000" i="1" dirty="0">
                <a:solidFill>
                  <a:schemeClr val="bg2"/>
                </a:solidFill>
              </a:rPr>
              <a:t>Convertino et al., Sci. Rep. 6, 25099</a:t>
            </a:r>
            <a:endParaRPr lang="en-US" sz="1000" dirty="0"/>
          </a:p>
        </p:txBody>
      </p:sp>
      <p:sp>
        <p:nvSpPr>
          <p:cNvPr id="27" name="Year 2018"/>
          <p:cNvSpPr/>
          <p:nvPr/>
        </p:nvSpPr>
        <p:spPr>
          <a:xfrm>
            <a:off x="7452360" y="2953512"/>
            <a:ext cx="685800" cy="329184"/>
          </a:xfrm>
          <a:prstGeom prst="roundRect">
            <a:avLst>
              <a:gd name="adj" fmla="val 50000"/>
            </a:avLst>
          </a:prstGeom>
          <a:solidFill>
            <a:schemeClr val="accent2">
              <a:alpha val="90000"/>
            </a:schemeClr>
          </a:solidFill>
          <a:ln/>
        </p:spPr>
      </p:sp>
      <p:sp>
        <p:nvSpPr>
          <p:cNvPr id="28" name="Text 23"/>
          <p:cNvSpPr txBox="1"/>
          <p:nvPr/>
        </p:nvSpPr>
        <p:spPr>
          <a:xfrm>
            <a:off x="7452360" y="2953512"/>
            <a:ext cx="685800" cy="329184"/>
          </a:xfrm>
          <a:prstGeom prst="rect">
            <a:avLst/>
          </a:prstGeom>
          <a:noFill/>
          <a:ln/>
        </p:spPr>
        <p:txBody>
          <a:bodyPr wrap="square" lIns="0" tIns="0" rIns="0" bIns="0" rtlCol="0" anchor="ctr"/>
          <a:lstStyle/>
          <a:p>
            <a:pPr algn="ctr" indent="0" marL="0">
              <a:buNone/>
            </a:pPr>
            <a:r>
              <a:rPr lang="en-US" sz="1100" b="1" spc="100" kern="0" dirty="0">
                <a:solidFill>
                  <a:schemeClr val="tx1"/>
                </a:solidFill>
              </a:rPr>
              <a:t>2018</a:t>
            </a:r>
            <a:endParaRPr lang="en-US" sz="1100" dirty="0"/>
          </a:p>
        </p:txBody>
      </p:sp>
      <p:sp>
        <p:nvSpPr>
          <p:cNvPr id="29" name="Text 24"/>
          <p:cNvSpPr txBox="1"/>
          <p:nvPr/>
        </p:nvSpPr>
        <p:spPr>
          <a:xfrm>
            <a:off x="8275320" y="2916936"/>
            <a:ext cx="3200400" cy="438912"/>
          </a:xfrm>
          <a:prstGeom prst="rect">
            <a:avLst/>
          </a:prstGeom>
          <a:noFill/>
          <a:ln/>
        </p:spPr>
        <p:txBody>
          <a:bodyPr wrap="square" lIns="0" tIns="0" rIns="0" bIns="0" rtlCol="0" anchor="t"/>
          <a:lstStyle/>
          <a:p>
            <a:pPr indent="0" marL="0">
              <a:buNone/>
            </a:pPr>
            <a:r>
              <a:rPr lang="en-US" sz="1200" b="1" dirty="0">
                <a:solidFill>
                  <a:schemeClr val="bg1"/>
                </a:solidFill>
              </a:rPr>
              <a:t>Au-coated SiNW for NIR photothermal treatment of cancer cells, monitored by Raman</a:t>
            </a:r>
            <a:endParaRPr lang="en-US" sz="1200" dirty="0"/>
          </a:p>
        </p:txBody>
      </p:sp>
      <p:sp>
        <p:nvSpPr>
          <p:cNvPr id="30" name="Text 25"/>
          <p:cNvSpPr txBox="1"/>
          <p:nvPr/>
        </p:nvSpPr>
        <p:spPr>
          <a:xfrm>
            <a:off x="8275320" y="3355848"/>
            <a:ext cx="3200400" cy="219456"/>
          </a:xfrm>
          <a:prstGeom prst="rect">
            <a:avLst/>
          </a:prstGeom>
          <a:noFill/>
          <a:ln/>
        </p:spPr>
        <p:txBody>
          <a:bodyPr wrap="square" lIns="0" tIns="0" rIns="0" bIns="0" rtlCol="0" anchor="ctr"/>
          <a:lstStyle/>
          <a:p>
            <a:pPr indent="0" marL="0">
              <a:buNone/>
            </a:pPr>
            <a:r>
              <a:rPr lang="en-US" sz="1000" i="1" dirty="0">
                <a:solidFill>
                  <a:schemeClr val="bg2"/>
                </a:solidFill>
              </a:rPr>
              <a:t>Convertino et al., Nanotechnology 29, 415102</a:t>
            </a:r>
            <a:endParaRPr lang="en-US" sz="1000" dirty="0"/>
          </a:p>
        </p:txBody>
      </p:sp>
      <p:sp>
        <p:nvSpPr>
          <p:cNvPr id="31" name="Year 2020"/>
          <p:cNvSpPr/>
          <p:nvPr/>
        </p:nvSpPr>
        <p:spPr>
          <a:xfrm>
            <a:off x="7452360" y="3666744"/>
            <a:ext cx="685800" cy="329184"/>
          </a:xfrm>
          <a:prstGeom prst="roundRect">
            <a:avLst>
              <a:gd name="adj" fmla="val 50000"/>
            </a:avLst>
          </a:prstGeom>
          <a:solidFill>
            <a:schemeClr val="accent2">
              <a:alpha val="90000"/>
            </a:schemeClr>
          </a:solidFill>
          <a:ln/>
        </p:spPr>
      </p:sp>
      <p:sp>
        <p:nvSpPr>
          <p:cNvPr id="32" name="Text 27"/>
          <p:cNvSpPr txBox="1"/>
          <p:nvPr/>
        </p:nvSpPr>
        <p:spPr>
          <a:xfrm>
            <a:off x="7452360" y="3666744"/>
            <a:ext cx="685800" cy="329184"/>
          </a:xfrm>
          <a:prstGeom prst="rect">
            <a:avLst/>
          </a:prstGeom>
          <a:noFill/>
          <a:ln/>
        </p:spPr>
        <p:txBody>
          <a:bodyPr wrap="square" lIns="0" tIns="0" rIns="0" bIns="0" rtlCol="0" anchor="ctr"/>
          <a:lstStyle/>
          <a:p>
            <a:pPr algn="ctr" indent="0" marL="0">
              <a:buNone/>
            </a:pPr>
            <a:r>
              <a:rPr lang="en-US" sz="1100" b="1" spc="100" kern="0" dirty="0">
                <a:solidFill>
                  <a:schemeClr val="tx1"/>
                </a:solidFill>
              </a:rPr>
              <a:t>2020</a:t>
            </a:r>
            <a:endParaRPr lang="en-US" sz="1100" dirty="0"/>
          </a:p>
        </p:txBody>
      </p:sp>
      <p:sp>
        <p:nvSpPr>
          <p:cNvPr id="33" name="Text 28"/>
          <p:cNvSpPr txBox="1"/>
          <p:nvPr/>
        </p:nvSpPr>
        <p:spPr>
          <a:xfrm>
            <a:off x="8275320" y="3630168"/>
            <a:ext cx="3200400" cy="438912"/>
          </a:xfrm>
          <a:prstGeom prst="rect">
            <a:avLst/>
          </a:prstGeom>
          <a:noFill/>
          <a:ln/>
        </p:spPr>
        <p:txBody>
          <a:bodyPr wrap="square" lIns="0" tIns="0" rIns="0" bIns="0" rtlCol="0" anchor="t"/>
          <a:lstStyle/>
          <a:p>
            <a:pPr indent="0" marL="0">
              <a:buNone/>
            </a:pPr>
            <a:r>
              <a:rPr lang="en-US" sz="1200" b="1" dirty="0">
                <a:solidFill>
                  <a:schemeClr val="bg1"/>
                </a:solidFill>
              </a:rPr>
              <a:t>Ag-coated SiNW for label-free detection of glycated albumin</a:t>
            </a:r>
            <a:endParaRPr lang="en-US" sz="1200" dirty="0"/>
          </a:p>
        </p:txBody>
      </p:sp>
      <p:sp>
        <p:nvSpPr>
          <p:cNvPr id="34" name="Text 29"/>
          <p:cNvSpPr txBox="1"/>
          <p:nvPr/>
        </p:nvSpPr>
        <p:spPr>
          <a:xfrm>
            <a:off x="8275320" y="4069080"/>
            <a:ext cx="3200400" cy="219456"/>
          </a:xfrm>
          <a:prstGeom prst="rect">
            <a:avLst/>
          </a:prstGeom>
          <a:noFill/>
          <a:ln/>
        </p:spPr>
        <p:txBody>
          <a:bodyPr wrap="square" lIns="0" tIns="0" rIns="0" bIns="0" rtlCol="0" anchor="ctr"/>
          <a:lstStyle/>
          <a:p>
            <a:pPr indent="0" marL="0">
              <a:buNone/>
            </a:pPr>
            <a:r>
              <a:rPr lang="en-US" sz="1000" i="1" dirty="0">
                <a:solidFill>
                  <a:schemeClr val="bg2"/>
                </a:solidFill>
              </a:rPr>
              <a:t>Paria et al., Adv. Healthcare Mater., 2001110</a:t>
            </a:r>
            <a:endParaRPr lang="en-US" sz="1000" dirty="0"/>
          </a:p>
        </p:txBody>
      </p:sp>
      <p:sp>
        <p:nvSpPr>
          <p:cNvPr id="35" name="Year 2021"/>
          <p:cNvSpPr/>
          <p:nvPr/>
        </p:nvSpPr>
        <p:spPr>
          <a:xfrm>
            <a:off x="7452360" y="4379976"/>
            <a:ext cx="685800" cy="329184"/>
          </a:xfrm>
          <a:prstGeom prst="roundRect">
            <a:avLst>
              <a:gd name="adj" fmla="val 50000"/>
            </a:avLst>
          </a:prstGeom>
          <a:solidFill>
            <a:schemeClr val="accent2">
              <a:alpha val="90000"/>
            </a:schemeClr>
          </a:solidFill>
          <a:ln/>
        </p:spPr>
      </p:sp>
      <p:sp>
        <p:nvSpPr>
          <p:cNvPr id="36" name="Text 31"/>
          <p:cNvSpPr txBox="1"/>
          <p:nvPr/>
        </p:nvSpPr>
        <p:spPr>
          <a:xfrm>
            <a:off x="7452360" y="4379976"/>
            <a:ext cx="685800" cy="329184"/>
          </a:xfrm>
          <a:prstGeom prst="rect">
            <a:avLst/>
          </a:prstGeom>
          <a:noFill/>
          <a:ln/>
        </p:spPr>
        <p:txBody>
          <a:bodyPr wrap="square" lIns="0" tIns="0" rIns="0" bIns="0" rtlCol="0" anchor="ctr"/>
          <a:lstStyle/>
          <a:p>
            <a:pPr algn="ctr" indent="0" marL="0">
              <a:buNone/>
            </a:pPr>
            <a:r>
              <a:rPr lang="en-US" sz="1100" b="1" spc="100" kern="0" dirty="0">
                <a:solidFill>
                  <a:schemeClr val="tx1"/>
                </a:solidFill>
              </a:rPr>
              <a:t>2021</a:t>
            </a:r>
            <a:endParaRPr lang="en-US" sz="1100" dirty="0"/>
          </a:p>
        </p:txBody>
      </p:sp>
      <p:sp>
        <p:nvSpPr>
          <p:cNvPr id="37" name="Text 32"/>
          <p:cNvSpPr txBox="1"/>
          <p:nvPr/>
        </p:nvSpPr>
        <p:spPr>
          <a:xfrm>
            <a:off x="8275320" y="4343400"/>
            <a:ext cx="3200400" cy="438912"/>
          </a:xfrm>
          <a:prstGeom prst="rect">
            <a:avLst/>
          </a:prstGeom>
          <a:noFill/>
          <a:ln/>
        </p:spPr>
        <p:txBody>
          <a:bodyPr wrap="square" lIns="0" tIns="0" rIns="0" bIns="0" rtlCol="0" anchor="t"/>
          <a:lstStyle/>
          <a:p>
            <a:pPr indent="0" marL="0">
              <a:buNone/>
            </a:pPr>
            <a:r>
              <a:rPr lang="en-US" sz="1200" b="1" dirty="0">
                <a:solidFill>
                  <a:schemeClr val="bg1"/>
                </a:solidFill>
              </a:rPr>
              <a:t>Raman mapping of single DNA bases on disordered nanostructured surfaces</a:t>
            </a:r>
            <a:endParaRPr lang="en-US" sz="1200" dirty="0"/>
          </a:p>
        </p:txBody>
      </p:sp>
      <p:sp>
        <p:nvSpPr>
          <p:cNvPr id="38" name="Text 33"/>
          <p:cNvSpPr txBox="1"/>
          <p:nvPr/>
        </p:nvSpPr>
        <p:spPr>
          <a:xfrm>
            <a:off x="8275320" y="4782312"/>
            <a:ext cx="3200400" cy="219456"/>
          </a:xfrm>
          <a:prstGeom prst="rect">
            <a:avLst/>
          </a:prstGeom>
          <a:noFill/>
          <a:ln/>
        </p:spPr>
        <p:txBody>
          <a:bodyPr wrap="square" lIns="0" tIns="0" rIns="0" bIns="0" rtlCol="0" anchor="ctr"/>
          <a:lstStyle/>
          <a:p>
            <a:pPr indent="0" marL="0">
              <a:buNone/>
            </a:pPr>
            <a:r>
              <a:rPr lang="en-US" sz="1000" i="1" dirty="0">
                <a:solidFill>
                  <a:schemeClr val="bg2"/>
                </a:solidFill>
              </a:rPr>
              <a:t>Mussi et al., Micromachines 12, 264</a:t>
            </a:r>
            <a:endParaRPr lang="en-US" sz="1000" dirty="0"/>
          </a:p>
        </p:txBody>
      </p:sp>
      <p:sp>
        <p:nvSpPr>
          <p:cNvPr id="39" name="This PhD callout"/>
          <p:cNvSpPr/>
          <p:nvPr/>
        </p:nvSpPr>
        <p:spPr>
          <a:xfrm>
            <a:off x="7406640" y="5138928"/>
            <a:ext cx="4005072" cy="804672"/>
          </a:xfrm>
          <a:prstGeom prst="roundRect">
            <a:avLst>
              <a:gd name="adj" fmla="val 11364"/>
            </a:avLst>
          </a:prstGeom>
          <a:solidFill>
            <a:schemeClr val="accent1"/>
          </a:solidFill>
          <a:ln/>
        </p:spPr>
      </p:sp>
      <p:sp>
        <p:nvSpPr>
          <p:cNvPr id="40" name="Text 35"/>
          <p:cNvSpPr txBox="1"/>
          <p:nvPr/>
        </p:nvSpPr>
        <p:spPr>
          <a:xfrm>
            <a:off x="7543800" y="5138928"/>
            <a:ext cx="3749040" cy="804672"/>
          </a:xfrm>
          <a:prstGeom prst="rect">
            <a:avLst/>
          </a:prstGeom>
          <a:noFill/>
          <a:ln/>
        </p:spPr>
        <p:txBody>
          <a:bodyPr wrap="square" lIns="0" tIns="0" rIns="0" bIns="0" rtlCol="0" anchor="ctr"/>
          <a:lstStyle/>
          <a:p>
            <a:pPr indent="0" marL="0">
              <a:buNone/>
            </a:pPr>
            <a:r>
              <a:rPr lang="en-US" sz="1400" b="1" dirty="0">
                <a:solidFill>
                  <a:schemeClr val="bg1"/>
                </a:solidFill>
              </a:rPr>
              <a:t>This PhD: </a:t>
            </a:r>
            <a:pPr indent="0" marL="0">
              <a:buNone/>
            </a:pPr>
            <a:r>
              <a:rPr lang="en-US" sz="1400" dirty="0">
                <a:solidFill>
                  <a:schemeClr val="bg1"/>
                </a:solidFill>
              </a:rPr>
              <a:t>Raman mapping + machine learning to analyse thousands of spectra automatically</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9C3EC"/>
                </a:solidFill>
              </a:defRPr>
            </a:lvl1pPr>
          </a:lstStyle>
          <a:p>
            <a:pPr algn="r"/>
            <a:fld id="{F7021451-1387-4CA6-816F-3879F97B5CBC}" type="slidenum">
              <a:rPr b="0" lang="en-US"/>
              <a:t>3</a:t>
            </a:fld>
            <a:endParaRPr lang="en-US"/>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Animated background" descr="Animated background: glowing molecular network and Raman spectra">    </p:cNvPr>
          <p:cNvPicPr>
            <a:picLocks noChangeAspect="1"/>
          </p:cNvPicPr>
          <p:nvPr/>
        </p:nvPicPr>
        <p:blipFill>
          <a:blip r:embed="rId1"/>
          <a:stretch>
            <a:fillRect/>
          </a:stretch>
        </p:blipFill>
        <p:spPr>
          <a:xfrm>
            <a:off x="0" y="0"/>
            <a:ext cx="12191695" cy="6858000"/>
          </a:xfrm>
          <a:prstGeom prst="rect">
            <a:avLst/>
          </a:prstGeom>
        </p:spPr>
      </p:pic>
      <p:sp>
        <p:nvSpPr>
          <p:cNvPr id="3" name="Footer"/>
          <p:cNvSpPr txBox="1"/>
          <p:nvPr/>
        </p:nvSpPr>
        <p:spPr>
          <a:xfrm>
            <a:off x="548640" y="6400800"/>
            <a:ext cx="7315200" cy="274320"/>
          </a:xfrm>
          <a:prstGeom prst="rect">
            <a:avLst/>
          </a:prstGeom>
          <a:noFill/>
          <a:ln/>
        </p:spPr>
        <p:txBody>
          <a:bodyPr wrap="square" lIns="0" tIns="0" rIns="0" bIns="0" rtlCol="0" anchor="t"/>
          <a:lstStyle/>
          <a:p>
            <a:pPr indent="0" marL="0">
              <a:buNone/>
            </a:pPr>
            <a:r>
              <a:rPr lang="en-US" sz="1000" dirty="0">
                <a:solidFill>
                  <a:schemeClr val="bg2"/>
                </a:solidFill>
              </a:rPr>
              <a:t>Hira Aman  ·  Activity of Research and Training 2025–2026</a:t>
            </a:r>
            <a:endParaRPr lang="en-US" sz="1000" dirty="0"/>
          </a:p>
        </p:txBody>
      </p:sp>
      <p:sp>
        <p:nvSpPr>
          <p:cNvPr id="4"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Raman Mapping: A Chemical Fingerprint at Every Pixel</a:t>
            </a:r>
            <a:endParaRPr lang="en-US" sz="3000" dirty="0"/>
          </a:p>
        </p:txBody>
      </p:sp>
      <p:sp>
        <p:nvSpPr>
          <p:cNvPr id="5" name="Text 0"/>
          <p:cNvSpPr/>
          <p:nvPr>
            <p:ph idx="101" type="body" hasCustomPrompt="1"/>
          </p:nvPr>
        </p:nvSpPr>
        <p:spPr>
          <a:xfrm>
            <a:off x="548640" y="960120"/>
            <a:ext cx="11064240" cy="365760"/>
          </a:xfrm>
          <a:prstGeom prst="rect">
            <a:avLst/>
          </a:prstGeom>
          <a:noFill/>
          <a:ln/>
        </p:spPr>
        <p:txBody>
          <a:bodyPr wrap="square" lIns="0" tIns="0" rIns="0" bIns="0" rtlCol="0" anchor="ctr"/>
          <a:lstStyle/>
          <a:p>
            <a:pPr algn="l" indent="0" marL="0">
              <a:buNone/>
            </a:pPr>
            <a:r>
              <a:rPr lang="en-US" sz="1500" i="1" dirty="0">
                <a:solidFill>
                  <a:schemeClr val="accent2"/>
                </a:solidFill>
                <a:latin typeface="Calibri" pitchFamily="34" charset="0"/>
                <a:ea typeface="Calibri" pitchFamily="34" charset="-122"/>
                <a:cs typeface="Calibri" pitchFamily="34" charset="-120"/>
              </a:rPr>
              <a:t>Instead of checking single spectra by hand, we map the whole sample</a:t>
            </a:r>
            <a:endParaRPr lang="en-US" sz="1500" dirty="0"/>
          </a:p>
        </p:txBody>
      </p:sp>
      <p:sp>
        <p:nvSpPr>
          <p:cNvPr id="6" name="Mapping card"/>
          <p:cNvSpPr/>
          <p:nvPr/>
        </p:nvSpPr>
        <p:spPr>
          <a:xfrm>
            <a:off x="548640" y="1600200"/>
            <a:ext cx="4023360" cy="4526280"/>
          </a:xfrm>
          <a:prstGeom prst="roundRect">
            <a:avLst>
              <a:gd name="adj" fmla="val 2727"/>
            </a:avLst>
          </a:prstGeom>
          <a:solidFill>
            <a:schemeClr val="tx2">
              <a:alpha val="78000"/>
            </a:schemeClr>
          </a:solidFill>
          <a:ln w="9525">
            <a:solidFill>
              <a:schemeClr val="bg2">
                <a:alpha val="30000"/>
              </a:schemeClr>
            </a:solidFill>
            <a:prstDash val="solid"/>
          </a:ln>
        </p:spPr>
      </p:sp>
      <p:sp>
        <p:nvSpPr>
          <p:cNvPr id="7" name="Map pixel 0-0"/>
          <p:cNvSpPr/>
          <p:nvPr/>
        </p:nvSpPr>
        <p:spPr>
          <a:xfrm>
            <a:off x="1005840" y="1828800"/>
            <a:ext cx="329184" cy="329184"/>
          </a:xfrm>
          <a:prstGeom prst="rect">
            <a:avLst/>
          </a:prstGeom>
          <a:solidFill>
            <a:srgbClr val="5B3FB8"/>
          </a:solidFill>
          <a:ln/>
        </p:spPr>
      </p:sp>
      <p:sp>
        <p:nvSpPr>
          <p:cNvPr id="8" name="Map pixel 0-1"/>
          <p:cNvSpPr/>
          <p:nvPr/>
        </p:nvSpPr>
        <p:spPr>
          <a:xfrm>
            <a:off x="1353312" y="1828800"/>
            <a:ext cx="329184" cy="329184"/>
          </a:xfrm>
          <a:prstGeom prst="rect">
            <a:avLst/>
          </a:prstGeom>
          <a:solidFill>
            <a:srgbClr val="5B3FB8"/>
          </a:solidFill>
          <a:ln/>
        </p:spPr>
      </p:sp>
      <p:sp>
        <p:nvSpPr>
          <p:cNvPr id="9" name="Map pixel 0-2"/>
          <p:cNvSpPr/>
          <p:nvPr/>
        </p:nvSpPr>
        <p:spPr>
          <a:xfrm>
            <a:off x="1700784" y="1828800"/>
            <a:ext cx="329184" cy="329184"/>
          </a:xfrm>
          <a:prstGeom prst="rect">
            <a:avLst/>
          </a:prstGeom>
          <a:solidFill>
            <a:srgbClr val="3B2F8A"/>
          </a:solidFill>
          <a:ln/>
        </p:spPr>
      </p:sp>
      <p:sp>
        <p:nvSpPr>
          <p:cNvPr id="10" name="Map pixel 0-3"/>
          <p:cNvSpPr/>
          <p:nvPr/>
        </p:nvSpPr>
        <p:spPr>
          <a:xfrm>
            <a:off x="2048256" y="1828800"/>
            <a:ext cx="329184" cy="329184"/>
          </a:xfrm>
          <a:prstGeom prst="rect">
            <a:avLst/>
          </a:prstGeom>
          <a:solidFill>
            <a:srgbClr val="1C1648"/>
          </a:solidFill>
          <a:ln/>
        </p:spPr>
      </p:sp>
      <p:sp>
        <p:nvSpPr>
          <p:cNvPr id="11" name="Map pixel 0-4"/>
          <p:cNvSpPr/>
          <p:nvPr/>
        </p:nvSpPr>
        <p:spPr>
          <a:xfrm>
            <a:off x="2395728" y="1828800"/>
            <a:ext cx="329184" cy="329184"/>
          </a:xfrm>
          <a:prstGeom prst="rect">
            <a:avLst/>
          </a:prstGeom>
          <a:solidFill>
            <a:srgbClr val="2B2266"/>
          </a:solidFill>
          <a:ln/>
        </p:spPr>
      </p:sp>
      <p:sp>
        <p:nvSpPr>
          <p:cNvPr id="12" name="Map pixel 0-5"/>
          <p:cNvSpPr/>
          <p:nvPr/>
        </p:nvSpPr>
        <p:spPr>
          <a:xfrm>
            <a:off x="2743200" y="1828800"/>
            <a:ext cx="329184" cy="329184"/>
          </a:xfrm>
          <a:prstGeom prst="rect">
            <a:avLst/>
          </a:prstGeom>
          <a:solidFill>
            <a:srgbClr val="2B2266"/>
          </a:solidFill>
          <a:ln/>
        </p:spPr>
      </p:sp>
      <p:sp>
        <p:nvSpPr>
          <p:cNvPr id="13" name="Map pixel 0-6"/>
          <p:cNvSpPr/>
          <p:nvPr/>
        </p:nvSpPr>
        <p:spPr>
          <a:xfrm>
            <a:off x="3090672" y="1828800"/>
            <a:ext cx="329184" cy="329184"/>
          </a:xfrm>
          <a:prstGeom prst="rect">
            <a:avLst/>
          </a:prstGeom>
          <a:solidFill>
            <a:srgbClr val="1C1648"/>
          </a:solidFill>
          <a:ln/>
        </p:spPr>
      </p:sp>
      <p:sp>
        <p:nvSpPr>
          <p:cNvPr id="14" name="Map pixel 0-7"/>
          <p:cNvSpPr/>
          <p:nvPr/>
        </p:nvSpPr>
        <p:spPr>
          <a:xfrm>
            <a:off x="3438144" y="1828800"/>
            <a:ext cx="329184" cy="329184"/>
          </a:xfrm>
          <a:prstGeom prst="rect">
            <a:avLst/>
          </a:prstGeom>
          <a:solidFill>
            <a:srgbClr val="1C1648"/>
          </a:solidFill>
          <a:ln/>
        </p:spPr>
      </p:sp>
      <p:sp>
        <p:nvSpPr>
          <p:cNvPr id="15" name="Map pixel 0-8"/>
          <p:cNvSpPr/>
          <p:nvPr/>
        </p:nvSpPr>
        <p:spPr>
          <a:xfrm>
            <a:off x="3785616" y="1828800"/>
            <a:ext cx="329184" cy="329184"/>
          </a:xfrm>
          <a:prstGeom prst="rect">
            <a:avLst/>
          </a:prstGeom>
          <a:solidFill>
            <a:srgbClr val="1C1648"/>
          </a:solidFill>
          <a:ln/>
        </p:spPr>
      </p:sp>
      <p:sp>
        <p:nvSpPr>
          <p:cNvPr id="16" name="Map pixel 1-0"/>
          <p:cNvSpPr/>
          <p:nvPr/>
        </p:nvSpPr>
        <p:spPr>
          <a:xfrm>
            <a:off x="1005840" y="2176272"/>
            <a:ext cx="329184" cy="329184"/>
          </a:xfrm>
          <a:prstGeom prst="rect">
            <a:avLst/>
          </a:prstGeom>
          <a:solidFill>
            <a:srgbClr val="B07BF7"/>
          </a:solidFill>
          <a:ln/>
        </p:spPr>
      </p:sp>
      <p:sp>
        <p:nvSpPr>
          <p:cNvPr id="17" name="Map pixel 1-1"/>
          <p:cNvSpPr/>
          <p:nvPr/>
        </p:nvSpPr>
        <p:spPr>
          <a:xfrm>
            <a:off x="1353312" y="2176272"/>
            <a:ext cx="329184" cy="329184"/>
          </a:xfrm>
          <a:prstGeom prst="rect">
            <a:avLst/>
          </a:prstGeom>
          <a:solidFill>
            <a:srgbClr val="B07BF7"/>
          </a:solidFill>
          <a:ln/>
        </p:spPr>
      </p:sp>
      <p:sp>
        <p:nvSpPr>
          <p:cNvPr id="18" name="Map pixel 1-2"/>
          <p:cNvSpPr/>
          <p:nvPr/>
        </p:nvSpPr>
        <p:spPr>
          <a:xfrm>
            <a:off x="1700784" y="2176272"/>
            <a:ext cx="329184" cy="329184"/>
          </a:xfrm>
          <a:prstGeom prst="rect">
            <a:avLst/>
          </a:prstGeom>
          <a:solidFill>
            <a:srgbClr val="2B2266"/>
          </a:solidFill>
          <a:ln/>
        </p:spPr>
      </p:sp>
      <p:sp>
        <p:nvSpPr>
          <p:cNvPr id="19" name="Map pixel 1-3"/>
          <p:cNvSpPr/>
          <p:nvPr/>
        </p:nvSpPr>
        <p:spPr>
          <a:xfrm>
            <a:off x="2048256" y="2176272"/>
            <a:ext cx="329184" cy="329184"/>
          </a:xfrm>
          <a:prstGeom prst="rect">
            <a:avLst/>
          </a:prstGeom>
          <a:solidFill>
            <a:srgbClr val="3B2F8A"/>
          </a:solidFill>
          <a:ln/>
        </p:spPr>
      </p:sp>
      <p:sp>
        <p:nvSpPr>
          <p:cNvPr id="20" name="Map pixel 1-4"/>
          <p:cNvSpPr/>
          <p:nvPr/>
        </p:nvSpPr>
        <p:spPr>
          <a:xfrm>
            <a:off x="2395728" y="2176272"/>
            <a:ext cx="329184" cy="329184"/>
          </a:xfrm>
          <a:prstGeom prst="rect">
            <a:avLst/>
          </a:prstGeom>
          <a:solidFill>
            <a:srgbClr val="B07BF7"/>
          </a:solidFill>
          <a:ln/>
        </p:spPr>
      </p:sp>
      <p:sp>
        <p:nvSpPr>
          <p:cNvPr id="21" name="Map pixel 1-5"/>
          <p:cNvSpPr/>
          <p:nvPr/>
        </p:nvSpPr>
        <p:spPr>
          <a:xfrm>
            <a:off x="2743200" y="2176272"/>
            <a:ext cx="329184" cy="329184"/>
          </a:xfrm>
          <a:prstGeom prst="rect">
            <a:avLst/>
          </a:prstGeom>
          <a:solidFill>
            <a:srgbClr val="8B5CF6"/>
          </a:solidFill>
          <a:ln/>
        </p:spPr>
      </p:sp>
      <p:sp>
        <p:nvSpPr>
          <p:cNvPr id="22" name="Map pixel 1-6"/>
          <p:cNvSpPr/>
          <p:nvPr/>
        </p:nvSpPr>
        <p:spPr>
          <a:xfrm>
            <a:off x="3090672" y="2176272"/>
            <a:ext cx="329184" cy="329184"/>
          </a:xfrm>
          <a:prstGeom prst="rect">
            <a:avLst/>
          </a:prstGeom>
          <a:solidFill>
            <a:srgbClr val="2B2266"/>
          </a:solidFill>
          <a:ln/>
        </p:spPr>
      </p:sp>
      <p:sp>
        <p:nvSpPr>
          <p:cNvPr id="23" name="Map pixel 1-7"/>
          <p:cNvSpPr/>
          <p:nvPr/>
        </p:nvSpPr>
        <p:spPr>
          <a:xfrm>
            <a:off x="3438144" y="2176272"/>
            <a:ext cx="329184" cy="329184"/>
          </a:xfrm>
          <a:prstGeom prst="rect">
            <a:avLst/>
          </a:prstGeom>
          <a:solidFill>
            <a:srgbClr val="3B2F8A"/>
          </a:solidFill>
          <a:ln/>
        </p:spPr>
      </p:sp>
      <p:sp>
        <p:nvSpPr>
          <p:cNvPr id="24" name="Map pixel 1-8"/>
          <p:cNvSpPr/>
          <p:nvPr/>
        </p:nvSpPr>
        <p:spPr>
          <a:xfrm>
            <a:off x="3785616" y="2176272"/>
            <a:ext cx="329184" cy="329184"/>
          </a:xfrm>
          <a:prstGeom prst="rect">
            <a:avLst/>
          </a:prstGeom>
          <a:solidFill>
            <a:srgbClr val="8B5CF6"/>
          </a:solidFill>
          <a:ln/>
        </p:spPr>
      </p:sp>
      <p:sp>
        <p:nvSpPr>
          <p:cNvPr id="25" name="Map pixel 2-0"/>
          <p:cNvSpPr/>
          <p:nvPr/>
        </p:nvSpPr>
        <p:spPr>
          <a:xfrm>
            <a:off x="1005840" y="2523744"/>
            <a:ext cx="329184" cy="329184"/>
          </a:xfrm>
          <a:prstGeom prst="rect">
            <a:avLst/>
          </a:prstGeom>
          <a:solidFill>
            <a:srgbClr val="5B3FB8"/>
          </a:solidFill>
          <a:ln/>
        </p:spPr>
      </p:sp>
      <p:sp>
        <p:nvSpPr>
          <p:cNvPr id="26" name="Map pixel 2-1"/>
          <p:cNvSpPr/>
          <p:nvPr/>
        </p:nvSpPr>
        <p:spPr>
          <a:xfrm>
            <a:off x="1353312" y="2523744"/>
            <a:ext cx="329184" cy="329184"/>
          </a:xfrm>
          <a:prstGeom prst="rect">
            <a:avLst/>
          </a:prstGeom>
          <a:solidFill>
            <a:srgbClr val="3B2F8A"/>
          </a:solidFill>
          <a:ln/>
        </p:spPr>
      </p:sp>
      <p:sp>
        <p:nvSpPr>
          <p:cNvPr id="27" name="Map pixel 2-2"/>
          <p:cNvSpPr/>
          <p:nvPr/>
        </p:nvSpPr>
        <p:spPr>
          <a:xfrm>
            <a:off x="1700784" y="2523744"/>
            <a:ext cx="329184" cy="329184"/>
          </a:xfrm>
          <a:prstGeom prst="rect">
            <a:avLst/>
          </a:prstGeom>
          <a:solidFill>
            <a:srgbClr val="1C1648"/>
          </a:solidFill>
          <a:ln/>
        </p:spPr>
      </p:sp>
      <p:sp>
        <p:nvSpPr>
          <p:cNvPr id="28" name="Map pixel 2-3"/>
          <p:cNvSpPr/>
          <p:nvPr/>
        </p:nvSpPr>
        <p:spPr>
          <a:xfrm>
            <a:off x="2048256" y="2523744"/>
            <a:ext cx="329184" cy="329184"/>
          </a:xfrm>
          <a:prstGeom prst="rect">
            <a:avLst/>
          </a:prstGeom>
          <a:solidFill>
            <a:srgbClr val="5B3FB8"/>
          </a:solidFill>
          <a:ln/>
        </p:spPr>
      </p:sp>
      <p:sp>
        <p:nvSpPr>
          <p:cNvPr id="29" name="Map pixel 2-4"/>
          <p:cNvSpPr/>
          <p:nvPr/>
        </p:nvSpPr>
        <p:spPr>
          <a:xfrm>
            <a:off x="2395728" y="2523744"/>
            <a:ext cx="329184" cy="329184"/>
          </a:xfrm>
          <a:prstGeom prst="rect">
            <a:avLst/>
          </a:prstGeom>
          <a:solidFill>
            <a:srgbClr val="B07BF7"/>
          </a:solidFill>
          <a:ln/>
        </p:spPr>
      </p:sp>
      <p:sp>
        <p:nvSpPr>
          <p:cNvPr id="30" name="Map pixel 2-5"/>
          <p:cNvSpPr/>
          <p:nvPr/>
        </p:nvSpPr>
        <p:spPr>
          <a:xfrm>
            <a:off x="2743200" y="2523744"/>
            <a:ext cx="329184" cy="329184"/>
          </a:xfrm>
          <a:prstGeom prst="rect">
            <a:avLst/>
          </a:prstGeom>
          <a:solidFill>
            <a:srgbClr val="5B3FB8"/>
          </a:solidFill>
          <a:ln/>
        </p:spPr>
      </p:sp>
      <p:sp>
        <p:nvSpPr>
          <p:cNvPr id="31" name="Map pixel 2-6"/>
          <p:cNvSpPr/>
          <p:nvPr/>
        </p:nvSpPr>
        <p:spPr>
          <a:xfrm>
            <a:off x="3090672" y="2523744"/>
            <a:ext cx="329184" cy="329184"/>
          </a:xfrm>
          <a:prstGeom prst="rect">
            <a:avLst/>
          </a:prstGeom>
          <a:solidFill>
            <a:srgbClr val="2B2266"/>
          </a:solidFill>
          <a:ln/>
        </p:spPr>
      </p:sp>
      <p:sp>
        <p:nvSpPr>
          <p:cNvPr id="32" name="Map pixel 2-7"/>
          <p:cNvSpPr/>
          <p:nvPr/>
        </p:nvSpPr>
        <p:spPr>
          <a:xfrm>
            <a:off x="3438144" y="2523744"/>
            <a:ext cx="329184" cy="329184"/>
          </a:xfrm>
          <a:prstGeom prst="rect">
            <a:avLst/>
          </a:prstGeom>
          <a:solidFill>
            <a:srgbClr val="8B5CF6"/>
          </a:solidFill>
          <a:ln/>
        </p:spPr>
      </p:sp>
      <p:sp>
        <p:nvSpPr>
          <p:cNvPr id="33" name="Map pixel 2-8"/>
          <p:cNvSpPr/>
          <p:nvPr/>
        </p:nvSpPr>
        <p:spPr>
          <a:xfrm>
            <a:off x="3785616" y="2523744"/>
            <a:ext cx="329184" cy="329184"/>
          </a:xfrm>
          <a:prstGeom prst="rect">
            <a:avLst/>
          </a:prstGeom>
          <a:solidFill>
            <a:srgbClr val="B07BF7"/>
          </a:solidFill>
          <a:ln/>
        </p:spPr>
      </p:sp>
      <p:sp>
        <p:nvSpPr>
          <p:cNvPr id="34" name="Map pixel 3-0"/>
          <p:cNvSpPr/>
          <p:nvPr/>
        </p:nvSpPr>
        <p:spPr>
          <a:xfrm>
            <a:off x="1005840" y="2871216"/>
            <a:ext cx="329184" cy="329184"/>
          </a:xfrm>
          <a:prstGeom prst="rect">
            <a:avLst/>
          </a:prstGeom>
          <a:solidFill>
            <a:srgbClr val="1C1648"/>
          </a:solidFill>
          <a:ln/>
        </p:spPr>
      </p:sp>
      <p:sp>
        <p:nvSpPr>
          <p:cNvPr id="35" name="Map pixel 3-1"/>
          <p:cNvSpPr/>
          <p:nvPr/>
        </p:nvSpPr>
        <p:spPr>
          <a:xfrm>
            <a:off x="1353312" y="2871216"/>
            <a:ext cx="329184" cy="329184"/>
          </a:xfrm>
          <a:prstGeom prst="rect">
            <a:avLst/>
          </a:prstGeom>
          <a:solidFill>
            <a:srgbClr val="1C1648"/>
          </a:solidFill>
          <a:ln/>
        </p:spPr>
      </p:sp>
      <p:sp>
        <p:nvSpPr>
          <p:cNvPr id="36" name="Map pixel 3-2"/>
          <p:cNvSpPr/>
          <p:nvPr/>
        </p:nvSpPr>
        <p:spPr>
          <a:xfrm>
            <a:off x="1700784" y="2871216"/>
            <a:ext cx="329184" cy="329184"/>
          </a:xfrm>
          <a:prstGeom prst="rect">
            <a:avLst/>
          </a:prstGeom>
          <a:solidFill>
            <a:srgbClr val="1C1648"/>
          </a:solidFill>
          <a:ln/>
        </p:spPr>
      </p:sp>
      <p:sp>
        <p:nvSpPr>
          <p:cNvPr id="37" name="Map pixel 3-3"/>
          <p:cNvSpPr/>
          <p:nvPr/>
        </p:nvSpPr>
        <p:spPr>
          <a:xfrm>
            <a:off x="2048256" y="2871216"/>
            <a:ext cx="329184" cy="329184"/>
          </a:xfrm>
          <a:prstGeom prst="rect">
            <a:avLst/>
          </a:prstGeom>
          <a:solidFill>
            <a:srgbClr val="1C1648"/>
          </a:solidFill>
          <a:ln/>
        </p:spPr>
      </p:sp>
      <p:sp>
        <p:nvSpPr>
          <p:cNvPr id="38" name="Map pixel 3-4"/>
          <p:cNvSpPr/>
          <p:nvPr/>
        </p:nvSpPr>
        <p:spPr>
          <a:xfrm>
            <a:off x="2395728" y="2871216"/>
            <a:ext cx="329184" cy="329184"/>
          </a:xfrm>
          <a:prstGeom prst="rect">
            <a:avLst/>
          </a:prstGeom>
          <a:solidFill>
            <a:srgbClr val="1C1648"/>
          </a:solidFill>
          <a:ln/>
        </p:spPr>
      </p:sp>
      <p:sp>
        <p:nvSpPr>
          <p:cNvPr id="39" name="Map pixel 3-5"/>
          <p:cNvSpPr/>
          <p:nvPr/>
        </p:nvSpPr>
        <p:spPr>
          <a:xfrm>
            <a:off x="2743200" y="2871216"/>
            <a:ext cx="329184" cy="329184"/>
          </a:xfrm>
          <a:prstGeom prst="rect">
            <a:avLst/>
          </a:prstGeom>
          <a:solidFill>
            <a:srgbClr val="1C1648"/>
          </a:solidFill>
          <a:ln/>
        </p:spPr>
      </p:sp>
      <p:sp>
        <p:nvSpPr>
          <p:cNvPr id="40" name="Map pixel 3-6"/>
          <p:cNvSpPr/>
          <p:nvPr/>
        </p:nvSpPr>
        <p:spPr>
          <a:xfrm>
            <a:off x="3090672" y="2871216"/>
            <a:ext cx="329184" cy="329184"/>
          </a:xfrm>
          <a:prstGeom prst="rect">
            <a:avLst/>
          </a:prstGeom>
          <a:solidFill>
            <a:srgbClr val="2B2266"/>
          </a:solidFill>
          <a:ln/>
        </p:spPr>
      </p:sp>
      <p:sp>
        <p:nvSpPr>
          <p:cNvPr id="41" name="Map pixel 3-7"/>
          <p:cNvSpPr/>
          <p:nvPr/>
        </p:nvSpPr>
        <p:spPr>
          <a:xfrm>
            <a:off x="3438144" y="2871216"/>
            <a:ext cx="329184" cy="329184"/>
          </a:xfrm>
          <a:prstGeom prst="rect">
            <a:avLst/>
          </a:prstGeom>
          <a:solidFill>
            <a:srgbClr val="3B2F8A"/>
          </a:solidFill>
          <a:ln/>
        </p:spPr>
      </p:sp>
      <p:sp>
        <p:nvSpPr>
          <p:cNvPr id="42" name="Map pixel 3-8"/>
          <p:cNvSpPr/>
          <p:nvPr/>
        </p:nvSpPr>
        <p:spPr>
          <a:xfrm>
            <a:off x="3785616" y="2871216"/>
            <a:ext cx="329184" cy="329184"/>
          </a:xfrm>
          <a:prstGeom prst="rect">
            <a:avLst/>
          </a:prstGeom>
          <a:solidFill>
            <a:srgbClr val="3B2F8A"/>
          </a:solidFill>
          <a:ln/>
        </p:spPr>
      </p:sp>
      <p:sp>
        <p:nvSpPr>
          <p:cNvPr id="43" name="Map pixel 4-0"/>
          <p:cNvSpPr/>
          <p:nvPr/>
        </p:nvSpPr>
        <p:spPr>
          <a:xfrm>
            <a:off x="1005840" y="3218688"/>
            <a:ext cx="329184" cy="329184"/>
          </a:xfrm>
          <a:prstGeom prst="rect">
            <a:avLst/>
          </a:prstGeom>
          <a:solidFill>
            <a:srgbClr val="3B2F8A"/>
          </a:solidFill>
          <a:ln/>
        </p:spPr>
      </p:sp>
      <p:sp>
        <p:nvSpPr>
          <p:cNvPr id="44" name="Map pixel 4-1"/>
          <p:cNvSpPr/>
          <p:nvPr/>
        </p:nvSpPr>
        <p:spPr>
          <a:xfrm>
            <a:off x="1353312" y="3218688"/>
            <a:ext cx="329184" cy="329184"/>
          </a:xfrm>
          <a:prstGeom prst="rect">
            <a:avLst/>
          </a:prstGeom>
          <a:solidFill>
            <a:srgbClr val="2B2266"/>
          </a:solidFill>
          <a:ln/>
        </p:spPr>
      </p:sp>
      <p:sp>
        <p:nvSpPr>
          <p:cNvPr id="45" name="Map pixel 4-2"/>
          <p:cNvSpPr/>
          <p:nvPr/>
        </p:nvSpPr>
        <p:spPr>
          <a:xfrm>
            <a:off x="1700784" y="3218688"/>
            <a:ext cx="329184" cy="329184"/>
          </a:xfrm>
          <a:prstGeom prst="rect">
            <a:avLst/>
          </a:prstGeom>
          <a:solidFill>
            <a:srgbClr val="5B3FB8"/>
          </a:solidFill>
          <a:ln/>
        </p:spPr>
      </p:sp>
      <p:sp>
        <p:nvSpPr>
          <p:cNvPr id="46" name="Map pixel 4-3"/>
          <p:cNvSpPr/>
          <p:nvPr/>
        </p:nvSpPr>
        <p:spPr>
          <a:xfrm>
            <a:off x="2048256" y="3218688"/>
            <a:ext cx="329184" cy="329184"/>
          </a:xfrm>
          <a:prstGeom prst="rect">
            <a:avLst/>
          </a:prstGeom>
          <a:solidFill>
            <a:srgbClr val="5B3FB8"/>
          </a:solidFill>
          <a:ln/>
        </p:spPr>
      </p:sp>
      <p:sp>
        <p:nvSpPr>
          <p:cNvPr id="47" name="Map pixel 4-4"/>
          <p:cNvSpPr/>
          <p:nvPr/>
        </p:nvSpPr>
        <p:spPr>
          <a:xfrm>
            <a:off x="2395728" y="3218688"/>
            <a:ext cx="329184" cy="329184"/>
          </a:xfrm>
          <a:prstGeom prst="rect">
            <a:avLst/>
          </a:prstGeom>
          <a:solidFill>
            <a:srgbClr val="2B2266"/>
          </a:solidFill>
          <a:ln/>
        </p:spPr>
      </p:sp>
      <p:sp>
        <p:nvSpPr>
          <p:cNvPr id="48" name="Map pixel 4-5"/>
          <p:cNvSpPr/>
          <p:nvPr/>
        </p:nvSpPr>
        <p:spPr>
          <a:xfrm>
            <a:off x="2743200" y="3218688"/>
            <a:ext cx="329184" cy="329184"/>
          </a:xfrm>
          <a:prstGeom prst="rect">
            <a:avLst/>
          </a:prstGeom>
          <a:solidFill>
            <a:srgbClr val="1C1648"/>
          </a:solidFill>
          <a:ln/>
        </p:spPr>
      </p:sp>
      <p:sp>
        <p:nvSpPr>
          <p:cNvPr id="49" name="Map pixel 4-6"/>
          <p:cNvSpPr/>
          <p:nvPr/>
        </p:nvSpPr>
        <p:spPr>
          <a:xfrm>
            <a:off x="3090672" y="3218688"/>
            <a:ext cx="329184" cy="329184"/>
          </a:xfrm>
          <a:prstGeom prst="rect">
            <a:avLst/>
          </a:prstGeom>
          <a:solidFill>
            <a:srgbClr val="3B2F8A"/>
          </a:solidFill>
          <a:ln/>
        </p:spPr>
      </p:sp>
      <p:sp>
        <p:nvSpPr>
          <p:cNvPr id="50" name="Map pixel 4-7"/>
          <p:cNvSpPr/>
          <p:nvPr/>
        </p:nvSpPr>
        <p:spPr>
          <a:xfrm>
            <a:off x="3438144" y="3218688"/>
            <a:ext cx="329184" cy="329184"/>
          </a:xfrm>
          <a:prstGeom prst="rect">
            <a:avLst/>
          </a:prstGeom>
          <a:solidFill>
            <a:srgbClr val="2B2266"/>
          </a:solidFill>
          <a:ln/>
        </p:spPr>
      </p:sp>
      <p:sp>
        <p:nvSpPr>
          <p:cNvPr id="51" name="Map pixel 4-8"/>
          <p:cNvSpPr/>
          <p:nvPr/>
        </p:nvSpPr>
        <p:spPr>
          <a:xfrm>
            <a:off x="3785616" y="3218688"/>
            <a:ext cx="329184" cy="329184"/>
          </a:xfrm>
          <a:prstGeom prst="rect">
            <a:avLst/>
          </a:prstGeom>
          <a:solidFill>
            <a:srgbClr val="1C1648"/>
          </a:solidFill>
          <a:ln/>
        </p:spPr>
      </p:sp>
      <p:sp>
        <p:nvSpPr>
          <p:cNvPr id="52" name="Map pixel 5-0"/>
          <p:cNvSpPr/>
          <p:nvPr/>
        </p:nvSpPr>
        <p:spPr>
          <a:xfrm>
            <a:off x="1005840" y="3566160"/>
            <a:ext cx="329184" cy="329184"/>
          </a:xfrm>
          <a:prstGeom prst="rect">
            <a:avLst/>
          </a:prstGeom>
          <a:solidFill>
            <a:srgbClr val="1C1648"/>
          </a:solidFill>
          <a:ln/>
        </p:spPr>
      </p:sp>
      <p:sp>
        <p:nvSpPr>
          <p:cNvPr id="53" name="Map pixel 5-1"/>
          <p:cNvSpPr/>
          <p:nvPr/>
        </p:nvSpPr>
        <p:spPr>
          <a:xfrm>
            <a:off x="1353312" y="3566160"/>
            <a:ext cx="329184" cy="329184"/>
          </a:xfrm>
          <a:prstGeom prst="rect">
            <a:avLst/>
          </a:prstGeom>
          <a:solidFill>
            <a:srgbClr val="5B3FB8"/>
          </a:solidFill>
          <a:ln/>
        </p:spPr>
      </p:sp>
      <p:sp>
        <p:nvSpPr>
          <p:cNvPr id="54" name="Map pixel 5-2"/>
          <p:cNvSpPr/>
          <p:nvPr/>
        </p:nvSpPr>
        <p:spPr>
          <a:xfrm>
            <a:off x="1700784" y="3566160"/>
            <a:ext cx="329184" cy="329184"/>
          </a:xfrm>
          <a:prstGeom prst="rect">
            <a:avLst/>
          </a:prstGeom>
          <a:solidFill>
            <a:srgbClr val="B07BF7"/>
          </a:solidFill>
          <a:ln/>
        </p:spPr>
      </p:sp>
      <p:sp>
        <p:nvSpPr>
          <p:cNvPr id="55" name="Map pixel 5-3"/>
          <p:cNvSpPr/>
          <p:nvPr/>
        </p:nvSpPr>
        <p:spPr>
          <a:xfrm>
            <a:off x="2048256" y="3566160"/>
            <a:ext cx="329184" cy="329184"/>
          </a:xfrm>
          <a:prstGeom prst="rect">
            <a:avLst/>
          </a:prstGeom>
          <a:solidFill>
            <a:srgbClr val="8B5CF6"/>
          </a:solidFill>
          <a:ln/>
        </p:spPr>
      </p:sp>
      <p:sp>
        <p:nvSpPr>
          <p:cNvPr id="56" name="Map pixel 5-4"/>
          <p:cNvSpPr/>
          <p:nvPr/>
        </p:nvSpPr>
        <p:spPr>
          <a:xfrm>
            <a:off x="2395728" y="3566160"/>
            <a:ext cx="329184" cy="329184"/>
          </a:xfrm>
          <a:prstGeom prst="rect">
            <a:avLst/>
          </a:prstGeom>
          <a:solidFill>
            <a:srgbClr val="1C1648"/>
          </a:solidFill>
          <a:ln/>
        </p:spPr>
      </p:sp>
      <p:sp>
        <p:nvSpPr>
          <p:cNvPr id="57" name="Map pixel 5-5"/>
          <p:cNvSpPr/>
          <p:nvPr/>
        </p:nvSpPr>
        <p:spPr>
          <a:xfrm>
            <a:off x="2743200" y="3566160"/>
            <a:ext cx="329184" cy="329184"/>
          </a:xfrm>
          <a:prstGeom prst="rect">
            <a:avLst/>
          </a:prstGeom>
          <a:solidFill>
            <a:srgbClr val="8B5CF6"/>
          </a:solidFill>
          <a:ln/>
        </p:spPr>
      </p:sp>
      <p:sp>
        <p:nvSpPr>
          <p:cNvPr id="58" name="Map pixel 5-6"/>
          <p:cNvSpPr/>
          <p:nvPr/>
        </p:nvSpPr>
        <p:spPr>
          <a:xfrm>
            <a:off x="3090672" y="3566160"/>
            <a:ext cx="329184" cy="329184"/>
          </a:xfrm>
          <a:prstGeom prst="rect">
            <a:avLst/>
          </a:prstGeom>
          <a:solidFill>
            <a:srgbClr val="B07BF7"/>
          </a:solidFill>
          <a:ln/>
        </p:spPr>
      </p:sp>
      <p:sp>
        <p:nvSpPr>
          <p:cNvPr id="59" name="Map pixel 5-7"/>
          <p:cNvSpPr/>
          <p:nvPr/>
        </p:nvSpPr>
        <p:spPr>
          <a:xfrm>
            <a:off x="3438144" y="3566160"/>
            <a:ext cx="329184" cy="329184"/>
          </a:xfrm>
          <a:prstGeom prst="rect">
            <a:avLst/>
          </a:prstGeom>
          <a:solidFill>
            <a:srgbClr val="5B3FB8"/>
          </a:solidFill>
          <a:ln/>
        </p:spPr>
      </p:sp>
      <p:sp>
        <p:nvSpPr>
          <p:cNvPr id="60" name="Map pixel 5-8"/>
          <p:cNvSpPr/>
          <p:nvPr/>
        </p:nvSpPr>
        <p:spPr>
          <a:xfrm>
            <a:off x="3785616" y="3566160"/>
            <a:ext cx="329184" cy="329184"/>
          </a:xfrm>
          <a:prstGeom prst="rect">
            <a:avLst/>
          </a:prstGeom>
          <a:solidFill>
            <a:srgbClr val="1C1648"/>
          </a:solidFill>
          <a:ln/>
        </p:spPr>
      </p:sp>
      <p:sp>
        <p:nvSpPr>
          <p:cNvPr id="61" name="Map pixel 6-0"/>
          <p:cNvSpPr/>
          <p:nvPr/>
        </p:nvSpPr>
        <p:spPr>
          <a:xfrm>
            <a:off x="1005840" y="3913632"/>
            <a:ext cx="329184" cy="329184"/>
          </a:xfrm>
          <a:prstGeom prst="rect">
            <a:avLst/>
          </a:prstGeom>
          <a:solidFill>
            <a:srgbClr val="1C1648"/>
          </a:solidFill>
          <a:ln/>
        </p:spPr>
      </p:sp>
      <p:sp>
        <p:nvSpPr>
          <p:cNvPr id="62" name="Map pixel 6-1"/>
          <p:cNvSpPr/>
          <p:nvPr/>
        </p:nvSpPr>
        <p:spPr>
          <a:xfrm>
            <a:off x="1353312" y="3913632"/>
            <a:ext cx="329184" cy="329184"/>
          </a:xfrm>
          <a:prstGeom prst="rect">
            <a:avLst/>
          </a:prstGeom>
          <a:solidFill>
            <a:srgbClr val="3B2F8A"/>
          </a:solidFill>
          <a:ln/>
        </p:spPr>
      </p:sp>
      <p:sp>
        <p:nvSpPr>
          <p:cNvPr id="63" name="Map pixel 6-2"/>
          <p:cNvSpPr/>
          <p:nvPr/>
        </p:nvSpPr>
        <p:spPr>
          <a:xfrm>
            <a:off x="1700784" y="3913632"/>
            <a:ext cx="329184" cy="329184"/>
          </a:xfrm>
          <a:prstGeom prst="rect">
            <a:avLst/>
          </a:prstGeom>
          <a:solidFill>
            <a:srgbClr val="5B3FB8"/>
          </a:solidFill>
          <a:ln/>
        </p:spPr>
      </p:sp>
      <p:sp>
        <p:nvSpPr>
          <p:cNvPr id="64" name="Map pixel 6-3"/>
          <p:cNvSpPr/>
          <p:nvPr/>
        </p:nvSpPr>
        <p:spPr>
          <a:xfrm>
            <a:off x="2048256" y="3913632"/>
            <a:ext cx="329184" cy="329184"/>
          </a:xfrm>
          <a:prstGeom prst="rect">
            <a:avLst/>
          </a:prstGeom>
          <a:solidFill>
            <a:srgbClr val="2B2266"/>
          </a:solidFill>
          <a:ln/>
        </p:spPr>
      </p:sp>
      <p:sp>
        <p:nvSpPr>
          <p:cNvPr id="65" name="Map pixel 6-4"/>
          <p:cNvSpPr/>
          <p:nvPr/>
        </p:nvSpPr>
        <p:spPr>
          <a:xfrm>
            <a:off x="2395728" y="3913632"/>
            <a:ext cx="329184" cy="329184"/>
          </a:xfrm>
          <a:prstGeom prst="rect">
            <a:avLst/>
          </a:prstGeom>
          <a:solidFill>
            <a:srgbClr val="2B2266"/>
          </a:solidFill>
          <a:ln/>
        </p:spPr>
      </p:sp>
      <p:sp>
        <p:nvSpPr>
          <p:cNvPr id="66" name="Map pixel 6-5"/>
          <p:cNvSpPr/>
          <p:nvPr/>
        </p:nvSpPr>
        <p:spPr>
          <a:xfrm>
            <a:off x="2743200" y="3913632"/>
            <a:ext cx="329184" cy="329184"/>
          </a:xfrm>
          <a:prstGeom prst="rect">
            <a:avLst/>
          </a:prstGeom>
          <a:solidFill>
            <a:srgbClr val="8B5CF6"/>
          </a:solidFill>
          <a:ln/>
        </p:spPr>
      </p:sp>
      <p:sp>
        <p:nvSpPr>
          <p:cNvPr id="67" name="Map pixel 6-6"/>
          <p:cNvSpPr/>
          <p:nvPr/>
        </p:nvSpPr>
        <p:spPr>
          <a:xfrm>
            <a:off x="3090672" y="3913632"/>
            <a:ext cx="329184" cy="329184"/>
          </a:xfrm>
          <a:prstGeom prst="rect">
            <a:avLst/>
          </a:prstGeom>
          <a:solidFill>
            <a:srgbClr val="8B5CF6"/>
          </a:solidFill>
          <a:ln/>
        </p:spPr>
      </p:sp>
      <p:sp>
        <p:nvSpPr>
          <p:cNvPr id="68" name="Map pixel 6-7"/>
          <p:cNvSpPr/>
          <p:nvPr/>
        </p:nvSpPr>
        <p:spPr>
          <a:xfrm>
            <a:off x="3438144" y="3913632"/>
            <a:ext cx="329184" cy="329184"/>
          </a:xfrm>
          <a:prstGeom prst="rect">
            <a:avLst/>
          </a:prstGeom>
          <a:solidFill>
            <a:srgbClr val="2B2266"/>
          </a:solidFill>
          <a:ln/>
        </p:spPr>
      </p:sp>
      <p:sp>
        <p:nvSpPr>
          <p:cNvPr id="69" name="Map pixel 6-8"/>
          <p:cNvSpPr/>
          <p:nvPr/>
        </p:nvSpPr>
        <p:spPr>
          <a:xfrm>
            <a:off x="3785616" y="3913632"/>
            <a:ext cx="329184" cy="329184"/>
          </a:xfrm>
          <a:prstGeom prst="rect">
            <a:avLst/>
          </a:prstGeom>
          <a:solidFill>
            <a:srgbClr val="3B2F8A"/>
          </a:solidFill>
          <a:ln/>
        </p:spPr>
      </p:sp>
      <p:sp>
        <p:nvSpPr>
          <p:cNvPr id="70" name="Selected pixel"/>
          <p:cNvSpPr/>
          <p:nvPr/>
        </p:nvSpPr>
        <p:spPr>
          <a:xfrm>
            <a:off x="3063240" y="2496312"/>
            <a:ext cx="384048" cy="384048"/>
          </a:xfrm>
          <a:prstGeom prst="rect">
            <a:avLst/>
          </a:prstGeom>
          <a:ln w="31750">
            <a:solidFill>
              <a:schemeClr val="accent1"/>
            </a:solidFill>
            <a:prstDash val="solid"/>
          </a:ln>
        </p:spPr>
      </p:sp>
      <p:sp>
        <p:nvSpPr>
          <p:cNvPr id="71" name="Pixel to spectrum"/>
          <p:cNvSpPr/>
          <p:nvPr/>
        </p:nvSpPr>
        <p:spPr>
          <a:xfrm>
            <a:off x="3465576" y="2688336"/>
            <a:ext cx="1380744" cy="0"/>
          </a:xfrm>
          <a:prstGeom prst="line">
            <a:avLst/>
          </a:prstGeom>
          <a:noFill/>
          <a:ln w="19050">
            <a:solidFill>
              <a:schemeClr val="accent1"/>
            </a:solidFill>
            <a:prstDash val="dash"/>
            <a:tailEnd type="triangle"/>
          </a:ln>
        </p:spPr>
      </p:sp>
      <p:sp>
        <p:nvSpPr>
          <p:cNvPr id="72" name="Text 69"/>
          <p:cNvSpPr txBox="1"/>
          <p:nvPr/>
        </p:nvSpPr>
        <p:spPr>
          <a:xfrm>
            <a:off x="1005840" y="4297680"/>
            <a:ext cx="3291840" cy="274320"/>
          </a:xfrm>
          <a:prstGeom prst="rect">
            <a:avLst/>
          </a:prstGeom>
          <a:noFill/>
          <a:ln/>
        </p:spPr>
        <p:txBody>
          <a:bodyPr wrap="square" lIns="0" tIns="0" rIns="0" bIns="0" rtlCol="0" anchor="ctr"/>
          <a:lstStyle/>
          <a:p>
            <a:pPr indent="0" marL="0">
              <a:buNone/>
            </a:pPr>
            <a:r>
              <a:rPr lang="en-US" sz="1300" i="1" dirty="0">
                <a:solidFill>
                  <a:schemeClr val="accent1"/>
                </a:solidFill>
              </a:rPr>
              <a:t>Each pixel = one full spectrum</a:t>
            </a:r>
            <a:endParaRPr lang="en-US" sz="1300" dirty="0"/>
          </a:p>
        </p:txBody>
      </p:sp>
      <p:sp>
        <p:nvSpPr>
          <p:cNvPr id="73" name="Text 70"/>
          <p:cNvSpPr txBox="1"/>
          <p:nvPr/>
        </p:nvSpPr>
        <p:spPr>
          <a:xfrm>
            <a:off x="1005840" y="4617720"/>
            <a:ext cx="1554480" cy="68580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100s</a:t>
            </a:r>
            <a:endParaRPr lang="en-US" sz="4400" dirty="0"/>
          </a:p>
        </p:txBody>
      </p:sp>
      <p:sp>
        <p:nvSpPr>
          <p:cNvPr id="74" name="Text 71"/>
          <p:cNvSpPr txBox="1"/>
          <p:nvPr/>
        </p:nvSpPr>
        <p:spPr>
          <a:xfrm>
            <a:off x="2514600" y="4800600"/>
            <a:ext cx="1828800" cy="411480"/>
          </a:xfrm>
          <a:prstGeom prst="rect">
            <a:avLst/>
          </a:prstGeom>
          <a:noFill/>
          <a:ln/>
        </p:spPr>
        <p:txBody>
          <a:bodyPr wrap="square" lIns="0" tIns="0" rIns="0" bIns="0" rtlCol="0" anchor="ctr"/>
          <a:lstStyle/>
          <a:p>
            <a:pPr indent="0" marL="0">
              <a:buNone/>
            </a:pPr>
            <a:r>
              <a:rPr lang="en-US" sz="1500" dirty="0">
                <a:solidFill>
                  <a:schemeClr val="bg2"/>
                </a:solidFill>
              </a:rPr>
              <a:t>spectra per map</a:t>
            </a:r>
            <a:endParaRPr lang="en-US" sz="1500" dirty="0"/>
          </a:p>
        </p:txBody>
      </p:sp>
      <p:sp>
        <p:nvSpPr>
          <p:cNvPr id="75" name="Text 72"/>
          <p:cNvSpPr txBox="1"/>
          <p:nvPr/>
        </p:nvSpPr>
        <p:spPr>
          <a:xfrm>
            <a:off x="1005840" y="5349240"/>
            <a:ext cx="3474720" cy="64008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chemeClr val="bg1"/>
                </a:solidFill>
              </a:rPr>
              <a:t>Fingerprints of proteins and lipids</a:t>
            </a:r>
            <a:endParaRPr lang="en-US" sz="1400" dirty="0"/>
          </a:p>
          <a:p>
            <a:pPr marL="342900" indent="-342900">
              <a:spcAft>
                <a:spcPts val="400"/>
              </a:spcAft>
              <a:buSzPct val="100000"/>
              <a:buChar char="•"/>
            </a:pPr>
            <a:r>
              <a:rPr lang="en-US" sz="1400" dirty="0">
                <a:solidFill>
                  <a:schemeClr val="bg1"/>
                </a:solidFill>
              </a:rPr>
              <a:t>Where each biomolecule sits in the sample</a:t>
            </a:r>
            <a:endParaRPr lang="en-US" sz="1400" dirty="0"/>
          </a:p>
        </p:txBody>
      </p:sp>
      <p:sp>
        <p:nvSpPr>
          <p:cNvPr id="76" name="Spectrum card"/>
          <p:cNvSpPr/>
          <p:nvPr/>
        </p:nvSpPr>
        <p:spPr>
          <a:xfrm>
            <a:off x="4846320" y="1600200"/>
            <a:ext cx="6793992" cy="4526280"/>
          </a:xfrm>
          <a:prstGeom prst="roundRect">
            <a:avLst>
              <a:gd name="adj" fmla="val 2424"/>
            </a:avLst>
          </a:prstGeom>
          <a:solidFill>
            <a:schemeClr val="bg1"/>
          </a:solidFill>
          <a:ln/>
          <a:effectLst>
            <a:outerShdw sx="100000" sy="100000" kx="0" ky="0" algn="bl" rotWithShape="0" blurRad="152400" dist="38100" dir="5400000">
              <a:srgbClr val="000000">
                <a:alpha val="45000"/>
              </a:srgbClr>
            </a:outerShdw>
          </a:effectLst>
        </p:spPr>
      </p:sp>
      <p:pic>
        <p:nvPicPr>
          <p:cNvPr id="77" name="Fingerprint spectrum" descr="Raman spectrum of Acacia extracellular vesicles with labelled protein and lipid bands">    </p:cNvPr>
          <p:cNvPicPr>
            <a:picLocks noChangeAspect="1"/>
          </p:cNvPicPr>
          <p:nvPr/>
        </p:nvPicPr>
        <p:blipFill>
          <a:blip r:embed="rId2"/>
          <a:stretch>
            <a:fillRect/>
          </a:stretch>
        </p:blipFill>
        <p:spPr>
          <a:xfrm>
            <a:off x="5029200" y="1737360"/>
            <a:ext cx="6428232" cy="3931920"/>
          </a:xfrm>
          <a:prstGeom prst="rect">
            <a:avLst/>
          </a:prstGeom>
        </p:spPr>
      </p:pic>
      <p:sp>
        <p:nvSpPr>
          <p:cNvPr id="78" name="Text 74"/>
          <p:cNvSpPr txBox="1"/>
          <p:nvPr/>
        </p:nvSpPr>
        <p:spPr>
          <a:xfrm>
            <a:off x="5029200" y="5687568"/>
            <a:ext cx="6428232" cy="320040"/>
          </a:xfrm>
          <a:prstGeom prst="rect">
            <a:avLst/>
          </a:prstGeom>
          <a:noFill/>
          <a:ln/>
        </p:spPr>
        <p:txBody>
          <a:bodyPr wrap="square" lIns="0" tIns="0" rIns="0" bIns="0" rtlCol="0" anchor="ctr"/>
          <a:lstStyle/>
          <a:p>
            <a:pPr algn="ctr" indent="0" marL="0">
              <a:buNone/>
            </a:pPr>
            <a:r>
              <a:rPr lang="en-US" sz="1200" i="1" dirty="0">
                <a:solidFill>
                  <a:schemeClr val="accent3"/>
                </a:solidFill>
              </a:rPr>
              <a:t>Example spectrum: Acacia extracellular vesicles</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9C3EC"/>
                </a:solidFill>
              </a:defRPr>
            </a:lvl1pPr>
          </a:lstStyle>
          <a:p>
            <a:pPr algn="r"/>
            <a:fld id="{F7021451-1387-4CA6-816F-3879F97B5CBC}" type="slidenum">
              <a:rPr b="0" lang="en-US"/>
              <a:t>4</a:t>
            </a:fld>
            <a:endParaRPr lang="en-US"/>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Animated background" descr="Animated background: glowing molecular network and Raman spectra">    </p:cNvPr>
          <p:cNvPicPr>
            <a:picLocks noChangeAspect="1"/>
          </p:cNvPicPr>
          <p:nvPr/>
        </p:nvPicPr>
        <p:blipFill>
          <a:blip r:embed="rId1"/>
          <a:stretch>
            <a:fillRect/>
          </a:stretch>
        </p:blipFill>
        <p:spPr>
          <a:xfrm>
            <a:off x="0" y="0"/>
            <a:ext cx="12191695" cy="6858000"/>
          </a:xfrm>
          <a:prstGeom prst="rect">
            <a:avLst/>
          </a:prstGeom>
        </p:spPr>
      </p:pic>
      <p:sp>
        <p:nvSpPr>
          <p:cNvPr id="3" name="Footer"/>
          <p:cNvSpPr txBox="1"/>
          <p:nvPr/>
        </p:nvSpPr>
        <p:spPr>
          <a:xfrm>
            <a:off x="548640" y="6400800"/>
            <a:ext cx="7315200" cy="274320"/>
          </a:xfrm>
          <a:prstGeom prst="rect">
            <a:avLst/>
          </a:prstGeom>
          <a:noFill/>
          <a:ln/>
        </p:spPr>
        <p:txBody>
          <a:bodyPr wrap="square" lIns="0" tIns="0" rIns="0" bIns="0" rtlCol="0" anchor="t"/>
          <a:lstStyle/>
          <a:p>
            <a:pPr indent="0" marL="0">
              <a:buNone/>
            </a:pPr>
            <a:r>
              <a:rPr lang="en-US" sz="1000" dirty="0">
                <a:solidFill>
                  <a:schemeClr val="bg2"/>
                </a:solidFill>
              </a:rPr>
              <a:t>Hira Aman  ·  Activity of Research and Training 2025–2026</a:t>
            </a:r>
            <a:endParaRPr lang="en-US" sz="1000" dirty="0"/>
          </a:p>
        </p:txBody>
      </p:sp>
      <p:sp>
        <p:nvSpPr>
          <p:cNvPr id="4"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Weak Signal? SERS Makes It Visible</a:t>
            </a:r>
            <a:endParaRPr lang="en-US" sz="3000" dirty="0"/>
          </a:p>
        </p:txBody>
      </p:sp>
      <p:sp>
        <p:nvSpPr>
          <p:cNvPr id="5" name="Text 0"/>
          <p:cNvSpPr/>
          <p:nvPr>
            <p:ph idx="101" type="body" hasCustomPrompt="1"/>
          </p:nvPr>
        </p:nvSpPr>
        <p:spPr>
          <a:xfrm>
            <a:off x="548640" y="960120"/>
            <a:ext cx="11064240" cy="365760"/>
          </a:xfrm>
          <a:prstGeom prst="rect">
            <a:avLst/>
          </a:prstGeom>
          <a:noFill/>
          <a:ln/>
        </p:spPr>
        <p:txBody>
          <a:bodyPr wrap="square" lIns="0" tIns="0" rIns="0" bIns="0" rtlCol="0" anchor="ctr"/>
          <a:lstStyle/>
          <a:p>
            <a:pPr algn="l" indent="0" marL="0">
              <a:buNone/>
            </a:pPr>
            <a:r>
              <a:rPr lang="en-US" sz="1500" i="1" dirty="0">
                <a:solidFill>
                  <a:schemeClr val="accent2"/>
                </a:solidFill>
                <a:latin typeface="Calibri" pitchFamily="34" charset="0"/>
                <a:ea typeface="Calibri" pitchFamily="34" charset="-122"/>
                <a:cs typeface="Calibri" pitchFamily="34" charset="-120"/>
              </a:rPr>
              <a:t>Surface-enhanced Raman scattering on our nanowire substrate</a:t>
            </a:r>
            <a:endParaRPr lang="en-US" sz="1500" dirty="0"/>
          </a:p>
        </p:txBody>
      </p:sp>
      <p:sp>
        <p:nvSpPr>
          <p:cNvPr id="6" name="SERS diagram card"/>
          <p:cNvSpPr/>
          <p:nvPr/>
        </p:nvSpPr>
        <p:spPr>
          <a:xfrm>
            <a:off x="548640" y="1600200"/>
            <a:ext cx="5623560" cy="4526280"/>
          </a:xfrm>
          <a:prstGeom prst="roundRect">
            <a:avLst>
              <a:gd name="adj" fmla="val 2424"/>
            </a:avLst>
          </a:prstGeom>
          <a:solidFill>
            <a:schemeClr val="tx2">
              <a:alpha val="78000"/>
            </a:schemeClr>
          </a:solidFill>
          <a:ln w="9525">
            <a:solidFill>
              <a:schemeClr val="bg2">
                <a:alpha val="30000"/>
              </a:schemeClr>
            </a:solidFill>
            <a:prstDash val="solid"/>
          </a:ln>
        </p:spPr>
      </p:sp>
      <p:sp>
        <p:nvSpPr>
          <p:cNvPr id="7" name="Si substrate"/>
          <p:cNvSpPr/>
          <p:nvPr/>
        </p:nvSpPr>
        <p:spPr>
          <a:xfrm>
            <a:off x="914400" y="3520440"/>
            <a:ext cx="4892040" cy="201168"/>
          </a:xfrm>
          <a:prstGeom prst="rect">
            <a:avLst/>
          </a:prstGeom>
          <a:solidFill>
            <a:srgbClr val="6B7280"/>
          </a:solidFill>
          <a:ln/>
        </p:spPr>
      </p:sp>
      <p:sp>
        <p:nvSpPr>
          <p:cNvPr id="8" name="Nanowire 1"/>
          <p:cNvSpPr/>
          <p:nvPr/>
        </p:nvSpPr>
        <p:spPr>
          <a:xfrm>
            <a:off x="1234440" y="2514600"/>
            <a:ext cx="182880" cy="1005840"/>
          </a:xfrm>
          <a:prstGeom prst="rect">
            <a:avLst/>
          </a:prstGeom>
          <a:solidFill>
            <a:srgbClr val="9CA3AF"/>
          </a:solidFill>
          <a:ln/>
        </p:spPr>
      </p:sp>
      <p:sp>
        <p:nvSpPr>
          <p:cNvPr id="9" name="Metal cap 1"/>
          <p:cNvSpPr/>
          <p:nvPr/>
        </p:nvSpPr>
        <p:spPr>
          <a:xfrm>
            <a:off x="1161288" y="2395728"/>
            <a:ext cx="329184" cy="237744"/>
          </a:xfrm>
          <a:prstGeom prst="ellipse">
            <a:avLst/>
          </a:prstGeom>
          <a:solidFill>
            <a:srgbClr val="E5E7EB"/>
          </a:solidFill>
          <a:ln/>
        </p:spPr>
      </p:sp>
      <p:sp>
        <p:nvSpPr>
          <p:cNvPr id="10" name="Hot spot 1"/>
          <p:cNvSpPr/>
          <p:nvPr/>
        </p:nvSpPr>
        <p:spPr>
          <a:xfrm>
            <a:off x="1453896" y="2724912"/>
            <a:ext cx="402336" cy="402336"/>
          </a:xfrm>
          <a:prstGeom prst="ellipse">
            <a:avLst/>
          </a:prstGeom>
          <a:solidFill>
            <a:schemeClr val="accent2">
              <a:alpha val="65000"/>
            </a:schemeClr>
          </a:solidFill>
          <a:ln w="12700">
            <a:solidFill>
              <a:schemeClr val="accent2"/>
            </a:solidFill>
            <a:prstDash val="solid"/>
          </a:ln>
        </p:spPr>
      </p:sp>
      <p:sp>
        <p:nvSpPr>
          <p:cNvPr id="11" name="Molecule 1"/>
          <p:cNvSpPr/>
          <p:nvPr/>
        </p:nvSpPr>
        <p:spPr>
          <a:xfrm>
            <a:off x="1591056" y="2862072"/>
            <a:ext cx="128016" cy="128016"/>
          </a:xfrm>
          <a:prstGeom prst="ellipse">
            <a:avLst/>
          </a:prstGeom>
          <a:solidFill>
            <a:schemeClr val="accent1"/>
          </a:solidFill>
          <a:ln/>
        </p:spPr>
      </p:sp>
      <p:sp>
        <p:nvSpPr>
          <p:cNvPr id="12" name="Nanowire 2"/>
          <p:cNvSpPr/>
          <p:nvPr/>
        </p:nvSpPr>
        <p:spPr>
          <a:xfrm>
            <a:off x="2011680" y="2514600"/>
            <a:ext cx="182880" cy="1005840"/>
          </a:xfrm>
          <a:prstGeom prst="rect">
            <a:avLst/>
          </a:prstGeom>
          <a:solidFill>
            <a:srgbClr val="9CA3AF"/>
          </a:solidFill>
          <a:ln/>
        </p:spPr>
      </p:sp>
      <p:sp>
        <p:nvSpPr>
          <p:cNvPr id="13" name="Metal cap 2"/>
          <p:cNvSpPr/>
          <p:nvPr/>
        </p:nvSpPr>
        <p:spPr>
          <a:xfrm>
            <a:off x="1938528" y="2395728"/>
            <a:ext cx="329184" cy="237744"/>
          </a:xfrm>
          <a:prstGeom prst="ellipse">
            <a:avLst/>
          </a:prstGeom>
          <a:solidFill>
            <a:srgbClr val="E5E7EB"/>
          </a:solidFill>
          <a:ln/>
        </p:spPr>
      </p:sp>
      <p:sp>
        <p:nvSpPr>
          <p:cNvPr id="14" name="Hot spot 2"/>
          <p:cNvSpPr/>
          <p:nvPr/>
        </p:nvSpPr>
        <p:spPr>
          <a:xfrm>
            <a:off x="2231136" y="2724912"/>
            <a:ext cx="402336" cy="402336"/>
          </a:xfrm>
          <a:prstGeom prst="ellipse">
            <a:avLst/>
          </a:prstGeom>
          <a:solidFill>
            <a:schemeClr val="accent2">
              <a:alpha val="65000"/>
            </a:schemeClr>
          </a:solidFill>
          <a:ln w="12700">
            <a:solidFill>
              <a:schemeClr val="accent2"/>
            </a:solidFill>
            <a:prstDash val="solid"/>
          </a:ln>
        </p:spPr>
      </p:sp>
      <p:sp>
        <p:nvSpPr>
          <p:cNvPr id="15" name="Molecule 2"/>
          <p:cNvSpPr/>
          <p:nvPr/>
        </p:nvSpPr>
        <p:spPr>
          <a:xfrm>
            <a:off x="2368296" y="2862072"/>
            <a:ext cx="128016" cy="128016"/>
          </a:xfrm>
          <a:prstGeom prst="ellipse">
            <a:avLst/>
          </a:prstGeom>
          <a:solidFill>
            <a:schemeClr val="accent1"/>
          </a:solidFill>
          <a:ln/>
        </p:spPr>
      </p:sp>
      <p:sp>
        <p:nvSpPr>
          <p:cNvPr id="16" name="Nanowire 3"/>
          <p:cNvSpPr/>
          <p:nvPr/>
        </p:nvSpPr>
        <p:spPr>
          <a:xfrm>
            <a:off x="2788920" y="2514600"/>
            <a:ext cx="182880" cy="1005840"/>
          </a:xfrm>
          <a:prstGeom prst="rect">
            <a:avLst/>
          </a:prstGeom>
          <a:solidFill>
            <a:srgbClr val="9CA3AF"/>
          </a:solidFill>
          <a:ln/>
        </p:spPr>
      </p:sp>
      <p:sp>
        <p:nvSpPr>
          <p:cNvPr id="17" name="Metal cap 3"/>
          <p:cNvSpPr/>
          <p:nvPr/>
        </p:nvSpPr>
        <p:spPr>
          <a:xfrm>
            <a:off x="2715768" y="2395728"/>
            <a:ext cx="329184" cy="237744"/>
          </a:xfrm>
          <a:prstGeom prst="ellipse">
            <a:avLst/>
          </a:prstGeom>
          <a:solidFill>
            <a:srgbClr val="E5E7EB"/>
          </a:solidFill>
          <a:ln/>
        </p:spPr>
      </p:sp>
      <p:sp>
        <p:nvSpPr>
          <p:cNvPr id="18" name="Hot spot 3"/>
          <p:cNvSpPr/>
          <p:nvPr/>
        </p:nvSpPr>
        <p:spPr>
          <a:xfrm>
            <a:off x="3008376" y="2724912"/>
            <a:ext cx="402336" cy="402336"/>
          </a:xfrm>
          <a:prstGeom prst="ellipse">
            <a:avLst/>
          </a:prstGeom>
          <a:solidFill>
            <a:schemeClr val="accent2">
              <a:alpha val="65000"/>
            </a:schemeClr>
          </a:solidFill>
          <a:ln w="12700">
            <a:solidFill>
              <a:schemeClr val="accent2"/>
            </a:solidFill>
            <a:prstDash val="solid"/>
          </a:ln>
        </p:spPr>
      </p:sp>
      <p:sp>
        <p:nvSpPr>
          <p:cNvPr id="19" name="Molecule 3"/>
          <p:cNvSpPr/>
          <p:nvPr/>
        </p:nvSpPr>
        <p:spPr>
          <a:xfrm>
            <a:off x="3145536" y="2862072"/>
            <a:ext cx="128016" cy="128016"/>
          </a:xfrm>
          <a:prstGeom prst="ellipse">
            <a:avLst/>
          </a:prstGeom>
          <a:solidFill>
            <a:schemeClr val="accent1"/>
          </a:solidFill>
          <a:ln/>
        </p:spPr>
      </p:sp>
      <p:sp>
        <p:nvSpPr>
          <p:cNvPr id="20" name="Nanowire 4"/>
          <p:cNvSpPr/>
          <p:nvPr/>
        </p:nvSpPr>
        <p:spPr>
          <a:xfrm>
            <a:off x="3566160" y="2514600"/>
            <a:ext cx="182880" cy="1005840"/>
          </a:xfrm>
          <a:prstGeom prst="rect">
            <a:avLst/>
          </a:prstGeom>
          <a:solidFill>
            <a:srgbClr val="9CA3AF"/>
          </a:solidFill>
          <a:ln/>
        </p:spPr>
      </p:sp>
      <p:sp>
        <p:nvSpPr>
          <p:cNvPr id="21" name="Metal cap 4"/>
          <p:cNvSpPr/>
          <p:nvPr/>
        </p:nvSpPr>
        <p:spPr>
          <a:xfrm>
            <a:off x="3493008" y="2395728"/>
            <a:ext cx="329184" cy="237744"/>
          </a:xfrm>
          <a:prstGeom prst="ellipse">
            <a:avLst/>
          </a:prstGeom>
          <a:solidFill>
            <a:srgbClr val="E5E7EB"/>
          </a:solidFill>
          <a:ln/>
        </p:spPr>
      </p:sp>
      <p:sp>
        <p:nvSpPr>
          <p:cNvPr id="22" name="Hot spot 4"/>
          <p:cNvSpPr/>
          <p:nvPr/>
        </p:nvSpPr>
        <p:spPr>
          <a:xfrm>
            <a:off x="3785616" y="2724912"/>
            <a:ext cx="402336" cy="402336"/>
          </a:xfrm>
          <a:prstGeom prst="ellipse">
            <a:avLst/>
          </a:prstGeom>
          <a:solidFill>
            <a:schemeClr val="accent2">
              <a:alpha val="65000"/>
            </a:schemeClr>
          </a:solidFill>
          <a:ln w="12700">
            <a:solidFill>
              <a:schemeClr val="accent2"/>
            </a:solidFill>
            <a:prstDash val="solid"/>
          </a:ln>
        </p:spPr>
      </p:sp>
      <p:sp>
        <p:nvSpPr>
          <p:cNvPr id="23" name="Molecule 4"/>
          <p:cNvSpPr/>
          <p:nvPr/>
        </p:nvSpPr>
        <p:spPr>
          <a:xfrm>
            <a:off x="3922776" y="2862072"/>
            <a:ext cx="128016" cy="128016"/>
          </a:xfrm>
          <a:prstGeom prst="ellipse">
            <a:avLst/>
          </a:prstGeom>
          <a:solidFill>
            <a:schemeClr val="accent1"/>
          </a:solidFill>
          <a:ln/>
        </p:spPr>
      </p:sp>
      <p:sp>
        <p:nvSpPr>
          <p:cNvPr id="24" name="Nanowire 5"/>
          <p:cNvSpPr/>
          <p:nvPr/>
        </p:nvSpPr>
        <p:spPr>
          <a:xfrm>
            <a:off x="4343400" y="2514600"/>
            <a:ext cx="182880" cy="1005840"/>
          </a:xfrm>
          <a:prstGeom prst="rect">
            <a:avLst/>
          </a:prstGeom>
          <a:solidFill>
            <a:srgbClr val="9CA3AF"/>
          </a:solidFill>
          <a:ln/>
        </p:spPr>
      </p:sp>
      <p:sp>
        <p:nvSpPr>
          <p:cNvPr id="25" name="Metal cap 5"/>
          <p:cNvSpPr/>
          <p:nvPr/>
        </p:nvSpPr>
        <p:spPr>
          <a:xfrm>
            <a:off x="4270248" y="2395728"/>
            <a:ext cx="329184" cy="237744"/>
          </a:xfrm>
          <a:prstGeom prst="ellipse">
            <a:avLst/>
          </a:prstGeom>
          <a:solidFill>
            <a:srgbClr val="E5E7EB"/>
          </a:solidFill>
          <a:ln/>
        </p:spPr>
      </p:sp>
      <p:sp>
        <p:nvSpPr>
          <p:cNvPr id="26" name="Hot spot 5"/>
          <p:cNvSpPr/>
          <p:nvPr/>
        </p:nvSpPr>
        <p:spPr>
          <a:xfrm>
            <a:off x="4562856" y="2724912"/>
            <a:ext cx="402336" cy="402336"/>
          </a:xfrm>
          <a:prstGeom prst="ellipse">
            <a:avLst/>
          </a:prstGeom>
          <a:solidFill>
            <a:schemeClr val="accent2">
              <a:alpha val="65000"/>
            </a:schemeClr>
          </a:solidFill>
          <a:ln w="12700">
            <a:solidFill>
              <a:schemeClr val="accent2"/>
            </a:solidFill>
            <a:prstDash val="solid"/>
          </a:ln>
        </p:spPr>
      </p:sp>
      <p:sp>
        <p:nvSpPr>
          <p:cNvPr id="27" name="Molecule 5"/>
          <p:cNvSpPr/>
          <p:nvPr/>
        </p:nvSpPr>
        <p:spPr>
          <a:xfrm>
            <a:off x="4700016" y="2862072"/>
            <a:ext cx="128016" cy="128016"/>
          </a:xfrm>
          <a:prstGeom prst="ellipse">
            <a:avLst/>
          </a:prstGeom>
          <a:solidFill>
            <a:schemeClr val="accent1"/>
          </a:solidFill>
          <a:ln/>
        </p:spPr>
      </p:sp>
      <p:sp>
        <p:nvSpPr>
          <p:cNvPr id="28" name="Nanowire 6"/>
          <p:cNvSpPr/>
          <p:nvPr/>
        </p:nvSpPr>
        <p:spPr>
          <a:xfrm>
            <a:off x="5120640" y="2514600"/>
            <a:ext cx="182880" cy="1005840"/>
          </a:xfrm>
          <a:prstGeom prst="rect">
            <a:avLst/>
          </a:prstGeom>
          <a:solidFill>
            <a:srgbClr val="9CA3AF"/>
          </a:solidFill>
          <a:ln/>
        </p:spPr>
      </p:sp>
      <p:sp>
        <p:nvSpPr>
          <p:cNvPr id="29" name="Metal cap 6"/>
          <p:cNvSpPr/>
          <p:nvPr/>
        </p:nvSpPr>
        <p:spPr>
          <a:xfrm>
            <a:off x="5047488" y="2395728"/>
            <a:ext cx="329184" cy="237744"/>
          </a:xfrm>
          <a:prstGeom prst="ellipse">
            <a:avLst/>
          </a:prstGeom>
          <a:solidFill>
            <a:srgbClr val="E5E7EB"/>
          </a:solidFill>
          <a:ln/>
        </p:spPr>
      </p:sp>
      <p:sp>
        <p:nvSpPr>
          <p:cNvPr id="30" name="Laser beam"/>
          <p:cNvSpPr/>
          <p:nvPr/>
        </p:nvSpPr>
        <p:spPr>
          <a:xfrm>
            <a:off x="914400" y="1828800"/>
            <a:ext cx="1261872" cy="777240"/>
          </a:xfrm>
          <a:prstGeom prst="line">
            <a:avLst/>
          </a:prstGeom>
          <a:noFill/>
          <a:ln w="31750">
            <a:solidFill>
              <a:srgbClr val="34D399"/>
            </a:solidFill>
            <a:prstDash val="solid"/>
            <a:tailEnd type="triangle"/>
          </a:ln>
        </p:spPr>
      </p:sp>
      <p:sp>
        <p:nvSpPr>
          <p:cNvPr id="31" name="Text 28"/>
          <p:cNvSpPr txBox="1"/>
          <p:nvPr/>
        </p:nvSpPr>
        <p:spPr>
          <a:xfrm>
            <a:off x="1325880" y="1783080"/>
            <a:ext cx="822960" cy="228600"/>
          </a:xfrm>
          <a:prstGeom prst="rect">
            <a:avLst/>
          </a:prstGeom>
          <a:noFill/>
          <a:ln/>
        </p:spPr>
        <p:txBody>
          <a:bodyPr wrap="square" lIns="0" tIns="0" rIns="0" bIns="0" rtlCol="0" anchor="ctr"/>
          <a:lstStyle/>
          <a:p>
            <a:pPr indent="0" marL="0">
              <a:buNone/>
            </a:pPr>
            <a:r>
              <a:rPr lang="en-US" sz="1200" b="1" dirty="0">
                <a:solidFill>
                  <a:srgbClr val="34D399"/>
                </a:solidFill>
              </a:rPr>
              <a:t>Laser</a:t>
            </a:r>
            <a:endParaRPr lang="en-US" sz="1200" dirty="0"/>
          </a:p>
        </p:txBody>
      </p:sp>
      <p:sp>
        <p:nvSpPr>
          <p:cNvPr id="32" name="Raman signal"/>
          <p:cNvSpPr/>
          <p:nvPr/>
        </p:nvSpPr>
        <p:spPr>
          <a:xfrm flipV="1">
            <a:off x="3749040" y="1874520"/>
            <a:ext cx="868680" cy="685800"/>
          </a:xfrm>
          <a:prstGeom prst="line">
            <a:avLst/>
          </a:prstGeom>
          <a:noFill/>
          <a:ln w="31750">
            <a:solidFill>
              <a:schemeClr val="accent4"/>
            </a:solidFill>
            <a:prstDash val="solid"/>
            <a:tailEnd type="triangle"/>
          </a:ln>
        </p:spPr>
      </p:sp>
      <p:sp>
        <p:nvSpPr>
          <p:cNvPr id="33" name="Text 30"/>
          <p:cNvSpPr txBox="1"/>
          <p:nvPr/>
        </p:nvSpPr>
        <p:spPr>
          <a:xfrm>
            <a:off x="4617720" y="1719072"/>
            <a:ext cx="1508760" cy="274320"/>
          </a:xfrm>
          <a:prstGeom prst="rect">
            <a:avLst/>
          </a:prstGeom>
          <a:noFill/>
          <a:ln/>
        </p:spPr>
        <p:txBody>
          <a:bodyPr wrap="square" lIns="0" tIns="0" rIns="0" bIns="0" rtlCol="0" anchor="ctr"/>
          <a:lstStyle/>
          <a:p>
            <a:pPr indent="0" marL="0">
              <a:buNone/>
            </a:pPr>
            <a:r>
              <a:rPr lang="en-US" sz="1200" b="1" dirty="0">
                <a:solidFill>
                  <a:schemeClr val="accent4"/>
                </a:solidFill>
              </a:rPr>
              <a:t>Strong Raman signal</a:t>
            </a:r>
            <a:endParaRPr lang="en-US" sz="1200" dirty="0"/>
          </a:p>
        </p:txBody>
      </p:sp>
      <p:sp>
        <p:nvSpPr>
          <p:cNvPr id="34" name="Legend dot"/>
          <p:cNvSpPr/>
          <p:nvPr/>
        </p:nvSpPr>
        <p:spPr>
          <a:xfrm>
            <a:off x="914400" y="3886200"/>
            <a:ext cx="146304" cy="146304"/>
          </a:xfrm>
          <a:prstGeom prst="ellipse">
            <a:avLst/>
          </a:prstGeom>
          <a:solidFill>
            <a:srgbClr val="4FD1E8"/>
          </a:solidFill>
          <a:ln/>
        </p:spPr>
      </p:sp>
      <p:sp>
        <p:nvSpPr>
          <p:cNvPr id="35" name="Text 32"/>
          <p:cNvSpPr txBox="1"/>
          <p:nvPr/>
        </p:nvSpPr>
        <p:spPr>
          <a:xfrm>
            <a:off x="1124712" y="3831336"/>
            <a:ext cx="1737360" cy="256032"/>
          </a:xfrm>
          <a:prstGeom prst="rect">
            <a:avLst/>
          </a:prstGeom>
          <a:noFill/>
          <a:ln/>
        </p:spPr>
        <p:txBody>
          <a:bodyPr wrap="square" lIns="0" tIns="0" rIns="0" bIns="0" rtlCol="0" anchor="ctr"/>
          <a:lstStyle/>
          <a:p>
            <a:pPr indent="0" marL="0">
              <a:buNone/>
            </a:pPr>
            <a:r>
              <a:rPr lang="en-US" sz="1200" dirty="0">
                <a:solidFill>
                  <a:schemeClr val="bg2"/>
                </a:solidFill>
              </a:rPr>
              <a:t>Hot spot</a:t>
            </a:r>
            <a:endParaRPr lang="en-US" sz="1200" dirty="0"/>
          </a:p>
        </p:txBody>
      </p:sp>
      <p:sp>
        <p:nvSpPr>
          <p:cNvPr id="36" name="Legend dot"/>
          <p:cNvSpPr/>
          <p:nvPr/>
        </p:nvSpPr>
        <p:spPr>
          <a:xfrm>
            <a:off x="2103120" y="3886200"/>
            <a:ext cx="146304" cy="146304"/>
          </a:xfrm>
          <a:prstGeom prst="ellipse">
            <a:avLst/>
          </a:prstGeom>
          <a:solidFill>
            <a:srgbClr val="FF4FA3"/>
          </a:solidFill>
          <a:ln/>
        </p:spPr>
      </p:sp>
      <p:sp>
        <p:nvSpPr>
          <p:cNvPr id="37" name="Text 34"/>
          <p:cNvSpPr txBox="1"/>
          <p:nvPr/>
        </p:nvSpPr>
        <p:spPr>
          <a:xfrm>
            <a:off x="2313432" y="3831336"/>
            <a:ext cx="1737360" cy="256032"/>
          </a:xfrm>
          <a:prstGeom prst="rect">
            <a:avLst/>
          </a:prstGeom>
          <a:noFill/>
          <a:ln/>
        </p:spPr>
        <p:txBody>
          <a:bodyPr wrap="square" lIns="0" tIns="0" rIns="0" bIns="0" rtlCol="0" anchor="ctr"/>
          <a:lstStyle/>
          <a:p>
            <a:pPr indent="0" marL="0">
              <a:buNone/>
            </a:pPr>
            <a:r>
              <a:rPr lang="en-US" sz="1200" dirty="0">
                <a:solidFill>
                  <a:schemeClr val="bg2"/>
                </a:solidFill>
              </a:rPr>
              <a:t>Biomolecule</a:t>
            </a:r>
            <a:endParaRPr lang="en-US" sz="1200" dirty="0"/>
          </a:p>
        </p:txBody>
      </p:sp>
      <p:sp>
        <p:nvSpPr>
          <p:cNvPr id="38" name="Legend dot"/>
          <p:cNvSpPr/>
          <p:nvPr/>
        </p:nvSpPr>
        <p:spPr>
          <a:xfrm>
            <a:off x="3474720" y="3886200"/>
            <a:ext cx="146304" cy="146304"/>
          </a:xfrm>
          <a:prstGeom prst="ellipse">
            <a:avLst/>
          </a:prstGeom>
          <a:solidFill>
            <a:srgbClr val="E5E7EB"/>
          </a:solidFill>
          <a:ln/>
        </p:spPr>
      </p:sp>
      <p:sp>
        <p:nvSpPr>
          <p:cNvPr id="39" name="Text 36"/>
          <p:cNvSpPr txBox="1"/>
          <p:nvPr/>
        </p:nvSpPr>
        <p:spPr>
          <a:xfrm>
            <a:off x="3685032" y="3831336"/>
            <a:ext cx="1737360" cy="256032"/>
          </a:xfrm>
          <a:prstGeom prst="rect">
            <a:avLst/>
          </a:prstGeom>
          <a:noFill/>
          <a:ln/>
        </p:spPr>
        <p:txBody>
          <a:bodyPr wrap="square" lIns="0" tIns="0" rIns="0" bIns="0" rtlCol="0" anchor="ctr"/>
          <a:lstStyle/>
          <a:p>
            <a:pPr indent="0" marL="0">
              <a:buNone/>
            </a:pPr>
            <a:r>
              <a:rPr lang="en-US" sz="1200" dirty="0">
                <a:solidFill>
                  <a:schemeClr val="bg2"/>
                </a:solidFill>
              </a:rPr>
              <a:t>Ag/Au on Si nanowire</a:t>
            </a:r>
            <a:endParaRPr lang="en-US" sz="1200" dirty="0"/>
          </a:p>
        </p:txBody>
      </p:sp>
      <p:sp>
        <p:nvSpPr>
          <p:cNvPr id="40" name="Text 37"/>
          <p:cNvSpPr txBox="1"/>
          <p:nvPr/>
        </p:nvSpPr>
        <p:spPr>
          <a:xfrm>
            <a:off x="868680" y="4251960"/>
            <a:ext cx="512064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Some biomolecules scatter too little light to detect on a normal substrate</a:t>
            </a:r>
            <a:endParaRPr lang="en-US" sz="1400" dirty="0"/>
          </a:p>
          <a:p>
            <a:pPr marL="342900" indent="-342900">
              <a:spcAft>
                <a:spcPts val="600"/>
              </a:spcAft>
              <a:buSzPct val="100000"/>
              <a:buChar char="•"/>
            </a:pPr>
            <a:r>
              <a:rPr lang="en-US" sz="1400" dirty="0">
                <a:solidFill>
                  <a:schemeClr val="bg1"/>
                </a:solidFill>
              </a:rPr>
              <a:t>The laser excites surface plasmons in the metal: intense fields form in the gaps (hot spots)</a:t>
            </a:r>
            <a:endParaRPr lang="en-US" sz="1400" dirty="0"/>
          </a:p>
          <a:p>
            <a:pPr marL="342900" indent="-342900">
              <a:spcAft>
                <a:spcPts val="600"/>
              </a:spcAft>
              <a:buSzPct val="100000"/>
              <a:buChar char="•"/>
            </a:pPr>
            <a:r>
              <a:rPr lang="en-US" sz="1400" dirty="0">
                <a:solidFill>
                  <a:schemeClr val="bg1"/>
                </a:solidFill>
              </a:rPr>
              <a:t>Molecules in hot spots give a 10⁴⁠–⁠10⁸× stronger Raman signal</a:t>
            </a:r>
            <a:endParaRPr lang="en-US" sz="1400" dirty="0"/>
          </a:p>
        </p:txBody>
      </p:sp>
      <p:sp>
        <p:nvSpPr>
          <p:cNvPr id="41" name="SERS spectrum card"/>
          <p:cNvSpPr/>
          <p:nvPr/>
        </p:nvSpPr>
        <p:spPr>
          <a:xfrm>
            <a:off x="6400800" y="1600200"/>
            <a:ext cx="5239512" cy="3246120"/>
          </a:xfrm>
          <a:prstGeom prst="roundRect">
            <a:avLst>
              <a:gd name="adj" fmla="val 3380"/>
            </a:avLst>
          </a:prstGeom>
          <a:solidFill>
            <a:schemeClr val="bg1"/>
          </a:solidFill>
          <a:ln/>
          <a:effectLst>
            <a:outerShdw sx="100000" sy="100000" kx="0" ky="0" algn="bl" rotWithShape="0" blurRad="152400" dist="38100" dir="5400000">
              <a:srgbClr val="000000">
                <a:alpha val="45000"/>
              </a:srgbClr>
            </a:outerShdw>
          </a:effectLst>
        </p:spPr>
      </p:sp>
      <p:pic>
        <p:nvPicPr>
          <p:cNvPr id="42" name="SERS vs CaF2 spectrum" descr="Raman spectra of the same sample on SERS substrate (peaks) and on CaF2 (no peaks)">    </p:cNvPr>
          <p:cNvPicPr>
            <a:picLocks noChangeAspect="1"/>
          </p:cNvPicPr>
          <p:nvPr/>
        </p:nvPicPr>
        <p:blipFill>
          <a:blip r:embed="rId2"/>
          <a:stretch>
            <a:fillRect/>
          </a:stretch>
        </p:blipFill>
        <p:spPr>
          <a:xfrm>
            <a:off x="7269480" y="1691640"/>
            <a:ext cx="3502152" cy="2852928"/>
          </a:xfrm>
          <a:prstGeom prst="rect">
            <a:avLst/>
          </a:prstGeom>
        </p:spPr>
      </p:pic>
      <p:sp>
        <p:nvSpPr>
          <p:cNvPr id="43" name="Text 39"/>
          <p:cNvSpPr txBox="1"/>
          <p:nvPr/>
        </p:nvSpPr>
        <p:spPr>
          <a:xfrm>
            <a:off x="6492240" y="4544568"/>
            <a:ext cx="5056632" cy="256032"/>
          </a:xfrm>
          <a:prstGeom prst="rect">
            <a:avLst/>
          </a:prstGeom>
          <a:noFill/>
          <a:ln/>
        </p:spPr>
        <p:txBody>
          <a:bodyPr wrap="square" lIns="0" tIns="0" rIns="0" bIns="0" rtlCol="0" anchor="ctr"/>
          <a:lstStyle/>
          <a:p>
            <a:pPr algn="ctr" indent="0" marL="0">
              <a:buNone/>
            </a:pPr>
            <a:r>
              <a:rPr lang="en-US" sz="1200" i="1" dirty="0">
                <a:solidFill>
                  <a:schemeClr val="accent3"/>
                </a:solidFill>
              </a:rPr>
              <a:t>Same Acacia EV sample: peaks appear only on the SERS substrate</a:t>
            </a:r>
            <a:endParaRPr lang="en-US" sz="1200" dirty="0"/>
          </a:p>
        </p:txBody>
      </p:sp>
      <p:pic>
        <p:nvPicPr>
          <p:cNvPr id="44" name="Substrate photo" descr="Ag/SiNW SERS substrate with sample drop">    </p:cNvPr>
          <p:cNvPicPr>
            <a:picLocks noChangeAspect="1"/>
          </p:cNvPicPr>
          <p:nvPr/>
        </p:nvPicPr>
        <p:blipFill>
          <a:blip r:embed="rId3"/>
          <a:stretch>
            <a:fillRect/>
          </a:stretch>
        </p:blipFill>
        <p:spPr>
          <a:xfrm>
            <a:off x="6400800" y="5029200"/>
            <a:ext cx="1463040" cy="1097280"/>
          </a:xfrm>
          <a:prstGeom prst="rect">
            <a:avLst/>
          </a:prstGeom>
        </p:spPr>
      </p:pic>
      <p:pic>
        <p:nvPicPr>
          <p:cNvPr id="45" name="Setup photo" descr="Optical filter used in the measurement setup">    </p:cNvPr>
          <p:cNvPicPr>
            <a:picLocks noChangeAspect="1"/>
          </p:cNvPicPr>
          <p:nvPr/>
        </p:nvPicPr>
        <p:blipFill>
          <a:blip r:embed="rId4"/>
          <a:stretch>
            <a:fillRect/>
          </a:stretch>
        </p:blipFill>
        <p:spPr>
          <a:xfrm>
            <a:off x="8001000" y="5029200"/>
            <a:ext cx="1353312" cy="1097280"/>
          </a:xfrm>
          <a:prstGeom prst="rect">
            <a:avLst/>
          </a:prstGeom>
        </p:spPr>
      </p:pic>
      <p:sp>
        <p:nvSpPr>
          <p:cNvPr id="46" name="Text 40"/>
          <p:cNvSpPr txBox="1"/>
          <p:nvPr/>
        </p:nvSpPr>
        <p:spPr>
          <a:xfrm>
            <a:off x="9509760" y="5029200"/>
            <a:ext cx="2130552" cy="1097280"/>
          </a:xfrm>
          <a:prstGeom prst="rect">
            <a:avLst/>
          </a:prstGeom>
          <a:noFill/>
          <a:ln/>
        </p:spPr>
        <p:txBody>
          <a:bodyPr wrap="square" lIns="0" tIns="0" rIns="0" bIns="0" rtlCol="0" anchor="ctr"/>
          <a:lstStyle/>
          <a:p>
            <a:pPr indent="0" marL="0">
              <a:buNone/>
            </a:pPr>
            <a:r>
              <a:rPr lang="en-US" sz="1200" dirty="0">
                <a:solidFill>
                  <a:schemeClr val="bg2"/>
                </a:solidFill>
              </a:rPr>
              <a:t>Our Ag/SiNW SERS substrate with a dried sample drop, and the measurement setup</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9C3EC"/>
                </a:solidFill>
              </a:defRPr>
            </a:lvl1pPr>
          </a:lstStyle>
          <a:p>
            <a:pPr algn="r"/>
            <a:fld id="{F7021451-1387-4CA6-816F-3879F97B5CBC}" type="slidenum">
              <a:rPr b="0" lang="en-US"/>
              <a:t>5</a:t>
            </a:fld>
            <a:endParaRPr lang="en-US"/>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Animated background" descr="Animated background: glowing molecular network and Raman spectra">    </p:cNvPr>
          <p:cNvPicPr>
            <a:picLocks noChangeAspect="1"/>
          </p:cNvPicPr>
          <p:nvPr/>
        </p:nvPicPr>
        <p:blipFill>
          <a:blip r:embed="rId1"/>
          <a:stretch>
            <a:fillRect/>
          </a:stretch>
        </p:blipFill>
        <p:spPr>
          <a:xfrm>
            <a:off x="0" y="0"/>
            <a:ext cx="12191695" cy="6858000"/>
          </a:xfrm>
          <a:prstGeom prst="rect">
            <a:avLst/>
          </a:prstGeom>
        </p:spPr>
      </p:pic>
      <p:sp>
        <p:nvSpPr>
          <p:cNvPr id="3" name="Footer"/>
          <p:cNvSpPr txBox="1"/>
          <p:nvPr/>
        </p:nvSpPr>
        <p:spPr>
          <a:xfrm>
            <a:off x="548640" y="6400800"/>
            <a:ext cx="7315200" cy="274320"/>
          </a:xfrm>
          <a:prstGeom prst="rect">
            <a:avLst/>
          </a:prstGeom>
          <a:noFill/>
          <a:ln/>
        </p:spPr>
        <p:txBody>
          <a:bodyPr wrap="square" lIns="0" tIns="0" rIns="0" bIns="0" rtlCol="0" anchor="t"/>
          <a:lstStyle/>
          <a:p>
            <a:pPr indent="0" marL="0">
              <a:buNone/>
            </a:pPr>
            <a:r>
              <a:rPr lang="en-US" sz="1000" dirty="0">
                <a:solidFill>
                  <a:schemeClr val="bg2"/>
                </a:solidFill>
              </a:rPr>
              <a:t>Hira Aman  ·  Activity of Research and Training 2025–2026</a:t>
            </a:r>
            <a:endParaRPr lang="en-US" sz="1000" dirty="0"/>
          </a:p>
        </p:txBody>
      </p:sp>
      <p:sp>
        <p:nvSpPr>
          <p:cNvPr id="4"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ML-Raman Classification of Chromonic Liquid Crystals</a:t>
            </a:r>
            <a:endParaRPr lang="en-US" sz="3000" dirty="0"/>
          </a:p>
        </p:txBody>
      </p:sp>
      <p:sp>
        <p:nvSpPr>
          <p:cNvPr id="5" name="Text 0"/>
          <p:cNvSpPr/>
          <p:nvPr>
            <p:ph idx="101" type="body" hasCustomPrompt="1"/>
          </p:nvPr>
        </p:nvSpPr>
        <p:spPr>
          <a:xfrm>
            <a:off x="548640" y="960120"/>
            <a:ext cx="11064240" cy="365760"/>
          </a:xfrm>
          <a:prstGeom prst="rect">
            <a:avLst/>
          </a:prstGeom>
          <a:noFill/>
          <a:ln/>
        </p:spPr>
        <p:txBody>
          <a:bodyPr wrap="square" lIns="0" tIns="0" rIns="0" bIns="0" rtlCol="0" anchor="ctr"/>
          <a:lstStyle/>
          <a:p>
            <a:pPr algn="l" indent="0" marL="0">
              <a:buNone/>
            </a:pPr>
            <a:r>
              <a:rPr lang="en-US" sz="1500" i="1" dirty="0">
                <a:solidFill>
                  <a:schemeClr val="accent2"/>
                </a:solidFill>
                <a:latin typeface="Calibri" pitchFamily="34" charset="0"/>
                <a:ea typeface="Calibri" pitchFamily="34" charset="-122"/>
                <a:cs typeface="Calibri" pitchFamily="34" charset="-120"/>
              </a:rPr>
              <a:t>Sunset Yellow (SSY) on PDMS, Gr-PDMS, SiO₂/Si and Gr-SiO₂/Si · 80 Raman spectra (20/class) · λ = 473 nm · Python (scikit-learn)</a:t>
            </a:r>
            <a:endParaRPr lang="en-US" sz="1500" dirty="0"/>
          </a:p>
        </p:txBody>
      </p:sp>
      <p:sp>
        <p:nvSpPr>
          <p:cNvPr id="6" name="Status pill"/>
          <p:cNvSpPr/>
          <p:nvPr/>
        </p:nvSpPr>
        <p:spPr>
          <a:xfrm>
            <a:off x="9326880" y="109728"/>
            <a:ext cx="2313432" cy="329184"/>
          </a:xfrm>
          <a:prstGeom prst="roundRect">
            <a:avLst>
              <a:gd name="adj" fmla="val 50000"/>
            </a:avLst>
          </a:prstGeom>
          <a:solidFill>
            <a:schemeClr val="accent4">
              <a:alpha val="90000"/>
            </a:schemeClr>
          </a:solidFill>
          <a:ln/>
        </p:spPr>
      </p:sp>
      <p:sp>
        <p:nvSpPr>
          <p:cNvPr id="7" name="Text 4"/>
          <p:cNvSpPr txBox="1"/>
          <p:nvPr/>
        </p:nvSpPr>
        <p:spPr>
          <a:xfrm>
            <a:off x="9326880" y="109728"/>
            <a:ext cx="2313432" cy="329184"/>
          </a:xfrm>
          <a:prstGeom prst="rect">
            <a:avLst/>
          </a:prstGeom>
          <a:noFill/>
          <a:ln/>
        </p:spPr>
        <p:txBody>
          <a:bodyPr wrap="square" lIns="0" tIns="0" rIns="0" bIns="0" rtlCol="0" anchor="ctr"/>
          <a:lstStyle/>
          <a:p>
            <a:pPr algn="ctr" indent="0" marL="0">
              <a:buNone/>
            </a:pPr>
            <a:r>
              <a:rPr lang="en-US" sz="1100" b="1" spc="100" kern="0" dirty="0">
                <a:solidFill>
                  <a:schemeClr val="tx1"/>
                </a:solidFill>
              </a:rPr>
              <a:t>SUBMITTED · UNDER REVIEW</a:t>
            </a:r>
            <a:endParaRPr lang="en-US" sz="1100" dirty="0"/>
          </a:p>
        </p:txBody>
      </p:sp>
      <p:sp>
        <p:nvSpPr>
          <p:cNvPr id="8" name="Pipeline step 1"/>
          <p:cNvSpPr/>
          <p:nvPr/>
        </p:nvSpPr>
        <p:spPr>
          <a:xfrm>
            <a:off x="548640" y="1481328"/>
            <a:ext cx="2075688" cy="457200"/>
          </a:xfrm>
          <a:prstGeom prst="roundRect">
            <a:avLst>
              <a:gd name="adj" fmla="val 24000"/>
            </a:avLst>
          </a:prstGeom>
          <a:solidFill>
            <a:schemeClr val="tx2">
              <a:alpha val="85000"/>
            </a:schemeClr>
          </a:solidFill>
          <a:ln w="9525">
            <a:solidFill>
              <a:schemeClr val="bg2">
                <a:alpha val="30000"/>
              </a:schemeClr>
            </a:solidFill>
            <a:prstDash val="solid"/>
          </a:ln>
        </p:spPr>
      </p:sp>
      <p:sp>
        <p:nvSpPr>
          <p:cNvPr id="9" name="Step 1 badge"/>
          <p:cNvSpPr/>
          <p:nvPr/>
        </p:nvSpPr>
        <p:spPr>
          <a:xfrm>
            <a:off x="612648" y="1536192"/>
            <a:ext cx="347472" cy="347472"/>
          </a:xfrm>
          <a:prstGeom prst="ellipse">
            <a:avLst/>
          </a:prstGeom>
          <a:solidFill>
            <a:schemeClr val="accent3"/>
          </a:solidFill>
          <a:ln/>
        </p:spPr>
      </p:sp>
      <p:sp>
        <p:nvSpPr>
          <p:cNvPr id="10" name="Text 7"/>
          <p:cNvSpPr txBox="1"/>
          <p:nvPr/>
        </p:nvSpPr>
        <p:spPr>
          <a:xfrm>
            <a:off x="612648" y="1536192"/>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Text 8"/>
          <p:cNvSpPr txBox="1"/>
          <p:nvPr/>
        </p:nvSpPr>
        <p:spPr>
          <a:xfrm>
            <a:off x="1024128" y="1481328"/>
            <a:ext cx="1554480" cy="457200"/>
          </a:xfrm>
          <a:prstGeom prst="rect">
            <a:avLst/>
          </a:prstGeom>
          <a:noFill/>
          <a:ln/>
        </p:spPr>
        <p:txBody>
          <a:bodyPr wrap="square" lIns="0" tIns="0" rIns="0" bIns="0" rtlCol="0" anchor="ctr"/>
          <a:lstStyle/>
          <a:p>
            <a:pPr indent="0" marL="0">
              <a:buNone/>
            </a:pPr>
            <a:r>
              <a:rPr lang="en-US" sz="1150" dirty="0">
                <a:solidFill>
                  <a:schemeClr val="bg1"/>
                </a:solidFill>
              </a:rPr>
              <a:t>Raw spectra 450–1800 cm⁻¹</a:t>
            </a:r>
            <a:endParaRPr lang="en-US" sz="1150" dirty="0"/>
          </a:p>
        </p:txBody>
      </p:sp>
      <p:sp>
        <p:nvSpPr>
          <p:cNvPr id="12" name="Pipeline step 2"/>
          <p:cNvSpPr/>
          <p:nvPr/>
        </p:nvSpPr>
        <p:spPr>
          <a:xfrm>
            <a:off x="2807208" y="1481328"/>
            <a:ext cx="2075688" cy="457200"/>
          </a:xfrm>
          <a:prstGeom prst="roundRect">
            <a:avLst>
              <a:gd name="adj" fmla="val 24000"/>
            </a:avLst>
          </a:prstGeom>
          <a:solidFill>
            <a:schemeClr val="tx2">
              <a:alpha val="85000"/>
            </a:schemeClr>
          </a:solidFill>
          <a:ln w="9525">
            <a:solidFill>
              <a:schemeClr val="bg2">
                <a:alpha val="30000"/>
              </a:schemeClr>
            </a:solidFill>
            <a:prstDash val="solid"/>
          </a:ln>
        </p:spPr>
      </p:sp>
      <p:sp>
        <p:nvSpPr>
          <p:cNvPr id="13" name="Step 2 badge"/>
          <p:cNvSpPr/>
          <p:nvPr/>
        </p:nvSpPr>
        <p:spPr>
          <a:xfrm>
            <a:off x="2871216" y="1536192"/>
            <a:ext cx="347472" cy="347472"/>
          </a:xfrm>
          <a:prstGeom prst="ellipse">
            <a:avLst/>
          </a:prstGeom>
          <a:solidFill>
            <a:schemeClr val="accent3"/>
          </a:solidFill>
          <a:ln/>
        </p:spPr>
      </p:sp>
      <p:sp>
        <p:nvSpPr>
          <p:cNvPr id="14" name="Text 11"/>
          <p:cNvSpPr txBox="1"/>
          <p:nvPr/>
        </p:nvSpPr>
        <p:spPr>
          <a:xfrm>
            <a:off x="2871216" y="1536192"/>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 12"/>
          <p:cNvSpPr txBox="1"/>
          <p:nvPr/>
        </p:nvSpPr>
        <p:spPr>
          <a:xfrm>
            <a:off x="3282696" y="1481328"/>
            <a:ext cx="1554480" cy="457200"/>
          </a:xfrm>
          <a:prstGeom prst="rect">
            <a:avLst/>
          </a:prstGeom>
          <a:noFill/>
          <a:ln/>
        </p:spPr>
        <p:txBody>
          <a:bodyPr wrap="square" lIns="0" tIns="0" rIns="0" bIns="0" rtlCol="0" anchor="ctr"/>
          <a:lstStyle/>
          <a:p>
            <a:pPr indent="0" marL="0">
              <a:buNone/>
            </a:pPr>
            <a:r>
              <a:rPr lang="en-US" sz="1150" dirty="0">
                <a:solidFill>
                  <a:schemeClr val="bg1"/>
                </a:solidFill>
              </a:rPr>
              <a:t>Savitzky–Golay + scaling</a:t>
            </a:r>
            <a:endParaRPr lang="en-US" sz="1150" dirty="0"/>
          </a:p>
        </p:txBody>
      </p:sp>
      <p:sp>
        <p:nvSpPr>
          <p:cNvPr id="16" name="Pipeline step 3"/>
          <p:cNvSpPr/>
          <p:nvPr/>
        </p:nvSpPr>
        <p:spPr>
          <a:xfrm>
            <a:off x="5065776" y="1481328"/>
            <a:ext cx="2075688" cy="457200"/>
          </a:xfrm>
          <a:prstGeom prst="roundRect">
            <a:avLst>
              <a:gd name="adj" fmla="val 24000"/>
            </a:avLst>
          </a:prstGeom>
          <a:solidFill>
            <a:schemeClr val="tx2">
              <a:alpha val="85000"/>
            </a:schemeClr>
          </a:solidFill>
          <a:ln w="9525">
            <a:solidFill>
              <a:schemeClr val="bg2">
                <a:alpha val="30000"/>
              </a:schemeClr>
            </a:solidFill>
            <a:prstDash val="solid"/>
          </a:ln>
        </p:spPr>
      </p:sp>
      <p:sp>
        <p:nvSpPr>
          <p:cNvPr id="17" name="Step 3 badge"/>
          <p:cNvSpPr/>
          <p:nvPr/>
        </p:nvSpPr>
        <p:spPr>
          <a:xfrm>
            <a:off x="5129784" y="1536192"/>
            <a:ext cx="347472" cy="347472"/>
          </a:xfrm>
          <a:prstGeom prst="ellipse">
            <a:avLst/>
          </a:prstGeom>
          <a:solidFill>
            <a:schemeClr val="accent3"/>
          </a:solidFill>
          <a:ln/>
        </p:spPr>
      </p:sp>
      <p:sp>
        <p:nvSpPr>
          <p:cNvPr id="18" name="Text 15"/>
          <p:cNvSpPr txBox="1"/>
          <p:nvPr/>
        </p:nvSpPr>
        <p:spPr>
          <a:xfrm>
            <a:off x="5129784" y="1536192"/>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6"/>
          <p:cNvSpPr txBox="1"/>
          <p:nvPr/>
        </p:nvSpPr>
        <p:spPr>
          <a:xfrm>
            <a:off x="5541264" y="1481328"/>
            <a:ext cx="1554480" cy="457200"/>
          </a:xfrm>
          <a:prstGeom prst="rect">
            <a:avLst/>
          </a:prstGeom>
          <a:noFill/>
          <a:ln/>
        </p:spPr>
        <p:txBody>
          <a:bodyPr wrap="square" lIns="0" tIns="0" rIns="0" bIns="0" rtlCol="0" anchor="ctr"/>
          <a:lstStyle/>
          <a:p>
            <a:pPr indent="0" marL="0">
              <a:buNone/>
            </a:pPr>
            <a:r>
              <a:rPr lang="en-US" sz="1150" dirty="0">
                <a:solidFill>
                  <a:schemeClr val="bg1"/>
                </a:solidFill>
              </a:rPr>
              <a:t>VIP feature selection</a:t>
            </a:r>
            <a:endParaRPr lang="en-US" sz="1150" dirty="0"/>
          </a:p>
        </p:txBody>
      </p:sp>
      <p:sp>
        <p:nvSpPr>
          <p:cNvPr id="20" name="Pipeline step 4"/>
          <p:cNvSpPr/>
          <p:nvPr/>
        </p:nvSpPr>
        <p:spPr>
          <a:xfrm>
            <a:off x="7324344" y="1481328"/>
            <a:ext cx="2075688" cy="457200"/>
          </a:xfrm>
          <a:prstGeom prst="roundRect">
            <a:avLst>
              <a:gd name="adj" fmla="val 24000"/>
            </a:avLst>
          </a:prstGeom>
          <a:solidFill>
            <a:schemeClr val="tx2">
              <a:alpha val="85000"/>
            </a:schemeClr>
          </a:solidFill>
          <a:ln w="9525">
            <a:solidFill>
              <a:schemeClr val="bg2">
                <a:alpha val="30000"/>
              </a:schemeClr>
            </a:solidFill>
            <a:prstDash val="solid"/>
          </a:ln>
        </p:spPr>
      </p:sp>
      <p:sp>
        <p:nvSpPr>
          <p:cNvPr id="21" name="Step 4 badge"/>
          <p:cNvSpPr/>
          <p:nvPr/>
        </p:nvSpPr>
        <p:spPr>
          <a:xfrm>
            <a:off x="7388352" y="1536192"/>
            <a:ext cx="347472" cy="347472"/>
          </a:xfrm>
          <a:prstGeom prst="ellipse">
            <a:avLst/>
          </a:prstGeom>
          <a:solidFill>
            <a:schemeClr val="accent1"/>
          </a:solidFill>
          <a:ln/>
        </p:spPr>
      </p:sp>
      <p:sp>
        <p:nvSpPr>
          <p:cNvPr id="22" name="Text 19"/>
          <p:cNvSpPr txBox="1"/>
          <p:nvPr/>
        </p:nvSpPr>
        <p:spPr>
          <a:xfrm>
            <a:off x="7388352" y="1536192"/>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ext 20"/>
          <p:cNvSpPr txBox="1"/>
          <p:nvPr/>
        </p:nvSpPr>
        <p:spPr>
          <a:xfrm>
            <a:off x="7799832" y="1481328"/>
            <a:ext cx="1554480" cy="457200"/>
          </a:xfrm>
          <a:prstGeom prst="rect">
            <a:avLst/>
          </a:prstGeom>
          <a:noFill/>
          <a:ln/>
        </p:spPr>
        <p:txBody>
          <a:bodyPr wrap="square" lIns="0" tIns="0" rIns="0" bIns="0" rtlCol="0" anchor="ctr"/>
          <a:lstStyle/>
          <a:p>
            <a:pPr indent="0" marL="0">
              <a:buNone/>
            </a:pPr>
            <a:r>
              <a:rPr lang="en-US" sz="1150" dirty="0">
                <a:solidFill>
                  <a:schemeClr val="bg1"/>
                </a:solidFill>
              </a:rPr>
              <a:t>PLS-DA &amp; SVM-RBF</a:t>
            </a:r>
            <a:endParaRPr lang="en-US" sz="1150" dirty="0"/>
          </a:p>
        </p:txBody>
      </p:sp>
      <p:sp>
        <p:nvSpPr>
          <p:cNvPr id="24" name="Pipeline step 5"/>
          <p:cNvSpPr/>
          <p:nvPr/>
        </p:nvSpPr>
        <p:spPr>
          <a:xfrm>
            <a:off x="9582912" y="1481328"/>
            <a:ext cx="2075688" cy="457200"/>
          </a:xfrm>
          <a:prstGeom prst="roundRect">
            <a:avLst>
              <a:gd name="adj" fmla="val 24000"/>
            </a:avLst>
          </a:prstGeom>
          <a:solidFill>
            <a:schemeClr val="tx2">
              <a:alpha val="85000"/>
            </a:schemeClr>
          </a:solidFill>
          <a:ln w="9525">
            <a:solidFill>
              <a:schemeClr val="bg2">
                <a:alpha val="30000"/>
              </a:schemeClr>
            </a:solidFill>
            <a:prstDash val="solid"/>
          </a:ln>
        </p:spPr>
      </p:sp>
      <p:sp>
        <p:nvSpPr>
          <p:cNvPr id="25" name="Step 5 badge"/>
          <p:cNvSpPr/>
          <p:nvPr/>
        </p:nvSpPr>
        <p:spPr>
          <a:xfrm>
            <a:off x="9646920" y="1536192"/>
            <a:ext cx="347472" cy="347472"/>
          </a:xfrm>
          <a:prstGeom prst="ellipse">
            <a:avLst/>
          </a:prstGeom>
          <a:solidFill>
            <a:schemeClr val="accent3"/>
          </a:solidFill>
          <a:ln/>
        </p:spPr>
      </p:sp>
      <p:sp>
        <p:nvSpPr>
          <p:cNvPr id="26" name="Text 23"/>
          <p:cNvSpPr txBox="1"/>
          <p:nvPr/>
        </p:nvSpPr>
        <p:spPr>
          <a:xfrm>
            <a:off x="9646920" y="1536192"/>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7" name="Text 24"/>
          <p:cNvSpPr txBox="1"/>
          <p:nvPr/>
        </p:nvSpPr>
        <p:spPr>
          <a:xfrm>
            <a:off x="10058400" y="1481328"/>
            <a:ext cx="1554480" cy="457200"/>
          </a:xfrm>
          <a:prstGeom prst="rect">
            <a:avLst/>
          </a:prstGeom>
          <a:noFill/>
          <a:ln/>
        </p:spPr>
        <p:txBody>
          <a:bodyPr wrap="square" lIns="0" tIns="0" rIns="0" bIns="0" rtlCol="0" anchor="ctr"/>
          <a:lstStyle/>
          <a:p>
            <a:pPr indent="0" marL="0">
              <a:buNone/>
            </a:pPr>
            <a:r>
              <a:rPr lang="en-US" sz="1150" dirty="0">
                <a:solidFill>
                  <a:schemeClr val="bg1"/>
                </a:solidFill>
              </a:rPr>
              <a:t>CV · external · permutation</a:t>
            </a:r>
            <a:endParaRPr lang="en-US" sz="1150" dirty="0"/>
          </a:p>
        </p:txBody>
      </p:sp>
      <p:sp>
        <p:nvSpPr>
          <p:cNvPr id="28" name="Workflow card"/>
          <p:cNvSpPr/>
          <p:nvPr/>
        </p:nvSpPr>
        <p:spPr>
          <a:xfrm>
            <a:off x="548640" y="2121408"/>
            <a:ext cx="4754880" cy="2468880"/>
          </a:xfrm>
          <a:prstGeom prst="roundRect">
            <a:avLst>
              <a:gd name="adj" fmla="val 4444"/>
            </a:avLst>
          </a:prstGeom>
          <a:solidFill>
            <a:schemeClr val="bg1"/>
          </a:solidFill>
          <a:ln/>
          <a:effectLst>
            <a:outerShdw sx="100000" sy="100000" kx="0" ky="0" algn="bl" rotWithShape="0" blurRad="152400" dist="38100" dir="5400000">
              <a:srgbClr val="000000">
                <a:alpha val="45000"/>
              </a:srgbClr>
            </a:outerShdw>
          </a:effectLst>
        </p:spPr>
      </p:sp>
      <p:pic>
        <p:nvPicPr>
          <p:cNvPr id="29" name="Workflow diagram" descr="Samples, Raman spectroscopy and machine-learning workflow">    </p:cNvPr>
          <p:cNvPicPr>
            <a:picLocks noChangeAspect="1"/>
          </p:cNvPicPr>
          <p:nvPr/>
        </p:nvPicPr>
        <p:blipFill>
          <a:blip r:embed="rId2"/>
          <a:stretch>
            <a:fillRect/>
          </a:stretch>
        </p:blipFill>
        <p:spPr>
          <a:xfrm>
            <a:off x="685800" y="2331720"/>
            <a:ext cx="4480560" cy="1700784"/>
          </a:xfrm>
          <a:prstGeom prst="rect">
            <a:avLst/>
          </a:prstGeom>
        </p:spPr>
      </p:pic>
      <p:sp>
        <p:nvSpPr>
          <p:cNvPr id="30" name="Text 26"/>
          <p:cNvSpPr txBox="1"/>
          <p:nvPr/>
        </p:nvSpPr>
        <p:spPr>
          <a:xfrm>
            <a:off x="685800" y="4160520"/>
            <a:ext cx="4480560" cy="274320"/>
          </a:xfrm>
          <a:prstGeom prst="rect">
            <a:avLst/>
          </a:prstGeom>
          <a:noFill/>
          <a:ln/>
        </p:spPr>
        <p:txBody>
          <a:bodyPr wrap="square" lIns="0" tIns="0" rIns="0" bIns="0" rtlCol="0" anchor="ctr"/>
          <a:lstStyle/>
          <a:p>
            <a:pPr algn="ctr" indent="0" marL="0">
              <a:buNone/>
            </a:pPr>
            <a:r>
              <a:rPr lang="en-US" sz="1200" i="1" dirty="0">
                <a:solidFill>
                  <a:schemeClr val="accent3"/>
                </a:solidFill>
              </a:rPr>
              <a:t>Samples → Raman spectroscopy → ML classification</a:t>
            </a:r>
            <a:endParaRPr lang="en-US" sz="1200" dirty="0"/>
          </a:p>
        </p:txBody>
      </p:sp>
      <p:sp>
        <p:nvSpPr>
          <p:cNvPr id="31" name="Spectra card"/>
          <p:cNvSpPr/>
          <p:nvPr/>
        </p:nvSpPr>
        <p:spPr>
          <a:xfrm>
            <a:off x="5532120" y="2121408"/>
            <a:ext cx="3154680" cy="2468880"/>
          </a:xfrm>
          <a:prstGeom prst="roundRect">
            <a:avLst>
              <a:gd name="adj" fmla="val 4444"/>
            </a:avLst>
          </a:prstGeom>
          <a:solidFill>
            <a:schemeClr val="bg1"/>
          </a:solidFill>
          <a:ln/>
          <a:effectLst>
            <a:outerShdw sx="100000" sy="100000" kx="0" ky="0" algn="bl" rotWithShape="0" blurRad="152400" dist="38100" dir="5400000">
              <a:srgbClr val="000000">
                <a:alpha val="45000"/>
              </a:srgbClr>
            </a:outerShdw>
          </a:effectLst>
        </p:spPr>
      </p:sp>
      <p:pic>
        <p:nvPicPr>
          <p:cNvPr id="32" name="SSY spectra" descr="Raman spectra of SSY on four substrates">    </p:cNvPr>
          <p:cNvPicPr>
            <a:picLocks noChangeAspect="1"/>
          </p:cNvPicPr>
          <p:nvPr/>
        </p:nvPicPr>
        <p:blipFill>
          <a:blip r:embed="rId3"/>
          <a:stretch>
            <a:fillRect/>
          </a:stretch>
        </p:blipFill>
        <p:spPr>
          <a:xfrm>
            <a:off x="5733288" y="2194560"/>
            <a:ext cx="2688336" cy="2121408"/>
          </a:xfrm>
          <a:prstGeom prst="rect">
            <a:avLst/>
          </a:prstGeom>
        </p:spPr>
      </p:pic>
      <p:sp>
        <p:nvSpPr>
          <p:cNvPr id="33" name="Text 28"/>
          <p:cNvSpPr txBox="1"/>
          <p:nvPr/>
        </p:nvSpPr>
        <p:spPr>
          <a:xfrm>
            <a:off x="5577840" y="4315968"/>
            <a:ext cx="3063240" cy="237744"/>
          </a:xfrm>
          <a:prstGeom prst="rect">
            <a:avLst/>
          </a:prstGeom>
          <a:noFill/>
          <a:ln/>
        </p:spPr>
        <p:txBody>
          <a:bodyPr wrap="square" lIns="0" tIns="0" rIns="0" bIns="0" rtlCol="0" anchor="ctr"/>
          <a:lstStyle/>
          <a:p>
            <a:pPr algn="ctr" indent="0" marL="0">
              <a:buNone/>
            </a:pPr>
            <a:r>
              <a:rPr lang="en-US" sz="1200" i="1" dirty="0">
                <a:solidFill>
                  <a:schemeClr val="accent3"/>
                </a:solidFill>
              </a:rPr>
              <a:t>Spectra: visually indistinguishable</a:t>
            </a:r>
            <a:endParaRPr lang="en-US" sz="1200" dirty="0"/>
          </a:p>
        </p:txBody>
      </p:sp>
      <p:sp>
        <p:nvSpPr>
          <p:cNvPr id="34" name="Scores card"/>
          <p:cNvSpPr/>
          <p:nvPr/>
        </p:nvSpPr>
        <p:spPr>
          <a:xfrm>
            <a:off x="8915400" y="2121408"/>
            <a:ext cx="2724912" cy="2468880"/>
          </a:xfrm>
          <a:prstGeom prst="roundRect">
            <a:avLst>
              <a:gd name="adj" fmla="val 4444"/>
            </a:avLst>
          </a:prstGeom>
          <a:solidFill>
            <a:schemeClr val="bg1"/>
          </a:solidFill>
          <a:ln/>
          <a:effectLst>
            <a:outerShdw sx="100000" sy="100000" kx="0" ky="0" algn="bl" rotWithShape="0" blurRad="152400" dist="38100" dir="5400000">
              <a:srgbClr val="000000">
                <a:alpha val="45000"/>
              </a:srgbClr>
            </a:outerShdw>
          </a:effectLst>
        </p:spPr>
      </p:sp>
      <p:pic>
        <p:nvPicPr>
          <p:cNvPr id="35" name="PLS-DA 3D scores" descr="PLS-DA 3D scores separating PDMS from SiO2/Si">    </p:cNvPr>
          <p:cNvPicPr>
            <a:picLocks noChangeAspect="1"/>
          </p:cNvPicPr>
          <p:nvPr/>
        </p:nvPicPr>
        <p:blipFill>
          <a:blip r:embed="rId4"/>
          <a:stretch>
            <a:fillRect/>
          </a:stretch>
        </p:blipFill>
        <p:spPr>
          <a:xfrm>
            <a:off x="9116568" y="2194560"/>
            <a:ext cx="2130552" cy="2121408"/>
          </a:xfrm>
          <a:prstGeom prst="rect">
            <a:avLst/>
          </a:prstGeom>
        </p:spPr>
      </p:pic>
      <p:sp>
        <p:nvSpPr>
          <p:cNvPr id="36" name="Text 30"/>
          <p:cNvSpPr txBox="1"/>
          <p:nvPr/>
        </p:nvSpPr>
        <p:spPr>
          <a:xfrm>
            <a:off x="8961120" y="4315968"/>
            <a:ext cx="2633472" cy="237744"/>
          </a:xfrm>
          <a:prstGeom prst="rect">
            <a:avLst/>
          </a:prstGeom>
          <a:noFill/>
          <a:ln/>
        </p:spPr>
        <p:txBody>
          <a:bodyPr wrap="square" lIns="0" tIns="0" rIns="0" bIns="0" rtlCol="0" anchor="ctr"/>
          <a:lstStyle/>
          <a:p>
            <a:pPr algn="ctr" indent="0" marL="0">
              <a:buNone/>
            </a:pPr>
            <a:r>
              <a:rPr lang="en-US" sz="1200" i="1" dirty="0">
                <a:solidFill>
                  <a:schemeClr val="accent3"/>
                </a:solidFill>
              </a:rPr>
              <a:t>PLS-DA: PDMS vs SiO₂/Si split</a:t>
            </a:r>
            <a:endParaRPr lang="en-US" sz="1200" dirty="0"/>
          </a:p>
        </p:txBody>
      </p:sp>
      <p:sp>
        <p:nvSpPr>
          <p:cNvPr id="37" name="Stat 75%"/>
          <p:cNvSpPr/>
          <p:nvPr/>
        </p:nvSpPr>
        <p:spPr>
          <a:xfrm>
            <a:off x="548640" y="4773168"/>
            <a:ext cx="1920240" cy="1353312"/>
          </a:xfrm>
          <a:prstGeom prst="roundRect">
            <a:avLst>
              <a:gd name="adj" fmla="val 8108"/>
            </a:avLst>
          </a:prstGeom>
          <a:solidFill>
            <a:schemeClr val="tx2">
              <a:alpha val="78000"/>
            </a:schemeClr>
          </a:solidFill>
          <a:ln w="9525">
            <a:solidFill>
              <a:schemeClr val="bg2">
                <a:alpha val="30000"/>
              </a:schemeClr>
            </a:solidFill>
            <a:prstDash val="solid"/>
          </a:ln>
        </p:spPr>
      </p:sp>
      <p:sp>
        <p:nvSpPr>
          <p:cNvPr id="38" name="Text 32"/>
          <p:cNvSpPr txBox="1"/>
          <p:nvPr/>
        </p:nvSpPr>
        <p:spPr>
          <a:xfrm>
            <a:off x="685800" y="4846320"/>
            <a:ext cx="1691640" cy="64008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75%</a:t>
            </a:r>
            <a:endParaRPr lang="en-US" sz="3400" dirty="0"/>
          </a:p>
        </p:txBody>
      </p:sp>
      <p:sp>
        <p:nvSpPr>
          <p:cNvPr id="39" name="Text 33"/>
          <p:cNvSpPr txBox="1"/>
          <p:nvPr/>
        </p:nvSpPr>
        <p:spPr>
          <a:xfrm>
            <a:off x="685800" y="5486400"/>
            <a:ext cx="1691640" cy="548640"/>
          </a:xfrm>
          <a:prstGeom prst="rect">
            <a:avLst/>
          </a:prstGeom>
          <a:noFill/>
          <a:ln/>
        </p:spPr>
        <p:txBody>
          <a:bodyPr wrap="square" lIns="0" tIns="0" rIns="0" bIns="0" rtlCol="0" anchor="t"/>
          <a:lstStyle/>
          <a:p>
            <a:pPr indent="0" marL="0">
              <a:buNone/>
            </a:pPr>
            <a:r>
              <a:rPr lang="en-US" sz="1200" dirty="0">
                <a:solidFill>
                  <a:schemeClr val="bg1"/>
                </a:solidFill>
              </a:rPr>
              <a:t>Binary, mixed external test (SVM)</a:t>
            </a:r>
            <a:endParaRPr lang="en-US" sz="1200" dirty="0"/>
          </a:p>
        </p:txBody>
      </p:sp>
      <p:sp>
        <p:nvSpPr>
          <p:cNvPr id="40" name="Stat 90%"/>
          <p:cNvSpPr/>
          <p:nvPr/>
        </p:nvSpPr>
        <p:spPr>
          <a:xfrm>
            <a:off x="2651760" y="4773168"/>
            <a:ext cx="1920240" cy="1353312"/>
          </a:xfrm>
          <a:prstGeom prst="roundRect">
            <a:avLst>
              <a:gd name="adj" fmla="val 8108"/>
            </a:avLst>
          </a:prstGeom>
          <a:solidFill>
            <a:schemeClr val="tx2">
              <a:alpha val="78000"/>
            </a:schemeClr>
          </a:solidFill>
          <a:ln w="9525">
            <a:solidFill>
              <a:schemeClr val="bg2">
                <a:alpha val="30000"/>
              </a:schemeClr>
            </a:solidFill>
            <a:prstDash val="solid"/>
          </a:ln>
        </p:spPr>
      </p:sp>
      <p:sp>
        <p:nvSpPr>
          <p:cNvPr id="41" name="Text 35"/>
          <p:cNvSpPr txBox="1"/>
          <p:nvPr/>
        </p:nvSpPr>
        <p:spPr>
          <a:xfrm>
            <a:off x="2788920" y="4846320"/>
            <a:ext cx="1691640" cy="64008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90%</a:t>
            </a:r>
            <a:endParaRPr lang="en-US" sz="3400" dirty="0"/>
          </a:p>
        </p:txBody>
      </p:sp>
      <p:sp>
        <p:nvSpPr>
          <p:cNvPr id="42" name="Text 36"/>
          <p:cNvSpPr txBox="1"/>
          <p:nvPr/>
        </p:nvSpPr>
        <p:spPr>
          <a:xfrm>
            <a:off x="2788920" y="5486400"/>
            <a:ext cx="1691640" cy="548640"/>
          </a:xfrm>
          <a:prstGeom prst="rect">
            <a:avLst/>
          </a:prstGeom>
          <a:noFill/>
          <a:ln/>
        </p:spPr>
        <p:txBody>
          <a:bodyPr wrap="square" lIns="0" tIns="0" rIns="0" bIns="0" rtlCol="0" anchor="t"/>
          <a:lstStyle/>
          <a:p>
            <a:pPr indent="0" marL="0">
              <a:buNone/>
            </a:pPr>
            <a:r>
              <a:rPr lang="en-US" sz="1200" dirty="0">
                <a:solidFill>
                  <a:schemeClr val="bg1"/>
                </a:solidFill>
              </a:rPr>
              <a:t>Graphene-only external test (PLS-DA)</a:t>
            </a:r>
            <a:endParaRPr lang="en-US" sz="1200" dirty="0"/>
          </a:p>
        </p:txBody>
      </p:sp>
      <p:sp>
        <p:nvSpPr>
          <p:cNvPr id="43" name="Stat p = 0.001"/>
          <p:cNvSpPr/>
          <p:nvPr/>
        </p:nvSpPr>
        <p:spPr>
          <a:xfrm>
            <a:off x="4754880" y="4773168"/>
            <a:ext cx="1920240" cy="1353312"/>
          </a:xfrm>
          <a:prstGeom prst="roundRect">
            <a:avLst>
              <a:gd name="adj" fmla="val 8108"/>
            </a:avLst>
          </a:prstGeom>
          <a:solidFill>
            <a:schemeClr val="tx2">
              <a:alpha val="78000"/>
            </a:schemeClr>
          </a:solidFill>
          <a:ln w="9525">
            <a:solidFill>
              <a:schemeClr val="bg2">
                <a:alpha val="30000"/>
              </a:schemeClr>
            </a:solidFill>
            <a:prstDash val="solid"/>
          </a:ln>
        </p:spPr>
      </p:sp>
      <p:sp>
        <p:nvSpPr>
          <p:cNvPr id="44" name="Text 38"/>
          <p:cNvSpPr txBox="1"/>
          <p:nvPr/>
        </p:nvSpPr>
        <p:spPr>
          <a:xfrm>
            <a:off x="4892040" y="4846320"/>
            <a:ext cx="1691640" cy="64008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p = 0.001</a:t>
            </a:r>
            <a:endParaRPr lang="en-US" sz="2800" dirty="0"/>
          </a:p>
        </p:txBody>
      </p:sp>
      <p:sp>
        <p:nvSpPr>
          <p:cNvPr id="45" name="Text 39"/>
          <p:cNvSpPr txBox="1"/>
          <p:nvPr/>
        </p:nvSpPr>
        <p:spPr>
          <a:xfrm>
            <a:off x="4892040" y="5486400"/>
            <a:ext cx="1691640" cy="548640"/>
          </a:xfrm>
          <a:prstGeom prst="rect">
            <a:avLst/>
          </a:prstGeom>
          <a:noFill/>
          <a:ln/>
        </p:spPr>
        <p:txBody>
          <a:bodyPr wrap="square" lIns="0" tIns="0" rIns="0" bIns="0" rtlCol="0" anchor="t"/>
          <a:lstStyle/>
          <a:p>
            <a:pPr indent="0" marL="0">
              <a:buNone/>
            </a:pPr>
            <a:r>
              <a:rPr lang="en-US" sz="1200" dirty="0">
                <a:solidFill>
                  <a:schemeClr val="bg1"/>
                </a:solidFill>
              </a:rPr>
              <a:t>Permutation test (999 permutations)</a:t>
            </a:r>
            <a:endParaRPr lang="en-US" sz="1200" dirty="0"/>
          </a:p>
        </p:txBody>
      </p:sp>
      <p:sp>
        <p:nvSpPr>
          <p:cNvPr id="46" name="Conclusion card"/>
          <p:cNvSpPr/>
          <p:nvPr/>
        </p:nvSpPr>
        <p:spPr>
          <a:xfrm>
            <a:off x="6858000" y="4773168"/>
            <a:ext cx="4782312" cy="1353312"/>
          </a:xfrm>
          <a:prstGeom prst="roundRect">
            <a:avLst>
              <a:gd name="adj" fmla="val 8108"/>
            </a:avLst>
          </a:prstGeom>
          <a:solidFill>
            <a:schemeClr val="accent3">
              <a:alpha val="75000"/>
            </a:schemeClr>
          </a:solidFill>
          <a:ln w="9525">
            <a:solidFill>
              <a:schemeClr val="bg2">
                <a:alpha val="30000"/>
              </a:schemeClr>
            </a:solidFill>
            <a:prstDash val="solid"/>
          </a:ln>
        </p:spPr>
      </p:sp>
      <p:sp>
        <p:nvSpPr>
          <p:cNvPr id="47" name="Text 41"/>
          <p:cNvSpPr txBox="1"/>
          <p:nvPr/>
        </p:nvSpPr>
        <p:spPr>
          <a:xfrm>
            <a:off x="7040880" y="4818888"/>
            <a:ext cx="4480560" cy="1261872"/>
          </a:xfrm>
          <a:prstGeom prst="rect">
            <a:avLst/>
          </a:prstGeom>
          <a:noFill/>
          <a:ln/>
        </p:spPr>
        <p:txBody>
          <a:bodyPr wrap="square" lIns="0" tIns="0" rIns="0" bIns="0" rtlCol="0" anchor="ctr"/>
          <a:lstStyle/>
          <a:p>
            <a:pPr indent="0" marL="0">
              <a:buNone/>
            </a:pPr>
            <a:r>
              <a:rPr lang="en-US" sz="1300" b="1" dirty="0">
                <a:solidFill>
                  <a:schemeClr val="accent4"/>
                </a:solidFill>
              </a:rPr>
              <a:t>Conclusion: </a:t>
            </a:r>
            <a:pPr indent="0" marL="0">
              <a:buNone/>
            </a:pPr>
            <a:r>
              <a:rPr lang="en-US" sz="1300" dirty="0">
                <a:solidFill>
                  <a:schemeClr val="bg1"/>
                </a:solidFill>
              </a:rPr>
              <a:t>ML reveals substrate- and graphene-dependent SSY self-organisation invisible by eye. The main discriminating axis is the substrate (PDMS vs SiO₂/Si); SVM-RBF suits mixed sets, PLS-DA graphene-coated sets.</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9C3EC"/>
                </a:solidFill>
              </a:defRPr>
            </a:lvl1pPr>
          </a:lstStyle>
          <a:p>
            <a:pPr algn="r"/>
            <a:fld id="{F7021451-1387-4CA6-816F-3879F97B5CBC}" type="slidenum">
              <a:rPr b="0" lang="en-US"/>
              <a:t>6</a:t>
            </a:fld>
            <a:endParaRPr lang="en-US"/>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Animated background" descr="Animated background: glowing molecular network and Raman spectra">    </p:cNvPr>
          <p:cNvPicPr>
            <a:picLocks noChangeAspect="1"/>
          </p:cNvPicPr>
          <p:nvPr/>
        </p:nvPicPr>
        <p:blipFill>
          <a:blip r:embed="rId1"/>
          <a:stretch>
            <a:fillRect/>
          </a:stretch>
        </p:blipFill>
        <p:spPr>
          <a:xfrm>
            <a:off x="0" y="0"/>
            <a:ext cx="12191695" cy="6858000"/>
          </a:xfrm>
          <a:prstGeom prst="rect">
            <a:avLst/>
          </a:prstGeom>
        </p:spPr>
      </p:pic>
      <p:sp>
        <p:nvSpPr>
          <p:cNvPr id="3" name="Footer"/>
          <p:cNvSpPr txBox="1"/>
          <p:nvPr/>
        </p:nvSpPr>
        <p:spPr>
          <a:xfrm>
            <a:off x="548640" y="6400800"/>
            <a:ext cx="7315200" cy="274320"/>
          </a:xfrm>
          <a:prstGeom prst="rect">
            <a:avLst/>
          </a:prstGeom>
          <a:noFill/>
          <a:ln/>
        </p:spPr>
        <p:txBody>
          <a:bodyPr wrap="square" lIns="0" tIns="0" rIns="0" bIns="0" rtlCol="0" anchor="t"/>
          <a:lstStyle/>
          <a:p>
            <a:pPr indent="0" marL="0">
              <a:buNone/>
            </a:pPr>
            <a:r>
              <a:rPr lang="en-US" sz="1000" dirty="0">
                <a:solidFill>
                  <a:schemeClr val="bg2"/>
                </a:solidFill>
              </a:rPr>
              <a:t>Hira Aman  ·  Activity of Research and Training 2025–2026</a:t>
            </a:r>
            <a:endParaRPr lang="en-US" sz="1000" dirty="0"/>
          </a:p>
        </p:txBody>
      </p:sp>
      <p:sp>
        <p:nvSpPr>
          <p:cNvPr id="4"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Ag/SiNW SERS: Acacia EVs vs Nanovesicles</a:t>
            </a:r>
            <a:endParaRPr lang="en-US" sz="3000" dirty="0"/>
          </a:p>
        </p:txBody>
      </p:sp>
      <p:sp>
        <p:nvSpPr>
          <p:cNvPr id="5" name="Text 0"/>
          <p:cNvSpPr/>
          <p:nvPr>
            <p:ph idx="101" type="body" hasCustomPrompt="1"/>
          </p:nvPr>
        </p:nvSpPr>
        <p:spPr>
          <a:xfrm>
            <a:off x="548640" y="960120"/>
            <a:ext cx="11064240" cy="365760"/>
          </a:xfrm>
          <a:prstGeom prst="rect">
            <a:avLst/>
          </a:prstGeom>
          <a:noFill/>
          <a:ln/>
        </p:spPr>
        <p:txBody>
          <a:bodyPr wrap="square" lIns="0" tIns="0" rIns="0" bIns="0" rtlCol="0" anchor="ctr"/>
          <a:lstStyle/>
          <a:p>
            <a:pPr algn="l" indent="0" marL="0">
              <a:buNone/>
            </a:pPr>
            <a:r>
              <a:rPr lang="en-US" sz="1500" i="1" dirty="0">
                <a:solidFill>
                  <a:schemeClr val="accent2"/>
                </a:solidFill>
                <a:latin typeface="Calibri" pitchFamily="34" charset="0"/>
                <a:ea typeface="Calibri" pitchFamily="34" charset="-122"/>
                <a:cs typeface="Calibri" pitchFamily="34" charset="-120"/>
              </a:rPr>
              <a:t>From plant sample to machine-learning classification</a:t>
            </a:r>
            <a:endParaRPr lang="en-US" sz="1500" dirty="0"/>
          </a:p>
        </p:txBody>
      </p:sp>
      <p:sp>
        <p:nvSpPr>
          <p:cNvPr id="6" name="Status pill"/>
          <p:cNvSpPr/>
          <p:nvPr/>
        </p:nvSpPr>
        <p:spPr>
          <a:xfrm>
            <a:off x="10177272" y="109728"/>
            <a:ext cx="1463040" cy="329184"/>
          </a:xfrm>
          <a:prstGeom prst="roundRect">
            <a:avLst>
              <a:gd name="adj" fmla="val 50000"/>
            </a:avLst>
          </a:prstGeom>
          <a:solidFill>
            <a:schemeClr val="accent4">
              <a:alpha val="90000"/>
            </a:schemeClr>
          </a:solidFill>
          <a:ln/>
        </p:spPr>
      </p:sp>
      <p:sp>
        <p:nvSpPr>
          <p:cNvPr id="7" name="Text 4"/>
          <p:cNvSpPr txBox="1"/>
          <p:nvPr/>
        </p:nvSpPr>
        <p:spPr>
          <a:xfrm>
            <a:off x="10177272" y="109728"/>
            <a:ext cx="1463040" cy="329184"/>
          </a:xfrm>
          <a:prstGeom prst="rect">
            <a:avLst/>
          </a:prstGeom>
          <a:noFill/>
          <a:ln/>
        </p:spPr>
        <p:txBody>
          <a:bodyPr wrap="square" lIns="0" tIns="0" rIns="0" bIns="0" rtlCol="0" anchor="ctr"/>
          <a:lstStyle/>
          <a:p>
            <a:pPr algn="ctr" indent="0" marL="0">
              <a:buNone/>
            </a:pPr>
            <a:r>
              <a:rPr lang="en-US" sz="1100" b="1" spc="100" kern="0" dirty="0">
                <a:solidFill>
                  <a:schemeClr val="tx1"/>
                </a:solidFill>
              </a:rPr>
              <a:t>UNPUBLISHED</a:t>
            </a:r>
            <a:endParaRPr lang="en-US" sz="1100" dirty="0"/>
          </a:p>
        </p:txBody>
      </p:sp>
      <p:sp>
        <p:nvSpPr>
          <p:cNvPr id="8" name="Step card 1"/>
          <p:cNvSpPr/>
          <p:nvPr/>
        </p:nvSpPr>
        <p:spPr>
          <a:xfrm>
            <a:off x="548640" y="1600200"/>
            <a:ext cx="2606040" cy="4526280"/>
          </a:xfrm>
          <a:prstGeom prst="roundRect">
            <a:avLst>
              <a:gd name="adj" fmla="val 4211"/>
            </a:avLst>
          </a:prstGeom>
          <a:solidFill>
            <a:schemeClr val="tx2">
              <a:alpha val="78000"/>
            </a:schemeClr>
          </a:solidFill>
          <a:ln w="9525">
            <a:solidFill>
              <a:schemeClr val="bg2">
                <a:alpha val="30000"/>
              </a:schemeClr>
            </a:solidFill>
            <a:prstDash val="solid"/>
          </a:ln>
        </p:spPr>
      </p:sp>
      <p:sp>
        <p:nvSpPr>
          <p:cNvPr id="9" name="Step 1 badge"/>
          <p:cNvSpPr/>
          <p:nvPr/>
        </p:nvSpPr>
        <p:spPr>
          <a:xfrm>
            <a:off x="731520" y="1783080"/>
            <a:ext cx="384048" cy="384048"/>
          </a:xfrm>
          <a:prstGeom prst="ellipse">
            <a:avLst/>
          </a:prstGeom>
          <a:solidFill>
            <a:schemeClr val="accent1"/>
          </a:solidFill>
          <a:ln/>
        </p:spPr>
      </p:sp>
      <p:sp>
        <p:nvSpPr>
          <p:cNvPr id="10" name="Text 7"/>
          <p:cNvSpPr txBox="1"/>
          <p:nvPr/>
        </p:nvSpPr>
        <p:spPr>
          <a:xfrm>
            <a:off x="731520" y="17830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Text 8"/>
          <p:cNvSpPr txBox="1"/>
          <p:nvPr/>
        </p:nvSpPr>
        <p:spPr>
          <a:xfrm>
            <a:off x="1207008" y="1783080"/>
            <a:ext cx="1783080" cy="384048"/>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Sample</a:t>
            </a:r>
            <a:endParaRPr lang="en-US" sz="1700" dirty="0"/>
          </a:p>
        </p:txBody>
      </p:sp>
      <p:sp>
        <p:nvSpPr>
          <p:cNvPr id="12" name="Text 9"/>
          <p:cNvSpPr txBox="1"/>
          <p:nvPr/>
        </p:nvSpPr>
        <p:spPr>
          <a:xfrm>
            <a:off x="3136392" y="3474720"/>
            <a:ext cx="265176" cy="457200"/>
          </a:xfrm>
          <a:prstGeom prst="rect">
            <a:avLst/>
          </a:prstGeom>
          <a:noFill/>
          <a:ln/>
        </p:spPr>
        <p:txBody>
          <a:bodyPr wrap="square" lIns="0" tIns="0" rIns="0" bIns="0" rtlCol="0" anchor="ctr"/>
          <a:lstStyle/>
          <a:p>
            <a:pPr algn="ctr" indent="0" marL="0">
              <a:buNone/>
            </a:pPr>
            <a:r>
              <a:rPr lang="en-US" sz="2600" b="1" dirty="0">
                <a:solidFill>
                  <a:schemeClr val="accent1"/>
                </a:solidFill>
              </a:rPr>
              <a:t>›</a:t>
            </a:r>
            <a:endParaRPr lang="en-US" sz="2600" dirty="0"/>
          </a:p>
        </p:txBody>
      </p:sp>
      <p:sp>
        <p:nvSpPr>
          <p:cNvPr id="13" name="Step card 2"/>
          <p:cNvSpPr/>
          <p:nvPr/>
        </p:nvSpPr>
        <p:spPr>
          <a:xfrm>
            <a:off x="3383280" y="1600200"/>
            <a:ext cx="2606040" cy="4526280"/>
          </a:xfrm>
          <a:prstGeom prst="roundRect">
            <a:avLst>
              <a:gd name="adj" fmla="val 4211"/>
            </a:avLst>
          </a:prstGeom>
          <a:solidFill>
            <a:schemeClr val="tx2">
              <a:alpha val="78000"/>
            </a:schemeClr>
          </a:solidFill>
          <a:ln w="9525">
            <a:solidFill>
              <a:schemeClr val="bg2">
                <a:alpha val="30000"/>
              </a:schemeClr>
            </a:solidFill>
            <a:prstDash val="solid"/>
          </a:ln>
        </p:spPr>
      </p:sp>
      <p:sp>
        <p:nvSpPr>
          <p:cNvPr id="14" name="Step 2 badge"/>
          <p:cNvSpPr/>
          <p:nvPr/>
        </p:nvSpPr>
        <p:spPr>
          <a:xfrm>
            <a:off x="3566160" y="1783080"/>
            <a:ext cx="384048" cy="384048"/>
          </a:xfrm>
          <a:prstGeom prst="ellipse">
            <a:avLst/>
          </a:prstGeom>
          <a:solidFill>
            <a:schemeClr val="accent1"/>
          </a:solidFill>
          <a:ln/>
        </p:spPr>
      </p:sp>
      <p:sp>
        <p:nvSpPr>
          <p:cNvPr id="15" name="Text 12"/>
          <p:cNvSpPr txBox="1"/>
          <p:nvPr/>
        </p:nvSpPr>
        <p:spPr>
          <a:xfrm>
            <a:off x="3566160" y="17830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6" name="Text 13"/>
          <p:cNvSpPr txBox="1"/>
          <p:nvPr/>
        </p:nvSpPr>
        <p:spPr>
          <a:xfrm>
            <a:off x="4041648" y="1783080"/>
            <a:ext cx="1783080" cy="384048"/>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Raman mapping</a:t>
            </a:r>
            <a:endParaRPr lang="en-US" sz="1700" dirty="0"/>
          </a:p>
        </p:txBody>
      </p:sp>
      <p:sp>
        <p:nvSpPr>
          <p:cNvPr id="17" name="Text 14"/>
          <p:cNvSpPr txBox="1"/>
          <p:nvPr/>
        </p:nvSpPr>
        <p:spPr>
          <a:xfrm>
            <a:off x="5971032" y="3474720"/>
            <a:ext cx="265176" cy="457200"/>
          </a:xfrm>
          <a:prstGeom prst="rect">
            <a:avLst/>
          </a:prstGeom>
          <a:noFill/>
          <a:ln/>
        </p:spPr>
        <p:txBody>
          <a:bodyPr wrap="square" lIns="0" tIns="0" rIns="0" bIns="0" rtlCol="0" anchor="ctr"/>
          <a:lstStyle/>
          <a:p>
            <a:pPr algn="ctr" indent="0" marL="0">
              <a:buNone/>
            </a:pPr>
            <a:r>
              <a:rPr lang="en-US" sz="2600" b="1" dirty="0">
                <a:solidFill>
                  <a:schemeClr val="accent1"/>
                </a:solidFill>
              </a:rPr>
              <a:t>›</a:t>
            </a:r>
            <a:endParaRPr lang="en-US" sz="2600" dirty="0"/>
          </a:p>
        </p:txBody>
      </p:sp>
      <p:sp>
        <p:nvSpPr>
          <p:cNvPr id="18" name="Step card 3"/>
          <p:cNvSpPr/>
          <p:nvPr/>
        </p:nvSpPr>
        <p:spPr>
          <a:xfrm>
            <a:off x="6217920" y="1600200"/>
            <a:ext cx="2606040" cy="4526280"/>
          </a:xfrm>
          <a:prstGeom prst="roundRect">
            <a:avLst>
              <a:gd name="adj" fmla="val 4211"/>
            </a:avLst>
          </a:prstGeom>
          <a:solidFill>
            <a:schemeClr val="tx2">
              <a:alpha val="78000"/>
            </a:schemeClr>
          </a:solidFill>
          <a:ln w="9525">
            <a:solidFill>
              <a:schemeClr val="bg2">
                <a:alpha val="30000"/>
              </a:schemeClr>
            </a:solidFill>
            <a:prstDash val="solid"/>
          </a:ln>
        </p:spPr>
      </p:sp>
      <p:sp>
        <p:nvSpPr>
          <p:cNvPr id="19" name="Step 3 badge"/>
          <p:cNvSpPr/>
          <p:nvPr/>
        </p:nvSpPr>
        <p:spPr>
          <a:xfrm>
            <a:off x="6400800" y="1783080"/>
            <a:ext cx="384048" cy="384048"/>
          </a:xfrm>
          <a:prstGeom prst="ellipse">
            <a:avLst/>
          </a:prstGeom>
          <a:solidFill>
            <a:schemeClr val="accent1"/>
          </a:solidFill>
          <a:ln/>
        </p:spPr>
      </p:sp>
      <p:sp>
        <p:nvSpPr>
          <p:cNvPr id="20" name="Text 17"/>
          <p:cNvSpPr txBox="1"/>
          <p:nvPr/>
        </p:nvSpPr>
        <p:spPr>
          <a:xfrm>
            <a:off x="6400800" y="17830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1" name="Text 18"/>
          <p:cNvSpPr txBox="1"/>
          <p:nvPr/>
        </p:nvSpPr>
        <p:spPr>
          <a:xfrm>
            <a:off x="6876288" y="1783080"/>
            <a:ext cx="1783080" cy="384048"/>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Preprocessing</a:t>
            </a:r>
            <a:endParaRPr lang="en-US" sz="1700" dirty="0"/>
          </a:p>
        </p:txBody>
      </p:sp>
      <p:sp>
        <p:nvSpPr>
          <p:cNvPr id="22" name="Text 19"/>
          <p:cNvSpPr txBox="1"/>
          <p:nvPr/>
        </p:nvSpPr>
        <p:spPr>
          <a:xfrm>
            <a:off x="8805672" y="3474720"/>
            <a:ext cx="265176" cy="457200"/>
          </a:xfrm>
          <a:prstGeom prst="rect">
            <a:avLst/>
          </a:prstGeom>
          <a:noFill/>
          <a:ln/>
        </p:spPr>
        <p:txBody>
          <a:bodyPr wrap="square" lIns="0" tIns="0" rIns="0" bIns="0" rtlCol="0" anchor="ctr"/>
          <a:lstStyle/>
          <a:p>
            <a:pPr algn="ctr" indent="0" marL="0">
              <a:buNone/>
            </a:pPr>
            <a:r>
              <a:rPr lang="en-US" sz="2600" b="1" dirty="0">
                <a:solidFill>
                  <a:schemeClr val="accent1"/>
                </a:solidFill>
              </a:rPr>
              <a:t>›</a:t>
            </a:r>
            <a:endParaRPr lang="en-US" sz="2600" dirty="0"/>
          </a:p>
        </p:txBody>
      </p:sp>
      <p:sp>
        <p:nvSpPr>
          <p:cNvPr id="23" name="Step card 4"/>
          <p:cNvSpPr/>
          <p:nvPr/>
        </p:nvSpPr>
        <p:spPr>
          <a:xfrm>
            <a:off x="9052560" y="1600200"/>
            <a:ext cx="2606040" cy="4526280"/>
          </a:xfrm>
          <a:prstGeom prst="roundRect">
            <a:avLst>
              <a:gd name="adj" fmla="val 4211"/>
            </a:avLst>
          </a:prstGeom>
          <a:solidFill>
            <a:schemeClr val="tx2">
              <a:alpha val="78000"/>
            </a:schemeClr>
          </a:solidFill>
          <a:ln w="9525">
            <a:solidFill>
              <a:schemeClr val="bg2">
                <a:alpha val="30000"/>
              </a:schemeClr>
            </a:solidFill>
            <a:prstDash val="solid"/>
          </a:ln>
        </p:spPr>
      </p:sp>
      <p:sp>
        <p:nvSpPr>
          <p:cNvPr id="24" name="Step 4 badge"/>
          <p:cNvSpPr/>
          <p:nvPr/>
        </p:nvSpPr>
        <p:spPr>
          <a:xfrm>
            <a:off x="9235440" y="1783080"/>
            <a:ext cx="384048" cy="384048"/>
          </a:xfrm>
          <a:prstGeom prst="ellipse">
            <a:avLst/>
          </a:prstGeom>
          <a:solidFill>
            <a:schemeClr val="accent1"/>
          </a:solidFill>
          <a:ln/>
        </p:spPr>
      </p:sp>
      <p:sp>
        <p:nvSpPr>
          <p:cNvPr id="25" name="Text 22"/>
          <p:cNvSpPr txBox="1"/>
          <p:nvPr/>
        </p:nvSpPr>
        <p:spPr>
          <a:xfrm>
            <a:off x="9235440" y="17830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6" name="Text 23"/>
          <p:cNvSpPr txBox="1"/>
          <p:nvPr/>
        </p:nvSpPr>
        <p:spPr>
          <a:xfrm>
            <a:off x="9710928" y="1783080"/>
            <a:ext cx="1783080" cy="384048"/>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Machine learning</a:t>
            </a:r>
            <a:endParaRPr lang="en-US" sz="1700" dirty="0"/>
          </a:p>
        </p:txBody>
      </p:sp>
      <p:pic>
        <p:nvPicPr>
          <p:cNvPr id="27" name="Acacia plant" descr="Flowering Acacia plant">    </p:cNvPr>
          <p:cNvPicPr>
            <a:picLocks noChangeAspect="1"/>
          </p:cNvPicPr>
          <p:nvPr/>
        </p:nvPicPr>
        <p:blipFill>
          <a:blip r:embed="rId2"/>
          <a:stretch>
            <a:fillRect/>
          </a:stretch>
        </p:blipFill>
        <p:spPr>
          <a:xfrm>
            <a:off x="731520" y="2377440"/>
            <a:ext cx="2240280" cy="1664208"/>
          </a:xfrm>
          <a:prstGeom prst="rect">
            <a:avLst/>
          </a:prstGeom>
        </p:spPr>
      </p:pic>
      <p:pic>
        <p:nvPicPr>
          <p:cNvPr id="28" name="Ag/SiNW substrate" descr="Ag/SiNW SERS substrate with a drop">    </p:cNvPr>
          <p:cNvPicPr>
            <a:picLocks noChangeAspect="1"/>
          </p:cNvPicPr>
          <p:nvPr/>
        </p:nvPicPr>
        <p:blipFill>
          <a:blip r:embed="rId3"/>
          <a:stretch>
            <a:fillRect/>
          </a:stretch>
        </p:blipFill>
        <p:spPr>
          <a:xfrm>
            <a:off x="731520" y="4160520"/>
            <a:ext cx="2240280" cy="1408176"/>
          </a:xfrm>
          <a:prstGeom prst="rect">
            <a:avLst/>
          </a:prstGeom>
        </p:spPr>
      </p:pic>
      <p:sp>
        <p:nvSpPr>
          <p:cNvPr id="29" name="Text 24"/>
          <p:cNvSpPr txBox="1"/>
          <p:nvPr/>
        </p:nvSpPr>
        <p:spPr>
          <a:xfrm>
            <a:off x="731520" y="5605272"/>
            <a:ext cx="2240280" cy="457200"/>
          </a:xfrm>
          <a:prstGeom prst="rect">
            <a:avLst/>
          </a:prstGeom>
          <a:noFill/>
          <a:ln/>
        </p:spPr>
        <p:txBody>
          <a:bodyPr wrap="square" lIns="0" tIns="0" rIns="0" bIns="0" rtlCol="0" anchor="ctr"/>
          <a:lstStyle/>
          <a:p>
            <a:pPr indent="0" marL="0">
              <a:buNone/>
            </a:pPr>
            <a:r>
              <a:rPr lang="en-US" sz="1200" dirty="0">
                <a:solidFill>
                  <a:schemeClr val="bg2"/>
                </a:solidFill>
              </a:rPr>
              <a:t>Acacia vesicles dropped on the Ag/SiNW SERS substrate</a:t>
            </a:r>
            <a:endParaRPr lang="en-US" sz="1200" dirty="0"/>
          </a:p>
        </p:txBody>
      </p:sp>
      <p:pic>
        <p:nvPicPr>
          <p:cNvPr id="30" name="EV micrograph" descr="100x optical image, EV Acacia">    </p:cNvPr>
          <p:cNvPicPr>
            <a:picLocks noChangeAspect="1"/>
          </p:cNvPicPr>
          <p:nvPr/>
        </p:nvPicPr>
        <p:blipFill>
          <a:blip r:embed="rId4"/>
          <a:srcRect l="0" r="0" t="0" b="0"/>
          <a:stretch/>
        </p:blipFill>
        <p:spPr>
          <a:xfrm>
            <a:off x="3566160" y="2377440"/>
            <a:ext cx="2240280" cy="1463040"/>
          </a:xfrm>
          <a:prstGeom prst="rect">
            <a:avLst/>
          </a:prstGeom>
        </p:spPr>
      </p:pic>
      <p:sp>
        <p:nvSpPr>
          <p:cNvPr id="31" name="Text 25"/>
          <p:cNvSpPr txBox="1"/>
          <p:nvPr/>
        </p:nvSpPr>
        <p:spPr>
          <a:xfrm>
            <a:off x="3566160" y="3858768"/>
            <a:ext cx="2240280" cy="256032"/>
          </a:xfrm>
          <a:prstGeom prst="rect">
            <a:avLst/>
          </a:prstGeom>
          <a:noFill/>
          <a:ln/>
        </p:spPr>
        <p:txBody>
          <a:bodyPr wrap="square" lIns="0" tIns="0" rIns="0" bIns="0" rtlCol="0" anchor="ctr"/>
          <a:lstStyle/>
          <a:p>
            <a:pPr indent="0" marL="0">
              <a:buNone/>
            </a:pPr>
            <a:r>
              <a:rPr lang="en-US" sz="1200" b="1" dirty="0">
                <a:solidFill>
                  <a:schemeClr val="bg1"/>
                </a:solidFill>
              </a:rPr>
              <a:t>EV Acacia</a:t>
            </a:r>
            <a:endParaRPr lang="en-US" sz="1200" dirty="0"/>
          </a:p>
        </p:txBody>
      </p:sp>
      <p:pic>
        <p:nvPicPr>
          <p:cNvPr id="32" name="NV micrograph" descr="100x optical image, NV Acacia">    </p:cNvPr>
          <p:cNvPicPr>
            <a:picLocks noChangeAspect="1"/>
          </p:cNvPicPr>
          <p:nvPr/>
        </p:nvPicPr>
        <p:blipFill>
          <a:blip r:embed="rId5"/>
          <a:srcRect l="0" r="0" t="0" b="0"/>
          <a:stretch/>
        </p:blipFill>
        <p:spPr>
          <a:xfrm>
            <a:off x="3566160" y="4160520"/>
            <a:ext cx="2240280" cy="1463040"/>
          </a:xfrm>
          <a:prstGeom prst="rect">
            <a:avLst/>
          </a:prstGeom>
        </p:spPr>
      </p:pic>
      <p:sp>
        <p:nvSpPr>
          <p:cNvPr id="33" name="Text 26"/>
          <p:cNvSpPr txBox="1"/>
          <p:nvPr/>
        </p:nvSpPr>
        <p:spPr>
          <a:xfrm>
            <a:off x="3566160" y="5641848"/>
            <a:ext cx="2240280" cy="256032"/>
          </a:xfrm>
          <a:prstGeom prst="rect">
            <a:avLst/>
          </a:prstGeom>
          <a:noFill/>
          <a:ln/>
        </p:spPr>
        <p:txBody>
          <a:bodyPr wrap="square" lIns="0" tIns="0" rIns="0" bIns="0" rtlCol="0" anchor="ctr"/>
          <a:lstStyle/>
          <a:p>
            <a:pPr indent="0" marL="0">
              <a:buNone/>
            </a:pPr>
            <a:r>
              <a:rPr lang="en-US" sz="1200" b="1" dirty="0">
                <a:solidFill>
                  <a:schemeClr val="bg1"/>
                </a:solidFill>
              </a:rPr>
              <a:t>NV Acacia</a:t>
            </a:r>
            <a:endParaRPr lang="en-US" sz="1200" dirty="0"/>
          </a:p>
        </p:txBody>
      </p:sp>
      <p:sp>
        <p:nvSpPr>
          <p:cNvPr id="34" name="Text 27"/>
          <p:cNvSpPr txBox="1"/>
          <p:nvPr/>
        </p:nvSpPr>
        <p:spPr>
          <a:xfrm>
            <a:off x="3566160" y="5852160"/>
            <a:ext cx="2240280" cy="237744"/>
          </a:xfrm>
          <a:prstGeom prst="rect">
            <a:avLst/>
          </a:prstGeom>
          <a:noFill/>
          <a:ln/>
        </p:spPr>
        <p:txBody>
          <a:bodyPr wrap="square" lIns="0" tIns="0" rIns="0" bIns="0" rtlCol="0" anchor="ctr"/>
          <a:lstStyle/>
          <a:p>
            <a:pPr indent="0" marL="0">
              <a:buNone/>
            </a:pPr>
            <a:r>
              <a:rPr lang="en-US" sz="1100" i="1" dirty="0">
                <a:solidFill>
                  <a:schemeClr val="bg2"/>
                </a:solidFill>
              </a:rPr>
              <a:t>100× optical images of mapped areas</a:t>
            </a:r>
            <a:endParaRPr lang="en-US" sz="1100" dirty="0"/>
          </a:p>
        </p:txBody>
      </p:sp>
      <p:sp>
        <p:nvSpPr>
          <p:cNvPr id="35" name="Step 3 icon"/>
          <p:cNvSpPr/>
          <p:nvPr/>
        </p:nvSpPr>
        <p:spPr>
          <a:xfrm>
            <a:off x="7018020" y="2468880"/>
            <a:ext cx="1005840" cy="1005840"/>
          </a:xfrm>
          <a:prstGeom prst="ellipse">
            <a:avLst/>
          </a:prstGeom>
          <a:solidFill>
            <a:schemeClr val="accent3">
              <a:alpha val="85000"/>
            </a:schemeClr>
          </a:solidFill>
          <a:ln/>
        </p:spPr>
      </p:sp>
      <p:pic>
        <p:nvPicPr>
          <p:cNvPr id="36" name="Step 3 icon icon" descr="preencoded.png">    </p:cNvPr>
          <p:cNvPicPr>
            <a:picLocks noChangeAspect="1"/>
          </p:cNvPicPr>
          <p:nvPr/>
        </p:nvPicPr>
        <p:blipFill>
          <a:blip r:embed="rId6"/>
          <a:stretch>
            <a:fillRect/>
          </a:stretch>
        </p:blipFill>
        <p:spPr>
          <a:xfrm>
            <a:off x="7279538" y="2730398"/>
            <a:ext cx="482803" cy="482803"/>
          </a:xfrm>
          <a:prstGeom prst="rect">
            <a:avLst/>
          </a:prstGeom>
        </p:spPr>
      </p:pic>
      <p:sp>
        <p:nvSpPr>
          <p:cNvPr id="37" name="Text 29"/>
          <p:cNvSpPr txBox="1"/>
          <p:nvPr/>
        </p:nvSpPr>
        <p:spPr>
          <a:xfrm>
            <a:off x="6446520" y="3657600"/>
            <a:ext cx="2194560" cy="2331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Python pipeline</a:t>
            </a:r>
            <a:endParaRPr lang="en-US" sz="1400" dirty="0"/>
          </a:p>
          <a:p>
            <a:pPr marL="342900" indent="-342900">
              <a:spcAft>
                <a:spcPts val="800"/>
              </a:spcAft>
              <a:buSzPct val="100000"/>
              <a:buChar char="•"/>
            </a:pPr>
            <a:r>
              <a:rPr lang="en-US" sz="1400" dirty="0">
                <a:solidFill>
                  <a:schemeClr val="bg1"/>
                </a:solidFill>
              </a:rPr>
              <a:t>Crop the informative spectral region</a:t>
            </a:r>
            <a:endParaRPr lang="en-US" sz="1400" dirty="0"/>
          </a:p>
          <a:p>
            <a:pPr marL="342900" indent="-342900">
              <a:spcAft>
                <a:spcPts val="800"/>
              </a:spcAft>
              <a:buSzPct val="100000"/>
              <a:buChar char="•"/>
            </a:pPr>
            <a:r>
              <a:rPr lang="en-US" sz="1400" dirty="0">
                <a:solidFill>
                  <a:schemeClr val="bg1"/>
                </a:solidFill>
              </a:rPr>
              <a:t>Smoothing</a:t>
            </a:r>
            <a:endParaRPr lang="en-US" sz="1400" dirty="0"/>
          </a:p>
          <a:p>
            <a:pPr marL="342900" indent="-342900">
              <a:spcAft>
                <a:spcPts val="800"/>
              </a:spcAft>
              <a:buSzPct val="100000"/>
              <a:buChar char="•"/>
            </a:pPr>
            <a:r>
              <a:rPr lang="en-US" sz="1400" dirty="0">
                <a:solidFill>
                  <a:schemeClr val="bg1"/>
                </a:solidFill>
              </a:rPr>
              <a:t>SNV normalisation</a:t>
            </a:r>
            <a:endParaRPr lang="en-US" sz="1400" dirty="0"/>
          </a:p>
        </p:txBody>
      </p:sp>
      <p:sp>
        <p:nvSpPr>
          <p:cNvPr id="38" name="Step 4 icon"/>
          <p:cNvSpPr/>
          <p:nvPr/>
        </p:nvSpPr>
        <p:spPr>
          <a:xfrm>
            <a:off x="9852660" y="2468880"/>
            <a:ext cx="1005840" cy="1005840"/>
          </a:xfrm>
          <a:prstGeom prst="ellipse">
            <a:avLst/>
          </a:prstGeom>
          <a:solidFill>
            <a:schemeClr val="accent1">
              <a:alpha val="85000"/>
            </a:schemeClr>
          </a:solidFill>
          <a:ln/>
        </p:spPr>
      </p:sp>
      <p:pic>
        <p:nvPicPr>
          <p:cNvPr id="39" name="Step 4 icon icon" descr="preencoded.png">    </p:cNvPr>
          <p:cNvPicPr>
            <a:picLocks noChangeAspect="1"/>
          </p:cNvPicPr>
          <p:nvPr/>
        </p:nvPicPr>
        <p:blipFill>
          <a:blip r:embed="rId7"/>
          <a:stretch>
            <a:fillRect/>
          </a:stretch>
        </p:blipFill>
        <p:spPr>
          <a:xfrm>
            <a:off x="10114178" y="2730398"/>
            <a:ext cx="482803" cy="482803"/>
          </a:xfrm>
          <a:prstGeom prst="rect">
            <a:avLst/>
          </a:prstGeom>
        </p:spPr>
      </p:pic>
      <p:sp>
        <p:nvSpPr>
          <p:cNvPr id="40" name="Text 31"/>
          <p:cNvSpPr txBox="1"/>
          <p:nvPr/>
        </p:nvSpPr>
        <p:spPr>
          <a:xfrm>
            <a:off x="9281160" y="3657600"/>
            <a:ext cx="2194560" cy="2331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PCA for dimensionality reduction</a:t>
            </a:r>
            <a:endParaRPr lang="en-US" sz="1400" dirty="0"/>
          </a:p>
          <a:p>
            <a:pPr marL="342900" indent="-342900">
              <a:spcAft>
                <a:spcPts val="800"/>
              </a:spcAft>
              <a:buSzPct val="100000"/>
              <a:buChar char="•"/>
            </a:pPr>
            <a:r>
              <a:rPr lang="en-US" sz="1400" dirty="0">
                <a:solidFill>
                  <a:schemeClr val="bg1"/>
                </a:solidFill>
              </a:rPr>
              <a:t>PCA-LDA classification</a:t>
            </a:r>
            <a:endParaRPr lang="en-US" sz="1400" dirty="0"/>
          </a:p>
          <a:p>
            <a:pPr marL="342900" indent="-342900">
              <a:spcAft>
                <a:spcPts val="800"/>
              </a:spcAft>
              <a:buSzPct val="100000"/>
              <a:buChar char="•"/>
            </a:pPr>
            <a:r>
              <a:rPr lang="en-US" sz="1400" dirty="0">
                <a:solidFill>
                  <a:schemeClr val="bg1"/>
                </a:solidFill>
              </a:rPr>
              <a:t>Cross-checked with PLS‑DA</a:t>
            </a:r>
            <a:endParaRPr lang="en-US" sz="1400" dirty="0"/>
          </a:p>
          <a:p>
            <a:pPr marL="342900" indent="-342900">
              <a:spcAft>
                <a:spcPts val="800"/>
              </a:spcAft>
              <a:buSzPct val="100000"/>
              <a:buChar char="•"/>
            </a:pPr>
            <a:r>
              <a:rPr lang="en-US" sz="1400" dirty="0">
                <a:solidFill>
                  <a:schemeClr val="bg1"/>
                </a:solidFill>
              </a:rPr>
              <a:t>Site-grouped 5-fold cross-validation</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9C3EC"/>
                </a:solidFill>
              </a:defRPr>
            </a:lvl1pPr>
          </a:lstStyle>
          <a:p>
            <a:pPr algn="r"/>
            <a:fld id="{F7021451-1387-4CA6-816F-3879F97B5CBC}" type="slidenum">
              <a:rPr b="0" lang="en-US"/>
              <a:t>7</a:t>
            </a:fld>
            <a:endParaRPr lang="en-US"/>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Animated background" descr="Animated background: glowing molecular network and Raman spectra">    </p:cNvPr>
          <p:cNvPicPr>
            <a:picLocks noChangeAspect="1"/>
          </p:cNvPicPr>
          <p:nvPr/>
        </p:nvPicPr>
        <p:blipFill>
          <a:blip r:embed="rId1"/>
          <a:stretch>
            <a:fillRect/>
          </a:stretch>
        </p:blipFill>
        <p:spPr>
          <a:xfrm>
            <a:off x="0" y="0"/>
            <a:ext cx="12191695" cy="6858000"/>
          </a:xfrm>
          <a:prstGeom prst="rect">
            <a:avLst/>
          </a:prstGeom>
        </p:spPr>
      </p:pic>
      <p:sp>
        <p:nvSpPr>
          <p:cNvPr id="3" name="Footer"/>
          <p:cNvSpPr txBox="1"/>
          <p:nvPr/>
        </p:nvSpPr>
        <p:spPr>
          <a:xfrm>
            <a:off x="548640" y="6400800"/>
            <a:ext cx="7315200" cy="274320"/>
          </a:xfrm>
          <a:prstGeom prst="rect">
            <a:avLst/>
          </a:prstGeom>
          <a:noFill/>
          <a:ln/>
        </p:spPr>
        <p:txBody>
          <a:bodyPr wrap="square" lIns="0" tIns="0" rIns="0" bIns="0" rtlCol="0" anchor="t"/>
          <a:lstStyle/>
          <a:p>
            <a:pPr indent="0" marL="0">
              <a:buNone/>
            </a:pPr>
            <a:r>
              <a:rPr lang="en-US" sz="1000" dirty="0">
                <a:solidFill>
                  <a:schemeClr val="bg2"/>
                </a:solidFill>
              </a:rPr>
              <a:t>Hira Aman  ·  Activity of Research and Training 2025–2026</a:t>
            </a:r>
            <a:endParaRPr lang="en-US" sz="1000" dirty="0"/>
          </a:p>
        </p:txBody>
      </p:sp>
      <p:sp>
        <p:nvSpPr>
          <p:cNvPr id="4"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Acacia EVs vs Nanovesicles: Results</a:t>
            </a:r>
            <a:endParaRPr lang="en-US" sz="3000" dirty="0"/>
          </a:p>
        </p:txBody>
      </p:sp>
      <p:sp>
        <p:nvSpPr>
          <p:cNvPr id="5" name="Text 0"/>
          <p:cNvSpPr/>
          <p:nvPr>
            <p:ph idx="101" type="body" hasCustomPrompt="1"/>
          </p:nvPr>
        </p:nvSpPr>
        <p:spPr>
          <a:xfrm>
            <a:off x="548640" y="960120"/>
            <a:ext cx="11064240" cy="365760"/>
          </a:xfrm>
          <a:prstGeom prst="rect">
            <a:avLst/>
          </a:prstGeom>
          <a:noFill/>
          <a:ln/>
        </p:spPr>
        <p:txBody>
          <a:bodyPr wrap="square" lIns="0" tIns="0" rIns="0" bIns="0" rtlCol="0" anchor="ctr"/>
          <a:lstStyle/>
          <a:p>
            <a:pPr algn="l" indent="0" marL="0">
              <a:buNone/>
            </a:pPr>
            <a:r>
              <a:rPr lang="en-US" sz="1500" i="1" dirty="0">
                <a:solidFill>
                  <a:schemeClr val="accent2"/>
                </a:solidFill>
                <a:latin typeface="Calibri" pitchFamily="34" charset="0"/>
                <a:ea typeface="Calibri" pitchFamily="34" charset="-122"/>
                <a:cs typeface="Calibri" pitchFamily="34" charset="-120"/>
              </a:rPr>
              <a:t>SERS + machine learning separates the two vesicle types without labels</a:t>
            </a:r>
            <a:endParaRPr lang="en-US" sz="1500" dirty="0"/>
          </a:p>
        </p:txBody>
      </p:sp>
      <p:sp>
        <p:nvSpPr>
          <p:cNvPr id="6" name="Status pill"/>
          <p:cNvSpPr/>
          <p:nvPr/>
        </p:nvSpPr>
        <p:spPr>
          <a:xfrm>
            <a:off x="10177272" y="109728"/>
            <a:ext cx="1463040" cy="329184"/>
          </a:xfrm>
          <a:prstGeom prst="roundRect">
            <a:avLst>
              <a:gd name="adj" fmla="val 50000"/>
            </a:avLst>
          </a:prstGeom>
          <a:solidFill>
            <a:schemeClr val="accent4">
              <a:alpha val="90000"/>
            </a:schemeClr>
          </a:solidFill>
          <a:ln/>
        </p:spPr>
      </p:sp>
      <p:sp>
        <p:nvSpPr>
          <p:cNvPr id="7" name="Text 4"/>
          <p:cNvSpPr txBox="1"/>
          <p:nvPr/>
        </p:nvSpPr>
        <p:spPr>
          <a:xfrm>
            <a:off x="10177272" y="109728"/>
            <a:ext cx="1463040" cy="329184"/>
          </a:xfrm>
          <a:prstGeom prst="rect">
            <a:avLst/>
          </a:prstGeom>
          <a:noFill/>
          <a:ln/>
        </p:spPr>
        <p:txBody>
          <a:bodyPr wrap="square" lIns="0" tIns="0" rIns="0" bIns="0" rtlCol="0" anchor="ctr"/>
          <a:lstStyle/>
          <a:p>
            <a:pPr algn="ctr" indent="0" marL="0">
              <a:buNone/>
            </a:pPr>
            <a:r>
              <a:rPr lang="en-US" sz="1100" b="1" spc="100" kern="0" dirty="0">
                <a:solidFill>
                  <a:schemeClr val="tx1"/>
                </a:solidFill>
              </a:rPr>
              <a:t>UNPUBLISHED</a:t>
            </a:r>
            <a:endParaRPr lang="en-US" sz="1100" dirty="0"/>
          </a:p>
        </p:txBody>
      </p:sp>
      <p:sp>
        <p:nvSpPr>
          <p:cNvPr id="8" name="Mean spectra card"/>
          <p:cNvSpPr/>
          <p:nvPr/>
        </p:nvSpPr>
        <p:spPr>
          <a:xfrm>
            <a:off x="548640" y="1600200"/>
            <a:ext cx="5989320" cy="3291840"/>
          </a:xfrm>
          <a:prstGeom prst="roundRect">
            <a:avLst>
              <a:gd name="adj" fmla="val 3333"/>
            </a:avLst>
          </a:prstGeom>
          <a:solidFill>
            <a:schemeClr val="bg1"/>
          </a:solidFill>
          <a:ln/>
          <a:effectLst>
            <a:outerShdw sx="100000" sy="100000" kx="0" ky="0" algn="bl" rotWithShape="0" blurRad="152400" dist="38100" dir="5400000">
              <a:srgbClr val="000000">
                <a:alpha val="45000"/>
              </a:srgbClr>
            </a:outerShdw>
          </a:effectLst>
        </p:spPr>
      </p:sp>
      <p:pic>
        <p:nvPicPr>
          <p:cNvPr id="9" name="Mean spectra" descr="Mean ± SD SERS spectra of EV and NV Acacia, fingerprint region">    </p:cNvPr>
          <p:cNvPicPr>
            <a:picLocks noChangeAspect="1"/>
          </p:cNvPicPr>
          <p:nvPr/>
        </p:nvPicPr>
        <p:blipFill>
          <a:blip r:embed="rId2"/>
          <a:srcRect l="0" r="0" t="0" b="0"/>
          <a:stretch/>
        </p:blipFill>
        <p:spPr>
          <a:xfrm>
            <a:off x="731520" y="1737360"/>
            <a:ext cx="5623560" cy="3017520"/>
          </a:xfrm>
          <a:prstGeom prst="rect">
            <a:avLst/>
          </a:prstGeom>
        </p:spPr>
      </p:pic>
      <p:sp>
        <p:nvSpPr>
          <p:cNvPr id="10" name="PCA card"/>
          <p:cNvSpPr/>
          <p:nvPr/>
        </p:nvSpPr>
        <p:spPr>
          <a:xfrm>
            <a:off x="6766560" y="1600200"/>
            <a:ext cx="4873752" cy="3291840"/>
          </a:xfrm>
          <a:prstGeom prst="roundRect">
            <a:avLst>
              <a:gd name="adj" fmla="val 3333"/>
            </a:avLst>
          </a:prstGeom>
          <a:solidFill>
            <a:schemeClr val="bg1"/>
          </a:solidFill>
          <a:ln/>
          <a:effectLst>
            <a:outerShdw sx="100000" sy="100000" kx="0" ky="0" algn="bl" rotWithShape="0" blurRad="152400" dist="38100" dir="5400000">
              <a:srgbClr val="000000">
                <a:alpha val="45000"/>
              </a:srgbClr>
            </a:outerShdw>
          </a:effectLst>
        </p:spPr>
      </p:sp>
      <p:pic>
        <p:nvPicPr>
          <p:cNvPr id="11" name="PCA scores" descr="PCA scores of the C–H stretch region showing two clusters">    </p:cNvPr>
          <p:cNvPicPr>
            <a:picLocks noChangeAspect="1"/>
          </p:cNvPicPr>
          <p:nvPr/>
        </p:nvPicPr>
        <p:blipFill>
          <a:blip r:embed="rId3"/>
          <a:stretch>
            <a:fillRect/>
          </a:stretch>
        </p:blipFill>
        <p:spPr>
          <a:xfrm>
            <a:off x="7434072" y="1737360"/>
            <a:ext cx="3538728" cy="3017520"/>
          </a:xfrm>
          <a:prstGeom prst="rect">
            <a:avLst/>
          </a:prstGeom>
        </p:spPr>
      </p:pic>
      <p:sp>
        <p:nvSpPr>
          <p:cNvPr id="12" name="Finding 1"/>
          <p:cNvSpPr/>
          <p:nvPr/>
        </p:nvSpPr>
        <p:spPr>
          <a:xfrm>
            <a:off x="548640" y="5120640"/>
            <a:ext cx="3557016" cy="1005840"/>
          </a:xfrm>
          <a:prstGeom prst="roundRect">
            <a:avLst>
              <a:gd name="adj" fmla="val 10909"/>
            </a:avLst>
          </a:prstGeom>
          <a:solidFill>
            <a:schemeClr val="tx2">
              <a:alpha val="78000"/>
            </a:schemeClr>
          </a:solidFill>
          <a:ln w="9525">
            <a:solidFill>
              <a:schemeClr val="bg2">
                <a:alpha val="30000"/>
              </a:schemeClr>
            </a:solidFill>
            <a:prstDash val="solid"/>
          </a:ln>
        </p:spPr>
      </p:sp>
      <p:sp>
        <p:nvSpPr>
          <p:cNvPr id="13" name="Finding 1"/>
          <p:cNvSpPr/>
          <p:nvPr/>
        </p:nvSpPr>
        <p:spPr>
          <a:xfrm>
            <a:off x="731520" y="5303520"/>
            <a:ext cx="640080" cy="640080"/>
          </a:xfrm>
          <a:prstGeom prst="ellipse">
            <a:avLst/>
          </a:prstGeom>
          <a:solidFill>
            <a:schemeClr val="accent1">
              <a:alpha val="85000"/>
            </a:schemeClr>
          </a:solidFill>
          <a:ln/>
        </p:spPr>
      </p:sp>
      <p:pic>
        <p:nvPicPr>
          <p:cNvPr id="14" name="Finding 1 icon" descr="preencoded.png">    </p:cNvPr>
          <p:cNvPicPr>
            <a:picLocks noChangeAspect="1"/>
          </p:cNvPicPr>
          <p:nvPr/>
        </p:nvPicPr>
        <p:blipFill>
          <a:blip r:embed="rId4"/>
          <a:stretch>
            <a:fillRect/>
          </a:stretch>
        </p:blipFill>
        <p:spPr>
          <a:xfrm>
            <a:off x="897941" y="5469941"/>
            <a:ext cx="307238" cy="307238"/>
          </a:xfrm>
          <a:prstGeom prst="rect">
            <a:avLst/>
          </a:prstGeom>
        </p:spPr>
      </p:pic>
      <p:sp>
        <p:nvSpPr>
          <p:cNvPr id="15" name="Text 9"/>
          <p:cNvSpPr txBox="1"/>
          <p:nvPr/>
        </p:nvSpPr>
        <p:spPr>
          <a:xfrm>
            <a:off x="1508760" y="5193792"/>
            <a:ext cx="2468880" cy="320040"/>
          </a:xfrm>
          <a:prstGeom prst="rect">
            <a:avLst/>
          </a:prstGeom>
          <a:noFill/>
          <a:ln/>
        </p:spPr>
        <p:txBody>
          <a:bodyPr wrap="square" lIns="0" tIns="0" rIns="0" bIns="0" rtlCol="0" anchor="ctr"/>
          <a:lstStyle/>
          <a:p>
            <a:pPr indent="0" marL="0">
              <a:buNone/>
            </a:pPr>
            <a:r>
              <a:rPr lang="en-US" sz="1500" b="1" dirty="0">
                <a:solidFill>
                  <a:schemeClr val="bg1"/>
                </a:solidFill>
              </a:rPr>
              <a:t>Two distinct clusters</a:t>
            </a:r>
            <a:endParaRPr lang="en-US" sz="1500" dirty="0"/>
          </a:p>
        </p:txBody>
      </p:sp>
      <p:sp>
        <p:nvSpPr>
          <p:cNvPr id="16" name="Text 10"/>
          <p:cNvSpPr txBox="1"/>
          <p:nvPr/>
        </p:nvSpPr>
        <p:spPr>
          <a:xfrm>
            <a:off x="1508760" y="5513832"/>
            <a:ext cx="2468880" cy="548640"/>
          </a:xfrm>
          <a:prstGeom prst="rect">
            <a:avLst/>
          </a:prstGeom>
          <a:noFill/>
          <a:ln/>
        </p:spPr>
        <p:txBody>
          <a:bodyPr wrap="square" lIns="0" tIns="0" rIns="0" bIns="0" rtlCol="0" anchor="t"/>
          <a:lstStyle/>
          <a:p>
            <a:pPr indent="0" marL="0">
              <a:buNone/>
            </a:pPr>
            <a:r>
              <a:rPr lang="en-US" sz="1200" dirty="0">
                <a:solidFill>
                  <a:schemeClr val="bg2"/>
                </a:solidFill>
              </a:rPr>
              <a:t>EV and NV Acacia separate clearly in PCA</a:t>
            </a:r>
            <a:endParaRPr lang="en-US" sz="1200" dirty="0"/>
          </a:p>
        </p:txBody>
      </p:sp>
      <p:sp>
        <p:nvSpPr>
          <p:cNvPr id="17" name="Finding 2"/>
          <p:cNvSpPr/>
          <p:nvPr/>
        </p:nvSpPr>
        <p:spPr>
          <a:xfrm>
            <a:off x="4306824" y="5120640"/>
            <a:ext cx="3557016" cy="1005840"/>
          </a:xfrm>
          <a:prstGeom prst="roundRect">
            <a:avLst>
              <a:gd name="adj" fmla="val 10909"/>
            </a:avLst>
          </a:prstGeom>
          <a:solidFill>
            <a:schemeClr val="tx2">
              <a:alpha val="78000"/>
            </a:schemeClr>
          </a:solidFill>
          <a:ln w="9525">
            <a:solidFill>
              <a:schemeClr val="bg2">
                <a:alpha val="30000"/>
              </a:schemeClr>
            </a:solidFill>
            <a:prstDash val="solid"/>
          </a:ln>
        </p:spPr>
      </p:sp>
      <p:sp>
        <p:nvSpPr>
          <p:cNvPr id="18" name="Finding 2"/>
          <p:cNvSpPr/>
          <p:nvPr/>
        </p:nvSpPr>
        <p:spPr>
          <a:xfrm>
            <a:off x="4489704" y="5303520"/>
            <a:ext cx="640080" cy="640080"/>
          </a:xfrm>
          <a:prstGeom prst="ellipse">
            <a:avLst/>
          </a:prstGeom>
          <a:solidFill>
            <a:schemeClr val="accent3">
              <a:alpha val="85000"/>
            </a:schemeClr>
          </a:solidFill>
          <a:ln/>
        </p:spPr>
      </p:sp>
      <p:pic>
        <p:nvPicPr>
          <p:cNvPr id="19" name="Finding 2 icon" descr="preencoded.png">    </p:cNvPr>
          <p:cNvPicPr>
            <a:picLocks noChangeAspect="1"/>
          </p:cNvPicPr>
          <p:nvPr/>
        </p:nvPicPr>
        <p:blipFill>
          <a:blip r:embed="rId5"/>
          <a:stretch>
            <a:fillRect/>
          </a:stretch>
        </p:blipFill>
        <p:spPr>
          <a:xfrm>
            <a:off x="4656125" y="5469941"/>
            <a:ext cx="307238" cy="307238"/>
          </a:xfrm>
          <a:prstGeom prst="rect">
            <a:avLst/>
          </a:prstGeom>
        </p:spPr>
      </p:pic>
      <p:sp>
        <p:nvSpPr>
          <p:cNvPr id="20" name="Text 13"/>
          <p:cNvSpPr txBox="1"/>
          <p:nvPr/>
        </p:nvSpPr>
        <p:spPr>
          <a:xfrm>
            <a:off x="5266944" y="5193792"/>
            <a:ext cx="2468880" cy="320040"/>
          </a:xfrm>
          <a:prstGeom prst="rect">
            <a:avLst/>
          </a:prstGeom>
          <a:noFill/>
          <a:ln/>
        </p:spPr>
        <p:txBody>
          <a:bodyPr wrap="square" lIns="0" tIns="0" rIns="0" bIns="0" rtlCol="0" anchor="ctr"/>
          <a:lstStyle/>
          <a:p>
            <a:pPr indent="0" marL="0">
              <a:buNone/>
            </a:pPr>
            <a:r>
              <a:rPr lang="en-US" sz="1500" b="1" dirty="0">
                <a:solidFill>
                  <a:schemeClr val="bg1"/>
                </a:solidFill>
              </a:rPr>
              <a:t>Key bands differ</a:t>
            </a:r>
            <a:endParaRPr lang="en-US" sz="1500" dirty="0"/>
          </a:p>
        </p:txBody>
      </p:sp>
      <p:sp>
        <p:nvSpPr>
          <p:cNvPr id="21" name="Text 14"/>
          <p:cNvSpPr txBox="1"/>
          <p:nvPr/>
        </p:nvSpPr>
        <p:spPr>
          <a:xfrm>
            <a:off x="5266944" y="5513832"/>
            <a:ext cx="2468880" cy="548640"/>
          </a:xfrm>
          <a:prstGeom prst="rect">
            <a:avLst/>
          </a:prstGeom>
          <a:noFill/>
          <a:ln/>
        </p:spPr>
        <p:txBody>
          <a:bodyPr wrap="square" lIns="0" tIns="0" rIns="0" bIns="0" rtlCol="0" anchor="t"/>
          <a:lstStyle/>
          <a:p>
            <a:pPr indent="0" marL="0">
              <a:buNone/>
            </a:pPr>
            <a:r>
              <a:rPr lang="en-US" sz="1200" dirty="0">
                <a:solidFill>
                  <a:schemeClr val="bg2"/>
                </a:solidFill>
              </a:rPr>
              <a:t>Main spectral differences in the ~1380 and ~1600 cm⁻¹ bands</a:t>
            </a:r>
            <a:endParaRPr lang="en-US" sz="1200" dirty="0"/>
          </a:p>
        </p:txBody>
      </p:sp>
      <p:sp>
        <p:nvSpPr>
          <p:cNvPr id="22" name="Finding 3"/>
          <p:cNvSpPr/>
          <p:nvPr/>
        </p:nvSpPr>
        <p:spPr>
          <a:xfrm>
            <a:off x="8065008" y="5120640"/>
            <a:ext cx="3557016" cy="1005840"/>
          </a:xfrm>
          <a:prstGeom prst="roundRect">
            <a:avLst>
              <a:gd name="adj" fmla="val 10909"/>
            </a:avLst>
          </a:prstGeom>
          <a:solidFill>
            <a:schemeClr val="tx2">
              <a:alpha val="78000"/>
            </a:schemeClr>
          </a:solidFill>
          <a:ln w="9525">
            <a:solidFill>
              <a:schemeClr val="bg2">
                <a:alpha val="30000"/>
              </a:schemeClr>
            </a:solidFill>
            <a:prstDash val="solid"/>
          </a:ln>
        </p:spPr>
      </p:sp>
      <p:sp>
        <p:nvSpPr>
          <p:cNvPr id="23" name="Finding 3"/>
          <p:cNvSpPr/>
          <p:nvPr/>
        </p:nvSpPr>
        <p:spPr>
          <a:xfrm>
            <a:off x="8247888" y="5303520"/>
            <a:ext cx="640080" cy="640080"/>
          </a:xfrm>
          <a:prstGeom prst="ellipse">
            <a:avLst/>
          </a:prstGeom>
          <a:solidFill>
            <a:schemeClr val="accent1">
              <a:alpha val="85000"/>
            </a:schemeClr>
          </a:solidFill>
          <a:ln/>
        </p:spPr>
      </p:sp>
      <p:pic>
        <p:nvPicPr>
          <p:cNvPr id="24" name="Finding 3 icon" descr="preencoded.png">    </p:cNvPr>
          <p:cNvPicPr>
            <a:picLocks noChangeAspect="1"/>
          </p:cNvPicPr>
          <p:nvPr/>
        </p:nvPicPr>
        <p:blipFill>
          <a:blip r:embed="rId6"/>
          <a:stretch>
            <a:fillRect/>
          </a:stretch>
        </p:blipFill>
        <p:spPr>
          <a:xfrm>
            <a:off x="8414309" y="5469941"/>
            <a:ext cx="307238" cy="307238"/>
          </a:xfrm>
          <a:prstGeom prst="rect">
            <a:avLst/>
          </a:prstGeom>
        </p:spPr>
      </p:pic>
      <p:sp>
        <p:nvSpPr>
          <p:cNvPr id="25" name="Text 17"/>
          <p:cNvSpPr txBox="1"/>
          <p:nvPr/>
        </p:nvSpPr>
        <p:spPr>
          <a:xfrm>
            <a:off x="9025128" y="5193792"/>
            <a:ext cx="2468880" cy="320040"/>
          </a:xfrm>
          <a:prstGeom prst="rect">
            <a:avLst/>
          </a:prstGeom>
          <a:noFill/>
          <a:ln/>
        </p:spPr>
        <p:txBody>
          <a:bodyPr wrap="square" lIns="0" tIns="0" rIns="0" bIns="0" rtlCol="0" anchor="ctr"/>
          <a:lstStyle/>
          <a:p>
            <a:pPr indent="0" marL="0">
              <a:buNone/>
            </a:pPr>
            <a:r>
              <a:rPr lang="en-US" sz="1500" b="1" dirty="0">
                <a:solidFill>
                  <a:schemeClr val="bg1"/>
                </a:solidFill>
              </a:rPr>
              <a:t>Label-free</a:t>
            </a:r>
            <a:endParaRPr lang="en-US" sz="1500" dirty="0"/>
          </a:p>
        </p:txBody>
      </p:sp>
      <p:sp>
        <p:nvSpPr>
          <p:cNvPr id="26" name="Text 18"/>
          <p:cNvSpPr txBox="1"/>
          <p:nvPr/>
        </p:nvSpPr>
        <p:spPr>
          <a:xfrm>
            <a:off x="9025128" y="5513832"/>
            <a:ext cx="2468880" cy="548640"/>
          </a:xfrm>
          <a:prstGeom prst="rect">
            <a:avLst/>
          </a:prstGeom>
          <a:noFill/>
          <a:ln/>
        </p:spPr>
        <p:txBody>
          <a:bodyPr wrap="square" lIns="0" tIns="0" rIns="0" bIns="0" rtlCol="0" anchor="t"/>
          <a:lstStyle/>
          <a:p>
            <a:pPr indent="0" marL="0">
              <a:buNone/>
            </a:pPr>
            <a:r>
              <a:rPr lang="en-US" sz="1200" dirty="0">
                <a:solidFill>
                  <a:schemeClr val="bg2"/>
                </a:solidFill>
              </a:rPr>
              <a:t>SERS + ML separates vesicle types without any labels</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9C3EC"/>
                </a:solidFill>
              </a:defRPr>
            </a:lvl1pPr>
          </a:lstStyle>
          <a:p>
            <a:pPr algn="r"/>
            <a:fld id="{F7021451-1387-4CA6-816F-3879F97B5CBC}" type="slidenum">
              <a:rPr b="0" lang="en-US"/>
              <a:t>8</a:t>
            </a:fld>
            <a:endParaRPr lang="en-US"/>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Animated background" descr="Animated background: glowing molecular network and Raman spectra">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914400" y="1417320"/>
            <a:ext cx="2743200" cy="1371600"/>
          </a:xfrm>
          <a:prstGeom prst="rect">
            <a:avLst/>
          </a:prstGeom>
          <a:noFill/>
          <a:ln/>
        </p:spPr>
        <p:txBody>
          <a:bodyPr wrap="square" lIns="0" tIns="0" rIns="0" bIns="0" rtlCol="0" anchor="ctr"/>
          <a:lstStyle/>
          <a:p>
            <a:pPr indent="0" marL="0">
              <a:buNone/>
            </a:pPr>
            <a:r>
              <a:rPr lang="en-US" sz="9600" b="1" dirty="0">
                <a:solidFill>
                  <a:schemeClr val="accent1">
                    <a:alpha val="90000"/>
                  </a:schemeClr>
                </a:solidFill>
                <a:latin typeface="Cambria" pitchFamily="34" charset="0"/>
                <a:ea typeface="Cambria" pitchFamily="34" charset="-122"/>
                <a:cs typeface="Cambria" pitchFamily="34" charset="-120"/>
              </a:rPr>
              <a:t>02</a:t>
            </a:r>
            <a:endParaRPr lang="en-US" sz="9600" dirty="0"/>
          </a:p>
        </p:txBody>
      </p:sp>
      <p:sp>
        <p:nvSpPr>
          <p:cNvPr id="4" name="Text 0"/>
          <p:cNvSpPr/>
          <p:nvPr>
            <p:ph idx="100" type="title" hasCustomPrompt="1"/>
          </p:nvPr>
        </p:nvSpPr>
        <p:spPr>
          <a:xfrm>
            <a:off x="914400" y="2880360"/>
            <a:ext cx="10332720" cy="1005840"/>
          </a:xfrm>
          <a:prstGeom prst="rect">
            <a:avLst/>
          </a:prstGeom>
          <a:noFill/>
          <a:ln/>
        </p:spPr>
        <p:txBody>
          <a:bodyPr wrap="square" lIns="0" tIns="0" rIns="0" bIns="0" rtlCol="0" anchor="ctr"/>
          <a:lstStyle/>
          <a:p>
            <a:pPr algn="l" indent="0" marL="0">
              <a:buNone/>
            </a:pPr>
            <a:r>
              <a:rPr lang="en-US" sz="4800" b="1" dirty="0">
                <a:solidFill>
                  <a:schemeClr val="bg1"/>
                </a:solidFill>
                <a:latin typeface="Cambria" pitchFamily="34" charset="0"/>
                <a:ea typeface="Cambria" pitchFamily="34" charset="-122"/>
                <a:cs typeface="Cambria" pitchFamily="34" charset="-120"/>
              </a:rPr>
              <a:t>Training Activities</a:t>
            </a:r>
            <a:endParaRPr lang="en-US" sz="4800" dirty="0"/>
          </a:p>
        </p:txBody>
      </p:sp>
      <p:sp>
        <p:nvSpPr>
          <p:cNvPr id="5" name="Text 0"/>
          <p:cNvSpPr/>
          <p:nvPr>
            <p:ph idx="101" type="body" hasCustomPrompt="1"/>
          </p:nvPr>
        </p:nvSpPr>
        <p:spPr>
          <a:xfrm>
            <a:off x="914400" y="3977640"/>
            <a:ext cx="10332720" cy="822960"/>
          </a:xfrm>
          <a:prstGeom prst="rect">
            <a:avLst/>
          </a:prstGeom>
          <a:noFill/>
          <a:ln/>
        </p:spPr>
        <p:txBody>
          <a:bodyPr wrap="square" lIns="0" tIns="0" rIns="0" bIns="0" rtlCol="0" anchor="t"/>
          <a:lstStyle/>
          <a:p>
            <a:pPr algn="l" indent="0" marL="0">
              <a:buNone/>
            </a:pPr>
            <a:r>
              <a:rPr lang="en-US" sz="2000" dirty="0">
                <a:solidFill>
                  <a:schemeClr val="accent2"/>
                </a:solidFill>
                <a:latin typeface="Calibri" pitchFamily="34" charset="0"/>
                <a:ea typeface="Calibri" pitchFamily="34" charset="-122"/>
                <a:cs typeface="Calibri" pitchFamily="34" charset="-120"/>
              </a:rPr>
              <a:t>Mini-courses, seminars &amp; an international conference</a:t>
            </a:r>
            <a:endParaRPr lang="en-US" sz="2000" dirty="0"/>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Animated background" descr="Animated background: glowing molecular network and Raman spectra">    </p:cNvPr>
          <p:cNvPicPr>
            <a:picLocks noChangeAspect="1"/>
          </p:cNvPicPr>
          <p:nvPr/>
        </p:nvPicPr>
        <p:blipFill>
          <a:blip r:embed="rId1"/>
          <a:stretch>
            <a:fillRect/>
          </a:stretch>
        </p:blipFill>
        <p:spPr>
          <a:xfrm>
            <a:off x="0" y="0"/>
            <a:ext cx="12191695" cy="6858000"/>
          </a:xfrm>
          <a:prstGeom prst="rect">
            <a:avLst/>
          </a:prstGeom>
        </p:spPr>
      </p:pic>
      <p:sp>
        <p:nvSpPr>
          <p:cNvPr id="3" name="Footer"/>
          <p:cNvSpPr txBox="1"/>
          <p:nvPr/>
        </p:nvSpPr>
        <p:spPr>
          <a:xfrm>
            <a:off x="548640" y="6400800"/>
            <a:ext cx="7315200" cy="274320"/>
          </a:xfrm>
          <a:prstGeom prst="rect">
            <a:avLst/>
          </a:prstGeom>
          <a:noFill/>
          <a:ln/>
        </p:spPr>
        <p:txBody>
          <a:bodyPr wrap="square" lIns="0" tIns="0" rIns="0" bIns="0" rtlCol="0" anchor="t"/>
          <a:lstStyle/>
          <a:p>
            <a:pPr indent="0" marL="0">
              <a:buNone/>
            </a:pPr>
            <a:r>
              <a:rPr lang="en-US" sz="1000" dirty="0">
                <a:solidFill>
                  <a:schemeClr val="bg2"/>
                </a:solidFill>
              </a:rPr>
              <a:t>Hira Aman  ·  Activity of Research and Training 2025–2026</a:t>
            </a:r>
            <a:endParaRPr lang="en-US" sz="1000" dirty="0"/>
          </a:p>
        </p:txBody>
      </p:sp>
      <p:sp>
        <p:nvSpPr>
          <p:cNvPr id="4"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Mini-courses &amp; Seminars</a:t>
            </a:r>
            <a:endParaRPr lang="en-US" sz="3000" dirty="0"/>
          </a:p>
        </p:txBody>
      </p:sp>
      <p:sp>
        <p:nvSpPr>
          <p:cNvPr id="5" name="Text 0"/>
          <p:cNvSpPr/>
          <p:nvPr>
            <p:ph idx="101" type="body" hasCustomPrompt="1"/>
          </p:nvPr>
        </p:nvSpPr>
        <p:spPr>
          <a:xfrm>
            <a:off x="548640" y="960120"/>
            <a:ext cx="11064240" cy="365760"/>
          </a:xfrm>
          <a:prstGeom prst="rect">
            <a:avLst/>
          </a:prstGeom>
          <a:noFill/>
          <a:ln/>
        </p:spPr>
        <p:txBody>
          <a:bodyPr wrap="square" lIns="0" tIns="0" rIns="0" bIns="0" rtlCol="0" anchor="ctr"/>
          <a:lstStyle/>
          <a:p>
            <a:pPr algn="l" indent="0" marL="0">
              <a:buNone/>
            </a:pPr>
            <a:r>
              <a:rPr lang="en-US" sz="1500" i="1" dirty="0">
                <a:solidFill>
                  <a:schemeClr val="accent2"/>
                </a:solidFill>
                <a:latin typeface="Calibri" pitchFamily="34" charset="0"/>
                <a:ea typeface="Calibri" pitchFamily="34" charset="-122"/>
                <a:cs typeface="Calibri" pitchFamily="34" charset="-120"/>
              </a:rPr>
              <a:t>PhD Programme in Information Engineering – 41st Cycle · DIIES</a:t>
            </a:r>
            <a:endParaRPr lang="en-US" sz="1500" dirty="0"/>
          </a:p>
        </p:txBody>
      </p:sp>
      <p:sp>
        <p:nvSpPr>
          <p:cNvPr id="6" name="Mini-courses card"/>
          <p:cNvSpPr/>
          <p:nvPr/>
        </p:nvSpPr>
        <p:spPr>
          <a:xfrm>
            <a:off x="548640" y="1600200"/>
            <a:ext cx="4160520" cy="4526280"/>
          </a:xfrm>
          <a:prstGeom prst="roundRect">
            <a:avLst>
              <a:gd name="adj" fmla="val 2637"/>
            </a:avLst>
          </a:prstGeom>
          <a:solidFill>
            <a:schemeClr val="tx2">
              <a:alpha val="78000"/>
            </a:schemeClr>
          </a:solidFill>
          <a:ln w="9525">
            <a:solidFill>
              <a:schemeClr val="bg2">
                <a:alpha val="30000"/>
              </a:schemeClr>
            </a:solidFill>
            <a:prstDash val="solid"/>
          </a:ln>
        </p:spPr>
      </p:sp>
      <p:sp>
        <p:nvSpPr>
          <p:cNvPr id="7" name="Step 1 badge"/>
          <p:cNvSpPr/>
          <p:nvPr/>
        </p:nvSpPr>
        <p:spPr>
          <a:xfrm>
            <a:off x="777240" y="1783080"/>
            <a:ext cx="384048" cy="384048"/>
          </a:xfrm>
          <a:prstGeom prst="ellipse">
            <a:avLst/>
          </a:prstGeom>
          <a:solidFill>
            <a:schemeClr val="accent1"/>
          </a:solidFill>
          <a:ln/>
        </p:spPr>
      </p:sp>
      <p:sp>
        <p:nvSpPr>
          <p:cNvPr id="8" name="Text 5"/>
          <p:cNvSpPr txBox="1"/>
          <p:nvPr/>
        </p:nvSpPr>
        <p:spPr>
          <a:xfrm>
            <a:off x="777240" y="17830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1261872" y="1783080"/>
            <a:ext cx="1737360" cy="384048"/>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Mini-courses</a:t>
            </a:r>
            <a:endParaRPr lang="en-US" sz="1800" dirty="0"/>
          </a:p>
        </p:txBody>
      </p:sp>
      <p:sp>
        <p:nvSpPr>
          <p:cNvPr id="10" name="CFU pill"/>
          <p:cNvSpPr/>
          <p:nvPr/>
        </p:nvSpPr>
        <p:spPr>
          <a:xfrm>
            <a:off x="2971800" y="1810512"/>
            <a:ext cx="1554480" cy="329184"/>
          </a:xfrm>
          <a:prstGeom prst="roundRect">
            <a:avLst>
              <a:gd name="adj" fmla="val 50000"/>
            </a:avLst>
          </a:prstGeom>
          <a:solidFill>
            <a:schemeClr val="accent2">
              <a:alpha val="90000"/>
            </a:schemeClr>
          </a:solidFill>
          <a:ln/>
        </p:spPr>
      </p:sp>
      <p:sp>
        <p:nvSpPr>
          <p:cNvPr id="11" name="Text 8"/>
          <p:cNvSpPr txBox="1"/>
          <p:nvPr/>
        </p:nvSpPr>
        <p:spPr>
          <a:xfrm>
            <a:off x="2971800" y="1810512"/>
            <a:ext cx="1554480" cy="329184"/>
          </a:xfrm>
          <a:prstGeom prst="rect">
            <a:avLst/>
          </a:prstGeom>
          <a:noFill/>
          <a:ln/>
        </p:spPr>
        <p:txBody>
          <a:bodyPr wrap="square" lIns="0" tIns="0" rIns="0" bIns="0" rtlCol="0" anchor="ctr"/>
          <a:lstStyle/>
          <a:p>
            <a:pPr algn="ctr" indent="0" marL="0">
              <a:buNone/>
            </a:pPr>
            <a:r>
              <a:rPr lang="en-US" sz="1100" b="1" spc="100" kern="0" dirty="0">
                <a:solidFill>
                  <a:schemeClr val="tx1"/>
                </a:solidFill>
              </a:rPr>
              <a:t>8 h each · 10 CFU</a:t>
            </a:r>
            <a:endParaRPr lang="en-US" sz="1100" dirty="0"/>
          </a:p>
        </p:txBody>
      </p:sp>
      <p:sp>
        <p:nvSpPr>
          <p:cNvPr id="12" name="Text 9"/>
          <p:cNvSpPr txBox="1"/>
          <p:nvPr/>
        </p:nvSpPr>
        <p:spPr>
          <a:xfrm>
            <a:off x="777240" y="2377440"/>
            <a:ext cx="3749040" cy="420624"/>
          </a:xfrm>
          <a:prstGeom prst="rect">
            <a:avLst/>
          </a:prstGeom>
          <a:noFill/>
          <a:ln/>
        </p:spPr>
        <p:txBody>
          <a:bodyPr wrap="square" lIns="0" tIns="0" rIns="0" bIns="0" rtlCol="0" anchor="t"/>
          <a:lstStyle/>
          <a:p>
            <a:pPr indent="0" marL="0">
              <a:buNone/>
            </a:pPr>
            <a:r>
              <a:rPr lang="en-US" sz="1300" b="1" dirty="0">
                <a:solidFill>
                  <a:schemeClr val="bg1"/>
                </a:solidFill>
              </a:rPr>
              <a:t>Edge Machine Learning for Data Analysis on Low Computational Capacity Devices</a:t>
            </a:r>
            <a:endParaRPr lang="en-US" sz="1300" dirty="0"/>
          </a:p>
        </p:txBody>
      </p:sp>
      <p:sp>
        <p:nvSpPr>
          <p:cNvPr id="13" name="Text 10"/>
          <p:cNvSpPr txBox="1"/>
          <p:nvPr/>
        </p:nvSpPr>
        <p:spPr>
          <a:xfrm>
            <a:off x="777240" y="2807208"/>
            <a:ext cx="3749040" cy="201168"/>
          </a:xfrm>
          <a:prstGeom prst="rect">
            <a:avLst/>
          </a:prstGeom>
          <a:noFill/>
          <a:ln/>
        </p:spPr>
        <p:txBody>
          <a:bodyPr wrap="square" lIns="0" tIns="0" rIns="0" bIns="0" rtlCol="0" anchor="ctr"/>
          <a:lstStyle/>
          <a:p>
            <a:pPr indent="0" marL="0">
              <a:buNone/>
            </a:pPr>
            <a:r>
              <a:rPr lang="en-US" sz="1100" dirty="0">
                <a:solidFill>
                  <a:schemeClr val="accent2"/>
                </a:solidFill>
              </a:rPr>
              <a:t>Prof. Merenda</a:t>
            </a:r>
            <a:endParaRPr lang="en-US" sz="1100" dirty="0"/>
          </a:p>
        </p:txBody>
      </p:sp>
      <p:sp>
        <p:nvSpPr>
          <p:cNvPr id="14" name="Text 11"/>
          <p:cNvSpPr txBox="1"/>
          <p:nvPr/>
        </p:nvSpPr>
        <p:spPr>
          <a:xfrm>
            <a:off x="777240" y="3246120"/>
            <a:ext cx="3749040" cy="219456"/>
          </a:xfrm>
          <a:prstGeom prst="rect">
            <a:avLst/>
          </a:prstGeom>
          <a:noFill/>
          <a:ln/>
        </p:spPr>
        <p:txBody>
          <a:bodyPr wrap="square" lIns="0" tIns="0" rIns="0" bIns="0" rtlCol="0" anchor="t"/>
          <a:lstStyle/>
          <a:p>
            <a:pPr indent="0" marL="0">
              <a:buNone/>
            </a:pPr>
            <a:r>
              <a:rPr lang="en-US" sz="1300" b="1" dirty="0">
                <a:solidFill>
                  <a:schemeClr val="bg1"/>
                </a:solidFill>
              </a:rPr>
              <a:t>Ensuring Trustworthiness in Federated Learning</a:t>
            </a:r>
            <a:endParaRPr lang="en-US" sz="1300" dirty="0"/>
          </a:p>
        </p:txBody>
      </p:sp>
      <p:sp>
        <p:nvSpPr>
          <p:cNvPr id="15" name="Text 12"/>
          <p:cNvSpPr txBox="1"/>
          <p:nvPr/>
        </p:nvSpPr>
        <p:spPr>
          <a:xfrm>
            <a:off x="777240" y="3474720"/>
            <a:ext cx="3749040" cy="201168"/>
          </a:xfrm>
          <a:prstGeom prst="rect">
            <a:avLst/>
          </a:prstGeom>
          <a:noFill/>
          <a:ln/>
        </p:spPr>
        <p:txBody>
          <a:bodyPr wrap="square" lIns="0" tIns="0" rIns="0" bIns="0" rtlCol="0" anchor="ctr"/>
          <a:lstStyle/>
          <a:p>
            <a:pPr indent="0" marL="0">
              <a:buNone/>
            </a:pPr>
            <a:r>
              <a:rPr lang="en-US" sz="1100" dirty="0">
                <a:solidFill>
                  <a:schemeClr val="accent2"/>
                </a:solidFill>
              </a:rPr>
              <a:t>Prof. Fisichella</a:t>
            </a:r>
            <a:endParaRPr lang="en-US" sz="1100" dirty="0"/>
          </a:p>
        </p:txBody>
      </p:sp>
      <p:sp>
        <p:nvSpPr>
          <p:cNvPr id="16" name="Text 13"/>
          <p:cNvSpPr txBox="1"/>
          <p:nvPr/>
        </p:nvSpPr>
        <p:spPr>
          <a:xfrm>
            <a:off x="777240" y="3931920"/>
            <a:ext cx="3749040" cy="219456"/>
          </a:xfrm>
          <a:prstGeom prst="rect">
            <a:avLst/>
          </a:prstGeom>
          <a:noFill/>
          <a:ln/>
        </p:spPr>
        <p:txBody>
          <a:bodyPr wrap="square" lIns="0" tIns="0" rIns="0" bIns="0" rtlCol="0" anchor="t"/>
          <a:lstStyle/>
          <a:p>
            <a:pPr indent="0" marL="0">
              <a:buNone/>
            </a:pPr>
            <a:r>
              <a:rPr lang="en-US" sz="1300" b="1" dirty="0">
                <a:solidFill>
                  <a:schemeClr val="bg1"/>
                </a:solidFill>
              </a:rPr>
              <a:t>Digital Identity</a:t>
            </a:r>
            <a:endParaRPr lang="en-US" sz="1300" dirty="0"/>
          </a:p>
        </p:txBody>
      </p:sp>
      <p:sp>
        <p:nvSpPr>
          <p:cNvPr id="17" name="Text 14"/>
          <p:cNvSpPr txBox="1"/>
          <p:nvPr/>
        </p:nvSpPr>
        <p:spPr>
          <a:xfrm>
            <a:off x="777240" y="4160520"/>
            <a:ext cx="3749040" cy="201168"/>
          </a:xfrm>
          <a:prstGeom prst="rect">
            <a:avLst/>
          </a:prstGeom>
          <a:noFill/>
          <a:ln/>
        </p:spPr>
        <p:txBody>
          <a:bodyPr wrap="square" lIns="0" tIns="0" rIns="0" bIns="0" rtlCol="0" anchor="ctr"/>
          <a:lstStyle/>
          <a:p>
            <a:pPr indent="0" marL="0">
              <a:buNone/>
            </a:pPr>
            <a:r>
              <a:rPr lang="en-US" sz="1100" dirty="0">
                <a:solidFill>
                  <a:schemeClr val="accent2"/>
                </a:solidFill>
              </a:rPr>
              <a:t>Prof. Lax</a:t>
            </a:r>
            <a:endParaRPr lang="en-US" sz="1100" dirty="0"/>
          </a:p>
        </p:txBody>
      </p:sp>
      <p:sp>
        <p:nvSpPr>
          <p:cNvPr id="18" name="Text 15"/>
          <p:cNvSpPr txBox="1"/>
          <p:nvPr/>
        </p:nvSpPr>
        <p:spPr>
          <a:xfrm>
            <a:off x="777240" y="4617720"/>
            <a:ext cx="3749040" cy="219456"/>
          </a:xfrm>
          <a:prstGeom prst="rect">
            <a:avLst/>
          </a:prstGeom>
          <a:noFill/>
          <a:ln/>
        </p:spPr>
        <p:txBody>
          <a:bodyPr wrap="square" lIns="0" tIns="0" rIns="0" bIns="0" rtlCol="0" anchor="t"/>
          <a:lstStyle/>
          <a:p>
            <a:pPr indent="0" marL="0">
              <a:buNone/>
            </a:pPr>
            <a:r>
              <a:rPr lang="en-US" sz="1300" b="1" dirty="0">
                <a:solidFill>
                  <a:schemeClr val="bg1"/>
                </a:solidFill>
              </a:rPr>
              <a:t>Health Management</a:t>
            </a:r>
            <a:endParaRPr lang="en-US" sz="1300" dirty="0"/>
          </a:p>
        </p:txBody>
      </p:sp>
      <p:sp>
        <p:nvSpPr>
          <p:cNvPr id="19" name="Text 16"/>
          <p:cNvSpPr txBox="1"/>
          <p:nvPr/>
        </p:nvSpPr>
        <p:spPr>
          <a:xfrm>
            <a:off x="777240" y="4846320"/>
            <a:ext cx="3749040" cy="201168"/>
          </a:xfrm>
          <a:prstGeom prst="rect">
            <a:avLst/>
          </a:prstGeom>
          <a:noFill/>
          <a:ln/>
        </p:spPr>
        <p:txBody>
          <a:bodyPr wrap="square" lIns="0" tIns="0" rIns="0" bIns="0" rtlCol="0" anchor="ctr"/>
          <a:lstStyle/>
          <a:p>
            <a:pPr indent="0" marL="0">
              <a:buNone/>
            </a:pPr>
            <a:r>
              <a:rPr lang="en-US" sz="1100" dirty="0">
                <a:solidFill>
                  <a:schemeClr val="accent2"/>
                </a:solidFill>
              </a:rPr>
              <a:t>Prof. Romano</a:t>
            </a:r>
            <a:endParaRPr lang="en-US" sz="1100" dirty="0"/>
          </a:p>
        </p:txBody>
      </p:sp>
      <p:sp>
        <p:nvSpPr>
          <p:cNvPr id="20" name="Text 17"/>
          <p:cNvSpPr txBox="1"/>
          <p:nvPr/>
        </p:nvSpPr>
        <p:spPr>
          <a:xfrm>
            <a:off x="777240" y="5303520"/>
            <a:ext cx="3749040" cy="219456"/>
          </a:xfrm>
          <a:prstGeom prst="rect">
            <a:avLst/>
          </a:prstGeom>
          <a:noFill/>
          <a:ln/>
        </p:spPr>
        <p:txBody>
          <a:bodyPr wrap="square" lIns="0" tIns="0" rIns="0" bIns="0" rtlCol="0" anchor="t"/>
          <a:lstStyle/>
          <a:p>
            <a:pPr indent="0" marL="0">
              <a:buNone/>
            </a:pPr>
            <a:r>
              <a:rPr lang="en-US" sz="1300" b="1" dirty="0">
                <a:solidFill>
                  <a:schemeClr val="bg1"/>
                </a:solidFill>
              </a:rPr>
              <a:t>Foundations of Quantum Mechanics and Applications</a:t>
            </a:r>
            <a:endParaRPr lang="en-US" sz="1300" dirty="0"/>
          </a:p>
        </p:txBody>
      </p:sp>
      <p:sp>
        <p:nvSpPr>
          <p:cNvPr id="21" name="Text 18"/>
          <p:cNvSpPr txBox="1"/>
          <p:nvPr/>
        </p:nvSpPr>
        <p:spPr>
          <a:xfrm>
            <a:off x="777240" y="5532120"/>
            <a:ext cx="3749040" cy="201168"/>
          </a:xfrm>
          <a:prstGeom prst="rect">
            <a:avLst/>
          </a:prstGeom>
          <a:noFill/>
          <a:ln/>
        </p:spPr>
        <p:txBody>
          <a:bodyPr wrap="square" lIns="0" tIns="0" rIns="0" bIns="0" rtlCol="0" anchor="ctr"/>
          <a:lstStyle/>
          <a:p>
            <a:pPr indent="0" marL="0">
              <a:buNone/>
            </a:pPr>
            <a:r>
              <a:rPr lang="en-US" sz="1100" dirty="0">
                <a:solidFill>
                  <a:schemeClr val="accent2"/>
                </a:solidFill>
              </a:rPr>
              <a:t>Profs. Messina and Faggio</a:t>
            </a:r>
            <a:endParaRPr lang="en-US" sz="1100" dirty="0"/>
          </a:p>
        </p:txBody>
      </p:sp>
      <p:sp>
        <p:nvSpPr>
          <p:cNvPr id="22" name="Seminars card"/>
          <p:cNvSpPr/>
          <p:nvPr/>
        </p:nvSpPr>
        <p:spPr>
          <a:xfrm>
            <a:off x="4937760" y="1600200"/>
            <a:ext cx="6702552" cy="4526280"/>
          </a:xfrm>
          <a:prstGeom prst="roundRect">
            <a:avLst>
              <a:gd name="adj" fmla="val 2424"/>
            </a:avLst>
          </a:prstGeom>
          <a:solidFill>
            <a:schemeClr val="tx2">
              <a:alpha val="78000"/>
            </a:schemeClr>
          </a:solidFill>
          <a:ln w="9525">
            <a:solidFill>
              <a:schemeClr val="bg2">
                <a:alpha val="30000"/>
              </a:schemeClr>
            </a:solidFill>
            <a:prstDash val="solid"/>
          </a:ln>
        </p:spPr>
      </p:sp>
      <p:sp>
        <p:nvSpPr>
          <p:cNvPr id="23" name="Step 2 badge"/>
          <p:cNvSpPr/>
          <p:nvPr/>
        </p:nvSpPr>
        <p:spPr>
          <a:xfrm>
            <a:off x="5166360" y="1783080"/>
            <a:ext cx="384048" cy="384048"/>
          </a:xfrm>
          <a:prstGeom prst="ellipse">
            <a:avLst/>
          </a:prstGeom>
          <a:solidFill>
            <a:schemeClr val="accent1"/>
          </a:solidFill>
          <a:ln/>
        </p:spPr>
      </p:sp>
      <p:sp>
        <p:nvSpPr>
          <p:cNvPr id="24" name="Text 21"/>
          <p:cNvSpPr txBox="1"/>
          <p:nvPr/>
        </p:nvSpPr>
        <p:spPr>
          <a:xfrm>
            <a:off x="5166360" y="17830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5" name="Text 22"/>
          <p:cNvSpPr txBox="1"/>
          <p:nvPr/>
        </p:nvSpPr>
        <p:spPr>
          <a:xfrm>
            <a:off x="5650992" y="1783080"/>
            <a:ext cx="1828800" cy="384048"/>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Seminars</a:t>
            </a:r>
            <a:endParaRPr lang="en-US" sz="1800" dirty="0"/>
          </a:p>
        </p:txBody>
      </p:sp>
      <p:sp>
        <p:nvSpPr>
          <p:cNvPr id="26" name="CFU pill"/>
          <p:cNvSpPr/>
          <p:nvPr/>
        </p:nvSpPr>
        <p:spPr>
          <a:xfrm>
            <a:off x="6903720" y="1810512"/>
            <a:ext cx="822960" cy="329184"/>
          </a:xfrm>
          <a:prstGeom prst="roundRect">
            <a:avLst>
              <a:gd name="adj" fmla="val 50000"/>
            </a:avLst>
          </a:prstGeom>
          <a:solidFill>
            <a:schemeClr val="accent2">
              <a:alpha val="90000"/>
            </a:schemeClr>
          </a:solidFill>
          <a:ln/>
        </p:spPr>
      </p:sp>
      <p:sp>
        <p:nvSpPr>
          <p:cNvPr id="27" name="Text 24"/>
          <p:cNvSpPr txBox="1"/>
          <p:nvPr/>
        </p:nvSpPr>
        <p:spPr>
          <a:xfrm>
            <a:off x="6903720" y="1810512"/>
            <a:ext cx="822960" cy="329184"/>
          </a:xfrm>
          <a:prstGeom prst="rect">
            <a:avLst/>
          </a:prstGeom>
          <a:noFill/>
          <a:ln/>
        </p:spPr>
        <p:txBody>
          <a:bodyPr wrap="square" lIns="0" tIns="0" rIns="0" bIns="0" rtlCol="0" anchor="ctr"/>
          <a:lstStyle/>
          <a:p>
            <a:pPr algn="ctr" indent="0" marL="0">
              <a:buNone/>
            </a:pPr>
            <a:r>
              <a:rPr lang="en-US" sz="1100" b="1" spc="100" kern="0" dirty="0">
                <a:solidFill>
                  <a:schemeClr val="tx1"/>
                </a:solidFill>
              </a:rPr>
              <a:t>5 CFU</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120640" y="2331720"/>
          <a:ext cx="6336792" cy="914400"/>
        </p:xfrm>
        <a:graphic>
          <a:graphicData uri="http://schemas.openxmlformats.org/drawingml/2006/table">
            <a:tbl>
              <a:tblPr/>
              <a:tblGrid>
                <a:gridCol w="3520440"/>
                <a:gridCol w="2221992"/>
                <a:gridCol w="594360"/>
              </a:tblGrid>
              <a:tr h="274320">
                <a:tc>
                  <a:txBody>
                    <a:bodyPr/>
                    <a:lstStyle/>
                    <a:p>
                      <a:pPr indent="0" marL="0">
                        <a:buNone/>
                      </a:pPr>
                      <a:r>
                        <a:rPr lang="en-US" sz="1200" b="1" dirty="0">
                          <a:solidFill>
                            <a:srgbClr val="FFFFFF"/>
                          </a:solidFill>
                        </a:rPr>
                        <a:t>Seminar</a:t>
                      </a:r>
                      <a:endParaRPr lang="en-US" sz="1200" dirty="0"/>
                    </a:p>
                  </a:txBody>
                  <a:tcPr marL="73152" marR="73152" marT="36576" marB="36576" anchor="ctr">
                    <a:lnL w="6350" cap="flat" cmpd="sng" algn="ctr">
                      <a:solidFill>
                        <a:srgbClr val="3B3470"/>
                      </a:solidFill>
                      <a:prstDash val="solid"/>
                      <a:round/>
                      <a:headEnd type="none" w="med" len="med"/>
                      <a:tailEnd type="none" w="med" len="med"/>
                    </a:lnL>
                    <a:lnR w="6350" cap="flat" cmpd="sng" algn="ctr">
                      <a:solidFill>
                        <a:srgbClr val="3B3470"/>
                      </a:solidFill>
                      <a:prstDash val="solid"/>
                      <a:round/>
                      <a:headEnd type="none" w="med" len="med"/>
                      <a:tailEnd type="none" w="med" len="med"/>
                    </a:lnR>
                    <a:lnT w="6350" cap="flat" cmpd="sng" algn="ctr">
                      <a:solidFill>
                        <a:srgbClr val="3B3470"/>
                      </a:solidFill>
                      <a:prstDash val="solid"/>
                      <a:round/>
                      <a:headEnd type="none" w="med" len="med"/>
                      <a:tailEnd type="none" w="med" len="med"/>
                    </a:lnT>
                    <a:lnB w="6350" cap="flat" cmpd="sng" algn="ctr">
                      <a:solidFill>
                        <a:srgbClr val="3B3470"/>
                      </a:solidFill>
                      <a:prstDash val="solid"/>
                      <a:round/>
                      <a:headEnd type="none" w="med" len="med"/>
                      <a:tailEnd type="none" w="med" len="med"/>
                    </a:lnB>
                    <a:solidFill>
                      <a:srgbClr val="8B5CF6"/>
                    </a:solidFill>
                  </a:tcPr>
                </a:tc>
                <a:tc>
                  <a:txBody>
                    <a:bodyPr/>
                    <a:lstStyle/>
                    <a:p>
                      <a:pPr indent="0" marL="0">
                        <a:buNone/>
                      </a:pPr>
                      <a:r>
                        <a:rPr lang="en-US" sz="1200" b="1" dirty="0">
                          <a:solidFill>
                            <a:srgbClr val="FFFFFF"/>
                          </a:solidFill>
                        </a:rPr>
                        <a:t>Instructor(s)</a:t>
                      </a:r>
                      <a:endParaRPr lang="en-US" sz="1200" dirty="0"/>
                    </a:p>
                  </a:txBody>
                  <a:tcPr marL="73152" marR="73152" marT="36576" marB="36576" anchor="ctr">
                    <a:lnL w="6350" cap="flat" cmpd="sng" algn="ctr">
                      <a:solidFill>
                        <a:srgbClr val="3B3470"/>
                      </a:solidFill>
                      <a:prstDash val="solid"/>
                      <a:round/>
                      <a:headEnd type="none" w="med" len="med"/>
                      <a:tailEnd type="none" w="med" len="med"/>
                    </a:lnL>
                    <a:lnR w="6350" cap="flat" cmpd="sng" algn="ctr">
                      <a:solidFill>
                        <a:srgbClr val="3B3470"/>
                      </a:solidFill>
                      <a:prstDash val="solid"/>
                      <a:round/>
                      <a:headEnd type="none" w="med" len="med"/>
                      <a:tailEnd type="none" w="med" len="med"/>
                    </a:lnR>
                    <a:lnT w="6350" cap="flat" cmpd="sng" algn="ctr">
                      <a:solidFill>
                        <a:srgbClr val="3B3470"/>
                      </a:solidFill>
                      <a:prstDash val="solid"/>
                      <a:round/>
                      <a:headEnd type="none" w="med" len="med"/>
                      <a:tailEnd type="none" w="med" len="med"/>
                    </a:lnT>
                    <a:lnB w="6350" cap="flat" cmpd="sng" algn="ctr">
                      <a:solidFill>
                        <a:srgbClr val="3B3470"/>
                      </a:solidFill>
                      <a:prstDash val="solid"/>
                      <a:round/>
                      <a:headEnd type="none" w="med" len="med"/>
                      <a:tailEnd type="none" w="med" len="med"/>
                    </a:lnB>
                    <a:solidFill>
                      <a:srgbClr val="8B5CF6"/>
                    </a:solidFill>
                  </a:tcPr>
                </a:tc>
                <a:tc>
                  <a:txBody>
                    <a:bodyPr/>
                    <a:lstStyle/>
                    <a:p>
                      <a:pPr indent="0" marL="0">
                        <a:buNone/>
                      </a:pPr>
                      <a:r>
                        <a:rPr lang="en-US" sz="1200" b="1" dirty="0">
                          <a:solidFill>
                            <a:srgbClr val="FFFFFF"/>
                          </a:solidFill>
                        </a:rPr>
                        <a:t>Hours</a:t>
                      </a:r>
                      <a:endParaRPr lang="en-US" sz="1200" dirty="0"/>
                    </a:p>
                  </a:txBody>
                  <a:tcPr marL="73152" marR="73152" marT="36576" marB="36576" anchor="ctr">
                    <a:lnL w="6350" cap="flat" cmpd="sng" algn="ctr">
                      <a:solidFill>
                        <a:srgbClr val="3B3470"/>
                      </a:solidFill>
                      <a:prstDash val="solid"/>
                      <a:round/>
                      <a:headEnd type="none" w="med" len="med"/>
                      <a:tailEnd type="none" w="med" len="med"/>
                    </a:lnL>
                    <a:lnR w="6350" cap="flat" cmpd="sng" algn="ctr">
                      <a:solidFill>
                        <a:srgbClr val="3B3470"/>
                      </a:solidFill>
                      <a:prstDash val="solid"/>
                      <a:round/>
                      <a:headEnd type="none" w="med" len="med"/>
                      <a:tailEnd type="none" w="med" len="med"/>
                    </a:lnR>
                    <a:lnT w="6350" cap="flat" cmpd="sng" algn="ctr">
                      <a:solidFill>
                        <a:srgbClr val="3B3470"/>
                      </a:solidFill>
                      <a:prstDash val="solid"/>
                      <a:round/>
                      <a:headEnd type="none" w="med" len="med"/>
                      <a:tailEnd type="none" w="med" len="med"/>
                    </a:lnT>
                    <a:lnB w="6350" cap="flat" cmpd="sng" algn="ctr">
                      <a:solidFill>
                        <a:srgbClr val="3B3470"/>
                      </a:solidFill>
                      <a:prstDash val="solid"/>
                      <a:round/>
                      <a:headEnd type="none" w="med" len="med"/>
                      <a:tailEnd type="none" w="med" len="med"/>
                    </a:lnB>
                    <a:solidFill>
                      <a:srgbClr val="8B5CF6"/>
                    </a:solidFill>
                  </a:tcPr>
                </a:tc>
              </a:tr>
              <a:tr h="274320">
                <a:tc>
                  <a:txBody>
                    <a:bodyPr/>
                    <a:lstStyle/>
                    <a:p>
                      <a:pPr indent="0" marL="0">
                        <a:buNone/>
                      </a:pPr>
                      <a:r>
                        <a:rPr lang="en-US" sz="1200" b="1" dirty="0">
                          <a:solidFill>
                            <a:srgbClr val="FFFFFF"/>
                          </a:solidFill>
                        </a:rPr>
                        <a:t>Some Results for Electromagnetic Design and Retrieval Problems</a:t>
                      </a:r>
                      <a:endParaRPr lang="en-US" sz="1200" dirty="0"/>
                    </a:p>
                  </a:txBody>
                  <a:tcPr marL="73152" marR="73152" marT="36576" marB="36576" anchor="ctr">
                    <a:lnL w="6350" cap="flat" cmpd="sng" algn="ctr">
                      <a:solidFill>
                        <a:srgbClr val="3B3470"/>
                      </a:solidFill>
                      <a:prstDash val="solid"/>
                      <a:round/>
                      <a:headEnd type="none" w="med" len="med"/>
                      <a:tailEnd type="none" w="med" len="med"/>
                    </a:lnL>
                    <a:lnR w="6350" cap="flat" cmpd="sng" algn="ctr">
                      <a:solidFill>
                        <a:srgbClr val="3B3470"/>
                      </a:solidFill>
                      <a:prstDash val="solid"/>
                      <a:round/>
                      <a:headEnd type="none" w="med" len="med"/>
                      <a:tailEnd type="none" w="med" len="med"/>
                    </a:lnR>
                    <a:lnT w="6350" cap="flat" cmpd="sng" algn="ctr">
                      <a:solidFill>
                        <a:srgbClr val="3B3470"/>
                      </a:solidFill>
                      <a:prstDash val="solid"/>
                      <a:round/>
                      <a:headEnd type="none" w="med" len="med"/>
                      <a:tailEnd type="none" w="med" len="med"/>
                    </a:lnT>
                    <a:lnB w="6350" cap="flat" cmpd="sng" algn="ctr">
                      <a:solidFill>
                        <a:srgbClr val="3B3470"/>
                      </a:solidFill>
                      <a:prstDash val="solid"/>
                      <a:round/>
                      <a:headEnd type="none" w="med" len="med"/>
                      <a:tailEnd type="none" w="med" len="med"/>
                    </a:lnB>
                    <a:solidFill>
                      <a:srgbClr val="16123A"/>
                    </a:solidFill>
                  </a:tcPr>
                </a:tc>
                <a:tc>
                  <a:txBody>
                    <a:bodyPr/>
                    <a:lstStyle/>
                    <a:p>
                      <a:pPr indent="0" marL="0">
                        <a:buNone/>
                      </a:pPr>
                      <a:r>
                        <a:rPr lang="en-US" sz="1200" dirty="0">
                          <a:solidFill>
                            <a:srgbClr val="FFFFFF"/>
                          </a:solidFill>
                        </a:rPr>
                        <a:t>Prof. Mats Gustafsson</a:t>
                      </a:r>
                      <a:endParaRPr lang="en-US" sz="1200" dirty="0"/>
                    </a:p>
                  </a:txBody>
                  <a:tcPr marL="73152" marR="73152" marT="36576" marB="36576" anchor="ctr">
                    <a:lnL w="6350" cap="flat" cmpd="sng" algn="ctr">
                      <a:solidFill>
                        <a:srgbClr val="3B3470"/>
                      </a:solidFill>
                      <a:prstDash val="solid"/>
                      <a:round/>
                      <a:headEnd type="none" w="med" len="med"/>
                      <a:tailEnd type="none" w="med" len="med"/>
                    </a:lnL>
                    <a:lnR w="6350" cap="flat" cmpd="sng" algn="ctr">
                      <a:solidFill>
                        <a:srgbClr val="3B3470"/>
                      </a:solidFill>
                      <a:prstDash val="solid"/>
                      <a:round/>
                      <a:headEnd type="none" w="med" len="med"/>
                      <a:tailEnd type="none" w="med" len="med"/>
                    </a:lnR>
                    <a:lnT w="6350" cap="flat" cmpd="sng" algn="ctr">
                      <a:solidFill>
                        <a:srgbClr val="3B3470"/>
                      </a:solidFill>
                      <a:prstDash val="solid"/>
                      <a:round/>
                      <a:headEnd type="none" w="med" len="med"/>
                      <a:tailEnd type="none" w="med" len="med"/>
                    </a:lnT>
                    <a:lnB w="6350" cap="flat" cmpd="sng" algn="ctr">
                      <a:solidFill>
                        <a:srgbClr val="3B3470"/>
                      </a:solidFill>
                      <a:prstDash val="solid"/>
                      <a:round/>
                      <a:headEnd type="none" w="med" len="med"/>
                      <a:tailEnd type="none" w="med" len="med"/>
                    </a:lnB>
                    <a:solidFill>
                      <a:srgbClr val="16123A"/>
                    </a:solidFill>
                  </a:tcPr>
                </a:tc>
                <a:tc>
                  <a:txBody>
                    <a:bodyPr/>
                    <a:lstStyle/>
                    <a:p>
                      <a:pPr indent="0" marL="0">
                        <a:buNone/>
                      </a:pPr>
                      <a:r>
                        <a:rPr lang="en-US" sz="1200" dirty="0">
                          <a:solidFill>
                            <a:srgbClr val="FFFFFF"/>
                          </a:solidFill>
                        </a:rPr>
                        <a:t>1.5 h</a:t>
                      </a:r>
                      <a:endParaRPr lang="en-US" sz="1200" dirty="0"/>
                    </a:p>
                  </a:txBody>
                  <a:tcPr marL="73152" marR="73152" marT="36576" marB="36576" anchor="ctr">
                    <a:lnL w="6350" cap="flat" cmpd="sng" algn="ctr">
                      <a:solidFill>
                        <a:srgbClr val="3B3470"/>
                      </a:solidFill>
                      <a:prstDash val="solid"/>
                      <a:round/>
                      <a:headEnd type="none" w="med" len="med"/>
                      <a:tailEnd type="none" w="med" len="med"/>
                    </a:lnL>
                    <a:lnR w="6350" cap="flat" cmpd="sng" algn="ctr">
                      <a:solidFill>
                        <a:srgbClr val="3B3470"/>
                      </a:solidFill>
                      <a:prstDash val="solid"/>
                      <a:round/>
                      <a:headEnd type="none" w="med" len="med"/>
                      <a:tailEnd type="none" w="med" len="med"/>
                    </a:lnR>
                    <a:lnT w="6350" cap="flat" cmpd="sng" algn="ctr">
                      <a:solidFill>
                        <a:srgbClr val="3B3470"/>
                      </a:solidFill>
                      <a:prstDash val="solid"/>
                      <a:round/>
                      <a:headEnd type="none" w="med" len="med"/>
                      <a:tailEnd type="none" w="med" len="med"/>
                    </a:lnT>
                    <a:lnB w="6350" cap="flat" cmpd="sng" algn="ctr">
                      <a:solidFill>
                        <a:srgbClr val="3B3470"/>
                      </a:solidFill>
                      <a:prstDash val="solid"/>
                      <a:round/>
                      <a:headEnd type="none" w="med" len="med"/>
                      <a:tailEnd type="none" w="med" len="med"/>
                    </a:lnB>
                    <a:solidFill>
                      <a:srgbClr val="16123A"/>
                    </a:solidFill>
                  </a:tcPr>
                </a:tc>
              </a:tr>
              <a:tr h="274320">
                <a:tc>
                  <a:txBody>
                    <a:bodyPr/>
                    <a:lstStyle/>
                    <a:p>
                      <a:pPr indent="0" marL="0">
                        <a:buNone/>
                      </a:pPr>
                      <a:r>
                        <a:rPr lang="en-US" sz="1200" b="1" dirty="0">
                          <a:solidFill>
                            <a:srgbClr val="FFFFFF"/>
                          </a:solidFill>
                        </a:rPr>
                        <a:t>Connected and Automated Mobility (MOST Spoke 6 dissemination activities)</a:t>
                      </a:r>
                      <a:endParaRPr lang="en-US" sz="1200" dirty="0"/>
                    </a:p>
                  </a:txBody>
                  <a:tcPr marL="73152" marR="73152" marT="36576" marB="36576" anchor="ctr">
                    <a:lnL w="6350" cap="flat" cmpd="sng" algn="ctr">
                      <a:solidFill>
                        <a:srgbClr val="3B3470"/>
                      </a:solidFill>
                      <a:prstDash val="solid"/>
                      <a:round/>
                      <a:headEnd type="none" w="med" len="med"/>
                      <a:tailEnd type="none" w="med" len="med"/>
                    </a:lnL>
                    <a:lnR w="6350" cap="flat" cmpd="sng" algn="ctr">
                      <a:solidFill>
                        <a:srgbClr val="3B3470"/>
                      </a:solidFill>
                      <a:prstDash val="solid"/>
                      <a:round/>
                      <a:headEnd type="none" w="med" len="med"/>
                      <a:tailEnd type="none" w="med" len="med"/>
                    </a:lnR>
                    <a:lnT w="6350" cap="flat" cmpd="sng" algn="ctr">
                      <a:solidFill>
                        <a:srgbClr val="3B3470"/>
                      </a:solidFill>
                      <a:prstDash val="solid"/>
                      <a:round/>
                      <a:headEnd type="none" w="med" len="med"/>
                      <a:tailEnd type="none" w="med" len="med"/>
                    </a:lnT>
                    <a:lnB w="6350" cap="flat" cmpd="sng" algn="ctr">
                      <a:solidFill>
                        <a:srgbClr val="3B3470"/>
                      </a:solidFill>
                      <a:prstDash val="solid"/>
                      <a:round/>
                      <a:headEnd type="none" w="med" len="med"/>
                      <a:tailEnd type="none" w="med" len="med"/>
                    </a:lnB>
                    <a:solidFill>
                      <a:srgbClr val="16123A"/>
                    </a:solidFill>
                  </a:tcPr>
                </a:tc>
                <a:tc>
                  <a:txBody>
                    <a:bodyPr/>
                    <a:lstStyle/>
                    <a:p>
                      <a:pPr indent="0" marL="0">
                        <a:buNone/>
                      </a:pPr>
                      <a:r>
                        <a:rPr lang="en-US" sz="1200" dirty="0">
                          <a:solidFill>
                            <a:srgbClr val="FFFFFF"/>
                          </a:solidFill>
                        </a:rPr>
                        <a:t>M. Segata, I. Turcanu</a:t>
                      </a:r>
                      <a:endParaRPr lang="en-US" sz="1200" dirty="0"/>
                    </a:p>
                  </a:txBody>
                  <a:tcPr marL="73152" marR="73152" marT="36576" marB="36576" anchor="ctr">
                    <a:lnL w="6350" cap="flat" cmpd="sng" algn="ctr">
                      <a:solidFill>
                        <a:srgbClr val="3B3470"/>
                      </a:solidFill>
                      <a:prstDash val="solid"/>
                      <a:round/>
                      <a:headEnd type="none" w="med" len="med"/>
                      <a:tailEnd type="none" w="med" len="med"/>
                    </a:lnL>
                    <a:lnR w="6350" cap="flat" cmpd="sng" algn="ctr">
                      <a:solidFill>
                        <a:srgbClr val="3B3470"/>
                      </a:solidFill>
                      <a:prstDash val="solid"/>
                      <a:round/>
                      <a:headEnd type="none" w="med" len="med"/>
                      <a:tailEnd type="none" w="med" len="med"/>
                    </a:lnR>
                    <a:lnT w="6350" cap="flat" cmpd="sng" algn="ctr">
                      <a:solidFill>
                        <a:srgbClr val="3B3470"/>
                      </a:solidFill>
                      <a:prstDash val="solid"/>
                      <a:round/>
                      <a:headEnd type="none" w="med" len="med"/>
                      <a:tailEnd type="none" w="med" len="med"/>
                    </a:lnT>
                    <a:lnB w="6350" cap="flat" cmpd="sng" algn="ctr">
                      <a:solidFill>
                        <a:srgbClr val="3B3470"/>
                      </a:solidFill>
                      <a:prstDash val="solid"/>
                      <a:round/>
                      <a:headEnd type="none" w="med" len="med"/>
                      <a:tailEnd type="none" w="med" len="med"/>
                    </a:lnB>
                    <a:solidFill>
                      <a:srgbClr val="16123A"/>
                    </a:solidFill>
                  </a:tcPr>
                </a:tc>
                <a:tc>
                  <a:txBody>
                    <a:bodyPr/>
                    <a:lstStyle/>
                    <a:p>
                      <a:pPr indent="0" marL="0">
                        <a:buNone/>
                      </a:pPr>
                      <a:r>
                        <a:rPr lang="en-US" sz="1200" dirty="0">
                          <a:solidFill>
                            <a:srgbClr val="FFFFFF"/>
                          </a:solidFill>
                        </a:rPr>
                        <a:t>3 h</a:t>
                      </a:r>
                      <a:endParaRPr lang="en-US" sz="1200" dirty="0"/>
                    </a:p>
                  </a:txBody>
                  <a:tcPr marL="73152" marR="73152" marT="36576" marB="36576" anchor="ctr">
                    <a:lnL w="6350" cap="flat" cmpd="sng" algn="ctr">
                      <a:solidFill>
                        <a:srgbClr val="3B3470"/>
                      </a:solidFill>
                      <a:prstDash val="solid"/>
                      <a:round/>
                      <a:headEnd type="none" w="med" len="med"/>
                      <a:tailEnd type="none" w="med" len="med"/>
                    </a:lnL>
                    <a:lnR w="6350" cap="flat" cmpd="sng" algn="ctr">
                      <a:solidFill>
                        <a:srgbClr val="3B3470"/>
                      </a:solidFill>
                      <a:prstDash val="solid"/>
                      <a:round/>
                      <a:headEnd type="none" w="med" len="med"/>
                      <a:tailEnd type="none" w="med" len="med"/>
                    </a:lnR>
                    <a:lnT w="6350" cap="flat" cmpd="sng" algn="ctr">
                      <a:solidFill>
                        <a:srgbClr val="3B3470"/>
                      </a:solidFill>
                      <a:prstDash val="solid"/>
                      <a:round/>
                      <a:headEnd type="none" w="med" len="med"/>
                      <a:tailEnd type="none" w="med" len="med"/>
                    </a:lnT>
                    <a:lnB w="6350" cap="flat" cmpd="sng" algn="ctr">
                      <a:solidFill>
                        <a:srgbClr val="3B3470"/>
                      </a:solidFill>
                      <a:prstDash val="solid"/>
                      <a:round/>
                      <a:headEnd type="none" w="med" len="med"/>
                      <a:tailEnd type="none" w="med" len="med"/>
                    </a:lnB>
                    <a:solidFill>
                      <a:srgbClr val="16123A"/>
                    </a:solidFill>
                  </a:tcPr>
                </a:tc>
              </a:tr>
              <a:tr h="274320">
                <a:tc>
                  <a:txBody>
                    <a:bodyPr/>
                    <a:lstStyle/>
                    <a:p>
                      <a:pPr indent="0" marL="0">
                        <a:buNone/>
                      </a:pPr>
                      <a:r>
                        <a:rPr lang="en-US" sz="1200" b="1" dirty="0">
                          <a:solidFill>
                            <a:srgbClr val="FFFFFF"/>
                          </a:solidFill>
                        </a:rPr>
                        <a:t>Factors Affecting the Port Times of Container Ships</a:t>
                      </a:r>
                      <a:endParaRPr lang="en-US" sz="1200" dirty="0"/>
                    </a:p>
                  </a:txBody>
                  <a:tcPr marL="73152" marR="73152" marT="36576" marB="36576" anchor="ctr">
                    <a:lnL w="6350" cap="flat" cmpd="sng" algn="ctr">
                      <a:solidFill>
                        <a:srgbClr val="3B3470"/>
                      </a:solidFill>
                      <a:prstDash val="solid"/>
                      <a:round/>
                      <a:headEnd type="none" w="med" len="med"/>
                      <a:tailEnd type="none" w="med" len="med"/>
                    </a:lnL>
                    <a:lnR w="6350" cap="flat" cmpd="sng" algn="ctr">
                      <a:solidFill>
                        <a:srgbClr val="3B3470"/>
                      </a:solidFill>
                      <a:prstDash val="solid"/>
                      <a:round/>
                      <a:headEnd type="none" w="med" len="med"/>
                      <a:tailEnd type="none" w="med" len="med"/>
                    </a:lnR>
                    <a:lnT w="6350" cap="flat" cmpd="sng" algn="ctr">
                      <a:solidFill>
                        <a:srgbClr val="3B3470"/>
                      </a:solidFill>
                      <a:prstDash val="solid"/>
                      <a:round/>
                      <a:headEnd type="none" w="med" len="med"/>
                      <a:tailEnd type="none" w="med" len="med"/>
                    </a:lnT>
                    <a:lnB w="6350" cap="flat" cmpd="sng" algn="ctr">
                      <a:solidFill>
                        <a:srgbClr val="3B3470"/>
                      </a:solidFill>
                      <a:prstDash val="solid"/>
                      <a:round/>
                      <a:headEnd type="none" w="med" len="med"/>
                      <a:tailEnd type="none" w="med" len="med"/>
                    </a:lnB>
                    <a:solidFill>
                      <a:srgbClr val="16123A"/>
                    </a:solidFill>
                  </a:tcPr>
                </a:tc>
                <a:tc>
                  <a:txBody>
                    <a:bodyPr/>
                    <a:lstStyle/>
                    <a:p>
                      <a:pPr indent="0" marL="0">
                        <a:buNone/>
                      </a:pPr>
                      <a:r>
                        <a:rPr lang="en-US" sz="1200" dirty="0">
                          <a:solidFill>
                            <a:srgbClr val="FFFFFF"/>
                          </a:solidFill>
                        </a:rPr>
                        <a:t>—</a:t>
                      </a:r>
                      <a:endParaRPr lang="en-US" sz="1200" dirty="0"/>
                    </a:p>
                  </a:txBody>
                  <a:tcPr marL="73152" marR="73152" marT="36576" marB="36576" anchor="ctr">
                    <a:lnL w="6350" cap="flat" cmpd="sng" algn="ctr">
                      <a:solidFill>
                        <a:srgbClr val="3B3470"/>
                      </a:solidFill>
                      <a:prstDash val="solid"/>
                      <a:round/>
                      <a:headEnd type="none" w="med" len="med"/>
                      <a:tailEnd type="none" w="med" len="med"/>
                    </a:lnL>
                    <a:lnR w="6350" cap="flat" cmpd="sng" algn="ctr">
                      <a:solidFill>
                        <a:srgbClr val="3B3470"/>
                      </a:solidFill>
                      <a:prstDash val="solid"/>
                      <a:round/>
                      <a:headEnd type="none" w="med" len="med"/>
                      <a:tailEnd type="none" w="med" len="med"/>
                    </a:lnR>
                    <a:lnT w="6350" cap="flat" cmpd="sng" algn="ctr">
                      <a:solidFill>
                        <a:srgbClr val="3B3470"/>
                      </a:solidFill>
                      <a:prstDash val="solid"/>
                      <a:round/>
                      <a:headEnd type="none" w="med" len="med"/>
                      <a:tailEnd type="none" w="med" len="med"/>
                    </a:lnT>
                    <a:lnB w="6350" cap="flat" cmpd="sng" algn="ctr">
                      <a:solidFill>
                        <a:srgbClr val="3B3470"/>
                      </a:solidFill>
                      <a:prstDash val="solid"/>
                      <a:round/>
                      <a:headEnd type="none" w="med" len="med"/>
                      <a:tailEnd type="none" w="med" len="med"/>
                    </a:lnB>
                    <a:solidFill>
                      <a:srgbClr val="16123A"/>
                    </a:solidFill>
                  </a:tcPr>
                </a:tc>
                <a:tc>
                  <a:txBody>
                    <a:bodyPr/>
                    <a:lstStyle/>
                    <a:p>
                      <a:pPr indent="0" marL="0">
                        <a:buNone/>
                      </a:pPr>
                      <a:r>
                        <a:rPr lang="en-US" sz="1200" dirty="0">
                          <a:solidFill>
                            <a:srgbClr val="FFFFFF"/>
                          </a:solidFill>
                        </a:rPr>
                        <a:t>4 h</a:t>
                      </a:r>
                      <a:endParaRPr lang="en-US" sz="1200" dirty="0"/>
                    </a:p>
                  </a:txBody>
                  <a:tcPr marL="73152" marR="73152" marT="36576" marB="36576" anchor="ctr">
                    <a:lnL w="6350" cap="flat" cmpd="sng" algn="ctr">
                      <a:solidFill>
                        <a:srgbClr val="3B3470"/>
                      </a:solidFill>
                      <a:prstDash val="solid"/>
                      <a:round/>
                      <a:headEnd type="none" w="med" len="med"/>
                      <a:tailEnd type="none" w="med" len="med"/>
                    </a:lnL>
                    <a:lnR w="6350" cap="flat" cmpd="sng" algn="ctr">
                      <a:solidFill>
                        <a:srgbClr val="3B3470"/>
                      </a:solidFill>
                      <a:prstDash val="solid"/>
                      <a:round/>
                      <a:headEnd type="none" w="med" len="med"/>
                      <a:tailEnd type="none" w="med" len="med"/>
                    </a:lnR>
                    <a:lnT w="6350" cap="flat" cmpd="sng" algn="ctr">
                      <a:solidFill>
                        <a:srgbClr val="3B3470"/>
                      </a:solidFill>
                      <a:prstDash val="solid"/>
                      <a:round/>
                      <a:headEnd type="none" w="med" len="med"/>
                      <a:tailEnd type="none" w="med" len="med"/>
                    </a:lnT>
                    <a:lnB w="6350" cap="flat" cmpd="sng" algn="ctr">
                      <a:solidFill>
                        <a:srgbClr val="3B3470"/>
                      </a:solidFill>
                      <a:prstDash val="solid"/>
                      <a:round/>
                      <a:headEnd type="none" w="med" len="med"/>
                      <a:tailEnd type="none" w="med" len="med"/>
                    </a:lnB>
                    <a:solidFill>
                      <a:srgbClr val="16123A"/>
                    </a:solidFill>
                  </a:tcPr>
                </a:tc>
              </a:tr>
              <a:tr h="274320">
                <a:tc>
                  <a:txBody>
                    <a:bodyPr/>
                    <a:lstStyle/>
                    <a:p>
                      <a:pPr indent="0" marL="0">
                        <a:buNone/>
                      </a:pPr>
                      <a:r>
                        <a:rPr lang="en-US" sz="1200" b="1" dirty="0">
                          <a:solidFill>
                            <a:srgbClr val="FFFFFF"/>
                          </a:solidFill>
                        </a:rPr>
                        <a:t>Resonances in Geometrically Finite Graphs</a:t>
                      </a:r>
                      <a:endParaRPr lang="en-US" sz="1200" dirty="0"/>
                    </a:p>
                  </a:txBody>
                  <a:tcPr marL="73152" marR="73152" marT="36576" marB="36576" anchor="ctr">
                    <a:lnL w="6350" cap="flat" cmpd="sng" algn="ctr">
                      <a:solidFill>
                        <a:srgbClr val="3B3470"/>
                      </a:solidFill>
                      <a:prstDash val="solid"/>
                      <a:round/>
                      <a:headEnd type="none" w="med" len="med"/>
                      <a:tailEnd type="none" w="med" len="med"/>
                    </a:lnL>
                    <a:lnR w="6350" cap="flat" cmpd="sng" algn="ctr">
                      <a:solidFill>
                        <a:srgbClr val="3B3470"/>
                      </a:solidFill>
                      <a:prstDash val="solid"/>
                      <a:round/>
                      <a:headEnd type="none" w="med" len="med"/>
                      <a:tailEnd type="none" w="med" len="med"/>
                    </a:lnR>
                    <a:lnT w="6350" cap="flat" cmpd="sng" algn="ctr">
                      <a:solidFill>
                        <a:srgbClr val="3B3470"/>
                      </a:solidFill>
                      <a:prstDash val="solid"/>
                      <a:round/>
                      <a:headEnd type="none" w="med" len="med"/>
                      <a:tailEnd type="none" w="med" len="med"/>
                    </a:lnT>
                    <a:lnB w="6350" cap="flat" cmpd="sng" algn="ctr">
                      <a:solidFill>
                        <a:srgbClr val="3B3470"/>
                      </a:solidFill>
                      <a:prstDash val="solid"/>
                      <a:round/>
                      <a:headEnd type="none" w="med" len="med"/>
                      <a:tailEnd type="none" w="med" len="med"/>
                    </a:lnB>
                    <a:solidFill>
                      <a:srgbClr val="16123A"/>
                    </a:solidFill>
                  </a:tcPr>
                </a:tc>
                <a:tc>
                  <a:txBody>
                    <a:bodyPr/>
                    <a:lstStyle/>
                    <a:p>
                      <a:pPr indent="0" marL="0">
                        <a:buNone/>
                      </a:pPr>
                      <a:r>
                        <a:rPr lang="en-US" sz="1200" dirty="0">
                          <a:solidFill>
                            <a:srgbClr val="FFFFFF"/>
                          </a:solidFill>
                        </a:rPr>
                        <a:t>Dr Carsten Peterson</a:t>
                      </a:r>
                      <a:endParaRPr lang="en-US" sz="1200" dirty="0"/>
                    </a:p>
                  </a:txBody>
                  <a:tcPr marL="73152" marR="73152" marT="36576" marB="36576" anchor="ctr">
                    <a:lnL w="6350" cap="flat" cmpd="sng" algn="ctr">
                      <a:solidFill>
                        <a:srgbClr val="3B3470"/>
                      </a:solidFill>
                      <a:prstDash val="solid"/>
                      <a:round/>
                      <a:headEnd type="none" w="med" len="med"/>
                      <a:tailEnd type="none" w="med" len="med"/>
                    </a:lnL>
                    <a:lnR w="6350" cap="flat" cmpd="sng" algn="ctr">
                      <a:solidFill>
                        <a:srgbClr val="3B3470"/>
                      </a:solidFill>
                      <a:prstDash val="solid"/>
                      <a:round/>
                      <a:headEnd type="none" w="med" len="med"/>
                      <a:tailEnd type="none" w="med" len="med"/>
                    </a:lnR>
                    <a:lnT w="6350" cap="flat" cmpd="sng" algn="ctr">
                      <a:solidFill>
                        <a:srgbClr val="3B3470"/>
                      </a:solidFill>
                      <a:prstDash val="solid"/>
                      <a:round/>
                      <a:headEnd type="none" w="med" len="med"/>
                      <a:tailEnd type="none" w="med" len="med"/>
                    </a:lnT>
                    <a:lnB w="6350" cap="flat" cmpd="sng" algn="ctr">
                      <a:solidFill>
                        <a:srgbClr val="3B3470"/>
                      </a:solidFill>
                      <a:prstDash val="solid"/>
                      <a:round/>
                      <a:headEnd type="none" w="med" len="med"/>
                      <a:tailEnd type="none" w="med" len="med"/>
                    </a:lnB>
                    <a:solidFill>
                      <a:srgbClr val="16123A"/>
                    </a:solidFill>
                  </a:tcPr>
                </a:tc>
                <a:tc>
                  <a:txBody>
                    <a:bodyPr/>
                    <a:lstStyle/>
                    <a:p>
                      <a:pPr indent="0" marL="0">
                        <a:buNone/>
                      </a:pPr>
                      <a:r>
                        <a:rPr lang="en-US" sz="1200" dirty="0">
                          <a:solidFill>
                            <a:srgbClr val="FFFFFF"/>
                          </a:solidFill>
                        </a:rPr>
                        <a:t>2 h</a:t>
                      </a:r>
                      <a:endParaRPr lang="en-US" sz="1200" dirty="0"/>
                    </a:p>
                  </a:txBody>
                  <a:tcPr marL="73152" marR="73152" marT="36576" marB="36576" anchor="ctr">
                    <a:lnL w="6350" cap="flat" cmpd="sng" algn="ctr">
                      <a:solidFill>
                        <a:srgbClr val="3B3470"/>
                      </a:solidFill>
                      <a:prstDash val="solid"/>
                      <a:round/>
                      <a:headEnd type="none" w="med" len="med"/>
                      <a:tailEnd type="none" w="med" len="med"/>
                    </a:lnL>
                    <a:lnR w="6350" cap="flat" cmpd="sng" algn="ctr">
                      <a:solidFill>
                        <a:srgbClr val="3B3470"/>
                      </a:solidFill>
                      <a:prstDash val="solid"/>
                      <a:round/>
                      <a:headEnd type="none" w="med" len="med"/>
                      <a:tailEnd type="none" w="med" len="med"/>
                    </a:lnR>
                    <a:lnT w="6350" cap="flat" cmpd="sng" algn="ctr">
                      <a:solidFill>
                        <a:srgbClr val="3B3470"/>
                      </a:solidFill>
                      <a:prstDash val="solid"/>
                      <a:round/>
                      <a:headEnd type="none" w="med" len="med"/>
                      <a:tailEnd type="none" w="med" len="med"/>
                    </a:lnT>
                    <a:lnB w="6350" cap="flat" cmpd="sng" algn="ctr">
                      <a:solidFill>
                        <a:srgbClr val="3B3470"/>
                      </a:solidFill>
                      <a:prstDash val="solid"/>
                      <a:round/>
                      <a:headEnd type="none" w="med" len="med"/>
                      <a:tailEnd type="none" w="med" len="med"/>
                    </a:lnB>
                    <a:solidFill>
                      <a:srgbClr val="16123A"/>
                    </a:solidFill>
                  </a:tcPr>
                </a:tc>
              </a:tr>
              <a:tr h="274320">
                <a:tc>
                  <a:txBody>
                    <a:bodyPr/>
                    <a:lstStyle/>
                    <a:p>
                      <a:pPr indent="0" marL="0">
                        <a:buNone/>
                      </a:pPr>
                      <a:r>
                        <a:rPr lang="en-US" sz="1200" b="1" dirty="0">
                          <a:solidFill>
                            <a:srgbClr val="FFFFFF"/>
                          </a:solidFill>
                        </a:rPr>
                        <a:t>Networking Solutions for Cooperative, Connected and Automated Mobility</a:t>
                      </a:r>
                      <a:endParaRPr lang="en-US" sz="1200" dirty="0"/>
                    </a:p>
                  </a:txBody>
                  <a:tcPr marL="73152" marR="73152" marT="36576" marB="36576" anchor="ctr">
                    <a:lnL w="6350" cap="flat" cmpd="sng" algn="ctr">
                      <a:solidFill>
                        <a:srgbClr val="3B3470"/>
                      </a:solidFill>
                      <a:prstDash val="solid"/>
                      <a:round/>
                      <a:headEnd type="none" w="med" len="med"/>
                      <a:tailEnd type="none" w="med" len="med"/>
                    </a:lnL>
                    <a:lnR w="6350" cap="flat" cmpd="sng" algn="ctr">
                      <a:solidFill>
                        <a:srgbClr val="3B3470"/>
                      </a:solidFill>
                      <a:prstDash val="solid"/>
                      <a:round/>
                      <a:headEnd type="none" w="med" len="med"/>
                      <a:tailEnd type="none" w="med" len="med"/>
                    </a:lnR>
                    <a:lnT w="6350" cap="flat" cmpd="sng" algn="ctr">
                      <a:solidFill>
                        <a:srgbClr val="3B3470"/>
                      </a:solidFill>
                      <a:prstDash val="solid"/>
                      <a:round/>
                      <a:headEnd type="none" w="med" len="med"/>
                      <a:tailEnd type="none" w="med" len="med"/>
                    </a:lnT>
                    <a:lnB w="6350" cap="flat" cmpd="sng" algn="ctr">
                      <a:solidFill>
                        <a:srgbClr val="3B3470"/>
                      </a:solidFill>
                      <a:prstDash val="solid"/>
                      <a:round/>
                      <a:headEnd type="none" w="med" len="med"/>
                      <a:tailEnd type="none" w="med" len="med"/>
                    </a:lnB>
                    <a:solidFill>
                      <a:srgbClr val="16123A"/>
                    </a:solidFill>
                  </a:tcPr>
                </a:tc>
                <a:tc>
                  <a:txBody>
                    <a:bodyPr/>
                    <a:lstStyle/>
                    <a:p>
                      <a:pPr indent="0" marL="0">
                        <a:buNone/>
                      </a:pPr>
                      <a:r>
                        <a:rPr lang="en-US" sz="1200" dirty="0">
                          <a:solidFill>
                            <a:srgbClr val="FFFFFF"/>
                          </a:solidFill>
                        </a:rPr>
                        <a:t>Profs. C. Campolo, A. Bazzi, S. Sargento; Drs F. Brasca, G. Landi</a:t>
                      </a:r>
                      <a:endParaRPr lang="en-US" sz="1200" dirty="0"/>
                    </a:p>
                  </a:txBody>
                  <a:tcPr marL="73152" marR="73152" marT="36576" marB="36576" anchor="ctr">
                    <a:lnL w="6350" cap="flat" cmpd="sng" algn="ctr">
                      <a:solidFill>
                        <a:srgbClr val="3B3470"/>
                      </a:solidFill>
                      <a:prstDash val="solid"/>
                      <a:round/>
                      <a:headEnd type="none" w="med" len="med"/>
                      <a:tailEnd type="none" w="med" len="med"/>
                    </a:lnL>
                    <a:lnR w="6350" cap="flat" cmpd="sng" algn="ctr">
                      <a:solidFill>
                        <a:srgbClr val="3B3470"/>
                      </a:solidFill>
                      <a:prstDash val="solid"/>
                      <a:round/>
                      <a:headEnd type="none" w="med" len="med"/>
                      <a:tailEnd type="none" w="med" len="med"/>
                    </a:lnR>
                    <a:lnT w="6350" cap="flat" cmpd="sng" algn="ctr">
                      <a:solidFill>
                        <a:srgbClr val="3B3470"/>
                      </a:solidFill>
                      <a:prstDash val="solid"/>
                      <a:round/>
                      <a:headEnd type="none" w="med" len="med"/>
                      <a:tailEnd type="none" w="med" len="med"/>
                    </a:lnT>
                    <a:lnB w="6350" cap="flat" cmpd="sng" algn="ctr">
                      <a:solidFill>
                        <a:srgbClr val="3B3470"/>
                      </a:solidFill>
                      <a:prstDash val="solid"/>
                      <a:round/>
                      <a:headEnd type="none" w="med" len="med"/>
                      <a:tailEnd type="none" w="med" len="med"/>
                    </a:lnB>
                    <a:solidFill>
                      <a:srgbClr val="16123A"/>
                    </a:solidFill>
                  </a:tcPr>
                </a:tc>
                <a:tc>
                  <a:txBody>
                    <a:bodyPr/>
                    <a:lstStyle/>
                    <a:p>
                      <a:pPr indent="0" marL="0">
                        <a:buNone/>
                      </a:pPr>
                      <a:r>
                        <a:rPr lang="en-US" sz="1200" dirty="0">
                          <a:solidFill>
                            <a:srgbClr val="FFFFFF"/>
                          </a:solidFill>
                        </a:rPr>
                        <a:t>4 h</a:t>
                      </a:r>
                      <a:endParaRPr lang="en-US" sz="1200" dirty="0"/>
                    </a:p>
                  </a:txBody>
                  <a:tcPr marL="73152" marR="73152" marT="36576" marB="36576" anchor="ctr">
                    <a:lnL w="6350" cap="flat" cmpd="sng" algn="ctr">
                      <a:solidFill>
                        <a:srgbClr val="3B3470"/>
                      </a:solidFill>
                      <a:prstDash val="solid"/>
                      <a:round/>
                      <a:headEnd type="none" w="med" len="med"/>
                      <a:tailEnd type="none" w="med" len="med"/>
                    </a:lnL>
                    <a:lnR w="6350" cap="flat" cmpd="sng" algn="ctr">
                      <a:solidFill>
                        <a:srgbClr val="3B3470"/>
                      </a:solidFill>
                      <a:prstDash val="solid"/>
                      <a:round/>
                      <a:headEnd type="none" w="med" len="med"/>
                      <a:tailEnd type="none" w="med" len="med"/>
                    </a:lnR>
                    <a:lnT w="6350" cap="flat" cmpd="sng" algn="ctr">
                      <a:solidFill>
                        <a:srgbClr val="3B3470"/>
                      </a:solidFill>
                      <a:prstDash val="solid"/>
                      <a:round/>
                      <a:headEnd type="none" w="med" len="med"/>
                      <a:tailEnd type="none" w="med" len="med"/>
                    </a:lnT>
                    <a:lnB w="6350" cap="flat" cmpd="sng" algn="ctr">
                      <a:solidFill>
                        <a:srgbClr val="3B3470"/>
                      </a:solidFill>
                      <a:prstDash val="solid"/>
                      <a:round/>
                      <a:headEnd type="none" w="med" len="med"/>
                      <a:tailEnd type="none" w="med" len="med"/>
                    </a:lnB>
                    <a:solidFill>
                      <a:srgbClr val="16123A"/>
                    </a:solidFill>
                  </a:tcPr>
                </a:tc>
              </a:tr>
              <a:tr h="274320">
                <a:tc>
                  <a:txBody>
                    <a:bodyPr/>
                    <a:lstStyle/>
                    <a:p>
                      <a:pPr indent="0" marL="0">
                        <a:buNone/>
                      </a:pPr>
                      <a:r>
                        <a:rPr lang="en-US" sz="1200" b="1" dirty="0">
                          <a:solidFill>
                            <a:srgbClr val="FFFFFF"/>
                          </a:solidFill>
                        </a:rPr>
                        <a:t>Digital Twins and Deep Learning: Advancing Infrastructure Sustainability and Resilience through Remote Sensing and Computer Vision</a:t>
                      </a:r>
                      <a:endParaRPr lang="en-US" sz="1200" dirty="0"/>
                    </a:p>
                  </a:txBody>
                  <a:tcPr marL="73152" marR="73152" marT="36576" marB="36576" anchor="ctr">
                    <a:lnL w="6350" cap="flat" cmpd="sng" algn="ctr">
                      <a:solidFill>
                        <a:srgbClr val="3B3470"/>
                      </a:solidFill>
                      <a:prstDash val="solid"/>
                      <a:round/>
                      <a:headEnd type="none" w="med" len="med"/>
                      <a:tailEnd type="none" w="med" len="med"/>
                    </a:lnL>
                    <a:lnR w="6350" cap="flat" cmpd="sng" algn="ctr">
                      <a:solidFill>
                        <a:srgbClr val="3B3470"/>
                      </a:solidFill>
                      <a:prstDash val="solid"/>
                      <a:round/>
                      <a:headEnd type="none" w="med" len="med"/>
                      <a:tailEnd type="none" w="med" len="med"/>
                    </a:lnR>
                    <a:lnT w="6350" cap="flat" cmpd="sng" algn="ctr">
                      <a:solidFill>
                        <a:srgbClr val="3B3470"/>
                      </a:solidFill>
                      <a:prstDash val="solid"/>
                      <a:round/>
                      <a:headEnd type="none" w="med" len="med"/>
                      <a:tailEnd type="none" w="med" len="med"/>
                    </a:lnT>
                    <a:lnB w="6350" cap="flat" cmpd="sng" algn="ctr">
                      <a:solidFill>
                        <a:srgbClr val="3B3470"/>
                      </a:solidFill>
                      <a:prstDash val="solid"/>
                      <a:round/>
                      <a:headEnd type="none" w="med" len="med"/>
                      <a:tailEnd type="none" w="med" len="med"/>
                    </a:lnB>
                    <a:solidFill>
                      <a:srgbClr val="16123A"/>
                    </a:solidFill>
                  </a:tcPr>
                </a:tc>
                <a:tc>
                  <a:txBody>
                    <a:bodyPr/>
                    <a:lstStyle/>
                    <a:p>
                      <a:pPr indent="0" marL="0">
                        <a:buNone/>
                      </a:pPr>
                      <a:r>
                        <a:rPr lang="en-US" sz="1200" dirty="0">
                          <a:solidFill>
                            <a:srgbClr val="FFFFFF"/>
                          </a:solidFill>
                        </a:rPr>
                        <a:t>Dr Surya Sarat Chandra Congress</a:t>
                      </a:r>
                      <a:endParaRPr lang="en-US" sz="1200" dirty="0"/>
                    </a:p>
                  </a:txBody>
                  <a:tcPr marL="73152" marR="73152" marT="36576" marB="36576" anchor="ctr">
                    <a:lnL w="6350" cap="flat" cmpd="sng" algn="ctr">
                      <a:solidFill>
                        <a:srgbClr val="3B3470"/>
                      </a:solidFill>
                      <a:prstDash val="solid"/>
                      <a:round/>
                      <a:headEnd type="none" w="med" len="med"/>
                      <a:tailEnd type="none" w="med" len="med"/>
                    </a:lnL>
                    <a:lnR w="6350" cap="flat" cmpd="sng" algn="ctr">
                      <a:solidFill>
                        <a:srgbClr val="3B3470"/>
                      </a:solidFill>
                      <a:prstDash val="solid"/>
                      <a:round/>
                      <a:headEnd type="none" w="med" len="med"/>
                      <a:tailEnd type="none" w="med" len="med"/>
                    </a:lnR>
                    <a:lnT w="6350" cap="flat" cmpd="sng" algn="ctr">
                      <a:solidFill>
                        <a:srgbClr val="3B3470"/>
                      </a:solidFill>
                      <a:prstDash val="solid"/>
                      <a:round/>
                      <a:headEnd type="none" w="med" len="med"/>
                      <a:tailEnd type="none" w="med" len="med"/>
                    </a:lnT>
                    <a:lnB w="6350" cap="flat" cmpd="sng" algn="ctr">
                      <a:solidFill>
                        <a:srgbClr val="3B3470"/>
                      </a:solidFill>
                      <a:prstDash val="solid"/>
                      <a:round/>
                      <a:headEnd type="none" w="med" len="med"/>
                      <a:tailEnd type="none" w="med" len="med"/>
                    </a:lnB>
                    <a:solidFill>
                      <a:srgbClr val="16123A"/>
                    </a:solidFill>
                  </a:tcPr>
                </a:tc>
                <a:tc>
                  <a:txBody>
                    <a:bodyPr/>
                    <a:lstStyle/>
                    <a:p>
                      <a:pPr indent="0" marL="0">
                        <a:buNone/>
                      </a:pPr>
                      <a:r>
                        <a:rPr lang="en-US" sz="1200" dirty="0">
                          <a:solidFill>
                            <a:srgbClr val="FFFFFF"/>
                          </a:solidFill>
                        </a:rPr>
                        <a:t>3 h</a:t>
                      </a:r>
                      <a:endParaRPr lang="en-US" sz="1200" dirty="0"/>
                    </a:p>
                  </a:txBody>
                  <a:tcPr marL="73152" marR="73152" marT="36576" marB="36576" anchor="ctr">
                    <a:lnL w="6350" cap="flat" cmpd="sng" algn="ctr">
                      <a:solidFill>
                        <a:srgbClr val="3B3470"/>
                      </a:solidFill>
                      <a:prstDash val="solid"/>
                      <a:round/>
                      <a:headEnd type="none" w="med" len="med"/>
                      <a:tailEnd type="none" w="med" len="med"/>
                    </a:lnL>
                    <a:lnR w="6350" cap="flat" cmpd="sng" algn="ctr">
                      <a:solidFill>
                        <a:srgbClr val="3B3470"/>
                      </a:solidFill>
                      <a:prstDash val="solid"/>
                      <a:round/>
                      <a:headEnd type="none" w="med" len="med"/>
                      <a:tailEnd type="none" w="med" len="med"/>
                    </a:lnR>
                    <a:lnT w="6350" cap="flat" cmpd="sng" algn="ctr">
                      <a:solidFill>
                        <a:srgbClr val="3B3470"/>
                      </a:solidFill>
                      <a:prstDash val="solid"/>
                      <a:round/>
                      <a:headEnd type="none" w="med" len="med"/>
                      <a:tailEnd type="none" w="med" len="med"/>
                    </a:lnT>
                    <a:lnB w="6350" cap="flat" cmpd="sng" algn="ctr">
                      <a:solidFill>
                        <a:srgbClr val="3B3470"/>
                      </a:solidFill>
                      <a:prstDash val="solid"/>
                      <a:round/>
                      <a:headEnd type="none" w="med" len="med"/>
                      <a:tailEnd type="none" w="med" len="med"/>
                    </a:lnB>
                    <a:solidFill>
                      <a:srgbClr val="16123A"/>
                    </a:solidFill>
                  </a:tcPr>
                </a:tc>
              </a:tr>
              <a:tr h="274320">
                <a:tc>
                  <a:txBody>
                    <a:bodyPr/>
                    <a:lstStyle/>
                    <a:p>
                      <a:pPr indent="0" marL="0">
                        <a:buNone/>
                      </a:pPr>
                      <a:r>
                        <a:rPr lang="en-US" sz="1200" b="1" dirty="0">
                          <a:solidFill>
                            <a:srgbClr val="FFFFFF"/>
                          </a:solidFill>
                        </a:rPr>
                        <a:t>Workshop – Optimization and Equilibrium Problems</a:t>
                      </a:r>
                      <a:endParaRPr lang="en-US" sz="1200" dirty="0"/>
                    </a:p>
                  </a:txBody>
                  <a:tcPr marL="73152" marR="73152" marT="36576" marB="36576" anchor="ctr">
                    <a:lnL w="6350" cap="flat" cmpd="sng" algn="ctr">
                      <a:solidFill>
                        <a:srgbClr val="3B3470"/>
                      </a:solidFill>
                      <a:prstDash val="solid"/>
                      <a:round/>
                      <a:headEnd type="none" w="med" len="med"/>
                      <a:tailEnd type="none" w="med" len="med"/>
                    </a:lnL>
                    <a:lnR w="6350" cap="flat" cmpd="sng" algn="ctr">
                      <a:solidFill>
                        <a:srgbClr val="3B3470"/>
                      </a:solidFill>
                      <a:prstDash val="solid"/>
                      <a:round/>
                      <a:headEnd type="none" w="med" len="med"/>
                      <a:tailEnd type="none" w="med" len="med"/>
                    </a:lnR>
                    <a:lnT w="6350" cap="flat" cmpd="sng" algn="ctr">
                      <a:solidFill>
                        <a:srgbClr val="3B3470"/>
                      </a:solidFill>
                      <a:prstDash val="solid"/>
                      <a:round/>
                      <a:headEnd type="none" w="med" len="med"/>
                      <a:tailEnd type="none" w="med" len="med"/>
                    </a:lnT>
                    <a:lnB w="6350" cap="flat" cmpd="sng" algn="ctr">
                      <a:solidFill>
                        <a:srgbClr val="3B3470"/>
                      </a:solidFill>
                      <a:prstDash val="solid"/>
                      <a:round/>
                      <a:headEnd type="none" w="med" len="med"/>
                      <a:tailEnd type="none" w="med" len="med"/>
                    </a:lnB>
                    <a:solidFill>
                      <a:srgbClr val="16123A"/>
                    </a:solidFill>
                  </a:tcPr>
                </a:tc>
                <a:tc>
                  <a:txBody>
                    <a:bodyPr/>
                    <a:lstStyle/>
                    <a:p>
                      <a:pPr indent="0" marL="0">
                        <a:buNone/>
                      </a:pPr>
                      <a:r>
                        <a:rPr lang="en-US" sz="1200" dirty="0">
                          <a:solidFill>
                            <a:srgbClr val="FFFFFF"/>
                          </a:solidFill>
                        </a:rPr>
                        <a:t>DICEAM</a:t>
                      </a:r>
                      <a:endParaRPr lang="en-US" sz="1200" dirty="0"/>
                    </a:p>
                  </a:txBody>
                  <a:tcPr marL="73152" marR="73152" marT="36576" marB="36576" anchor="ctr">
                    <a:lnL w="6350" cap="flat" cmpd="sng" algn="ctr">
                      <a:solidFill>
                        <a:srgbClr val="3B3470"/>
                      </a:solidFill>
                      <a:prstDash val="solid"/>
                      <a:round/>
                      <a:headEnd type="none" w="med" len="med"/>
                      <a:tailEnd type="none" w="med" len="med"/>
                    </a:lnL>
                    <a:lnR w="6350" cap="flat" cmpd="sng" algn="ctr">
                      <a:solidFill>
                        <a:srgbClr val="3B3470"/>
                      </a:solidFill>
                      <a:prstDash val="solid"/>
                      <a:round/>
                      <a:headEnd type="none" w="med" len="med"/>
                      <a:tailEnd type="none" w="med" len="med"/>
                    </a:lnR>
                    <a:lnT w="6350" cap="flat" cmpd="sng" algn="ctr">
                      <a:solidFill>
                        <a:srgbClr val="3B3470"/>
                      </a:solidFill>
                      <a:prstDash val="solid"/>
                      <a:round/>
                      <a:headEnd type="none" w="med" len="med"/>
                      <a:tailEnd type="none" w="med" len="med"/>
                    </a:lnT>
                    <a:lnB w="6350" cap="flat" cmpd="sng" algn="ctr">
                      <a:solidFill>
                        <a:srgbClr val="3B3470"/>
                      </a:solidFill>
                      <a:prstDash val="solid"/>
                      <a:round/>
                      <a:headEnd type="none" w="med" len="med"/>
                      <a:tailEnd type="none" w="med" len="med"/>
                    </a:lnB>
                    <a:solidFill>
                      <a:srgbClr val="16123A"/>
                    </a:solidFill>
                  </a:tcPr>
                </a:tc>
                <a:tc>
                  <a:txBody>
                    <a:bodyPr/>
                    <a:lstStyle/>
                    <a:p>
                      <a:pPr indent="0" marL="0">
                        <a:buNone/>
                      </a:pPr>
                      <a:r>
                        <a:rPr lang="en-US" sz="1200" dirty="0">
                          <a:solidFill>
                            <a:srgbClr val="FFFFFF"/>
                          </a:solidFill>
                        </a:rPr>
                        <a:t>—</a:t>
                      </a:r>
                      <a:endParaRPr lang="en-US" sz="1200" dirty="0"/>
                    </a:p>
                  </a:txBody>
                  <a:tcPr marL="73152" marR="73152" marT="36576" marB="36576" anchor="ctr">
                    <a:lnL w="6350" cap="flat" cmpd="sng" algn="ctr">
                      <a:solidFill>
                        <a:srgbClr val="3B3470"/>
                      </a:solidFill>
                      <a:prstDash val="solid"/>
                      <a:round/>
                      <a:headEnd type="none" w="med" len="med"/>
                      <a:tailEnd type="none" w="med" len="med"/>
                    </a:lnL>
                    <a:lnR w="6350" cap="flat" cmpd="sng" algn="ctr">
                      <a:solidFill>
                        <a:srgbClr val="3B3470"/>
                      </a:solidFill>
                      <a:prstDash val="solid"/>
                      <a:round/>
                      <a:headEnd type="none" w="med" len="med"/>
                      <a:tailEnd type="none" w="med" len="med"/>
                    </a:lnR>
                    <a:lnT w="6350" cap="flat" cmpd="sng" algn="ctr">
                      <a:solidFill>
                        <a:srgbClr val="3B3470"/>
                      </a:solidFill>
                      <a:prstDash val="solid"/>
                      <a:round/>
                      <a:headEnd type="none" w="med" len="med"/>
                      <a:tailEnd type="none" w="med" len="med"/>
                    </a:lnT>
                    <a:lnB w="6350" cap="flat" cmpd="sng" algn="ctr">
                      <a:solidFill>
                        <a:srgbClr val="3B3470"/>
                      </a:solidFill>
                      <a:prstDash val="solid"/>
                      <a:round/>
                      <a:headEnd type="none" w="med" len="med"/>
                      <a:tailEnd type="none" w="med" len="med"/>
                    </a:lnB>
                    <a:solidFill>
                      <a:srgbClr val="16123A"/>
                    </a:solidFill>
                  </a:tcPr>
                </a:tc>
              </a:tr>
            </a:tbl>
          </a:graphicData>
        </a:graphic>
      </p:graphicFrame>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9C3EC"/>
                </a:solidFill>
              </a:defRPr>
            </a:lvl1pPr>
          </a:lstStyle>
          <a:p>
            <a:pPr algn="r"/>
            <a:fld id="{F7021451-1387-4CA6-816F-3879F97B5CBC}" type="slidenum">
              <a:rPr b="0" lang="en-US"/>
              <a:t>10</a:t>
            </a:fld>
            <a:endParaRPr lang="en-US"/>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Animated background" descr="Animated background: glowing molecular network and Raman spectra">    </p:cNvPr>
          <p:cNvPicPr>
            <a:picLocks noChangeAspect="1"/>
          </p:cNvPicPr>
          <p:nvPr/>
        </p:nvPicPr>
        <p:blipFill>
          <a:blip r:embed="rId1"/>
          <a:stretch>
            <a:fillRect/>
          </a:stretch>
        </p:blipFill>
        <p:spPr>
          <a:xfrm>
            <a:off x="0" y="0"/>
            <a:ext cx="12191695" cy="6858000"/>
          </a:xfrm>
          <a:prstGeom prst="rect">
            <a:avLst/>
          </a:prstGeom>
        </p:spPr>
      </p:pic>
      <p:sp>
        <p:nvSpPr>
          <p:cNvPr id="3" name="Footer"/>
          <p:cNvSpPr txBox="1"/>
          <p:nvPr/>
        </p:nvSpPr>
        <p:spPr>
          <a:xfrm>
            <a:off x="548640" y="6400800"/>
            <a:ext cx="7315200" cy="274320"/>
          </a:xfrm>
          <a:prstGeom prst="rect">
            <a:avLst/>
          </a:prstGeom>
          <a:noFill/>
          <a:ln/>
        </p:spPr>
        <p:txBody>
          <a:bodyPr wrap="square" lIns="0" tIns="0" rIns="0" bIns="0" rtlCol="0" anchor="t"/>
          <a:lstStyle/>
          <a:p>
            <a:pPr indent="0" marL="0">
              <a:buNone/>
            </a:pPr>
            <a:r>
              <a:rPr lang="en-US" sz="1000" dirty="0">
                <a:solidFill>
                  <a:schemeClr val="bg2"/>
                </a:solidFill>
              </a:rPr>
              <a:t>Hira Aman  ·  Activity of Research and Training 2025–2026</a:t>
            </a:r>
            <a:endParaRPr lang="en-US" sz="1000" dirty="0"/>
          </a:p>
        </p:txBody>
      </p:sp>
      <p:sp>
        <p:nvSpPr>
          <p:cNvPr id="4"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Conference &amp; Publications</a:t>
            </a:r>
            <a:endParaRPr lang="en-US" sz="3000" dirty="0"/>
          </a:p>
        </p:txBody>
      </p:sp>
      <p:sp>
        <p:nvSpPr>
          <p:cNvPr id="5" name="Text 0"/>
          <p:cNvSpPr/>
          <p:nvPr>
            <p:ph idx="101" type="body" hasCustomPrompt="1"/>
          </p:nvPr>
        </p:nvSpPr>
        <p:spPr>
          <a:xfrm>
            <a:off x="548640" y="960120"/>
            <a:ext cx="11064240" cy="365760"/>
          </a:xfrm>
          <a:prstGeom prst="rect">
            <a:avLst/>
          </a:prstGeom>
          <a:noFill/>
          <a:ln/>
        </p:spPr>
        <p:txBody>
          <a:bodyPr wrap="square" lIns="0" tIns="0" rIns="0" bIns="0" rtlCol="0" anchor="ctr"/>
          <a:lstStyle/>
          <a:p>
            <a:pPr algn="l" indent="0" marL="0">
              <a:buNone/>
            </a:pPr>
            <a:r>
              <a:rPr lang="en-US" sz="1500" i="1" dirty="0">
                <a:solidFill>
                  <a:schemeClr val="accent2"/>
                </a:solidFill>
                <a:latin typeface="Calibri" pitchFamily="34" charset="0"/>
                <a:ea typeface="Calibri" pitchFamily="34" charset="-122"/>
                <a:cs typeface="Calibri" pitchFamily="34" charset="-120"/>
              </a:rPr>
              <a:t>Disseminating the first-year results</a:t>
            </a:r>
            <a:endParaRPr lang="en-US" sz="1500" dirty="0"/>
          </a:p>
        </p:txBody>
      </p:sp>
      <p:sp>
        <p:nvSpPr>
          <p:cNvPr id="6" name="KPI CFU · mini-courses"/>
          <p:cNvSpPr/>
          <p:nvPr/>
        </p:nvSpPr>
        <p:spPr>
          <a:xfrm>
            <a:off x="548640" y="1600200"/>
            <a:ext cx="2633472" cy="1234440"/>
          </a:xfrm>
          <a:prstGeom prst="roundRect">
            <a:avLst>
              <a:gd name="adj" fmla="val 8889"/>
            </a:avLst>
          </a:prstGeom>
          <a:solidFill>
            <a:schemeClr val="tx2">
              <a:alpha val="78000"/>
            </a:schemeClr>
          </a:solidFill>
          <a:ln w="9525">
            <a:solidFill>
              <a:schemeClr val="bg2">
                <a:alpha val="30000"/>
              </a:schemeClr>
            </a:solidFill>
            <a:prstDash val="solid"/>
          </a:ln>
        </p:spPr>
      </p:sp>
      <p:sp>
        <p:nvSpPr>
          <p:cNvPr id="7" name="Text 4"/>
          <p:cNvSpPr txBox="1"/>
          <p:nvPr/>
        </p:nvSpPr>
        <p:spPr>
          <a:xfrm>
            <a:off x="822960" y="1691640"/>
            <a:ext cx="2194560" cy="68580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10</a:t>
            </a:r>
            <a:endParaRPr lang="en-US" sz="4400" dirty="0"/>
          </a:p>
        </p:txBody>
      </p:sp>
      <p:sp>
        <p:nvSpPr>
          <p:cNvPr id="8" name="Text 5"/>
          <p:cNvSpPr txBox="1"/>
          <p:nvPr/>
        </p:nvSpPr>
        <p:spPr>
          <a:xfrm>
            <a:off x="822960" y="2377440"/>
            <a:ext cx="2194560" cy="347472"/>
          </a:xfrm>
          <a:prstGeom prst="rect">
            <a:avLst/>
          </a:prstGeom>
          <a:noFill/>
          <a:ln/>
        </p:spPr>
        <p:txBody>
          <a:bodyPr wrap="square" lIns="0" tIns="0" rIns="0" bIns="0" rtlCol="0" anchor="ctr"/>
          <a:lstStyle/>
          <a:p>
            <a:pPr indent="0" marL="0">
              <a:buNone/>
            </a:pPr>
            <a:r>
              <a:rPr lang="en-US" sz="1400" dirty="0">
                <a:solidFill>
                  <a:schemeClr val="bg1"/>
                </a:solidFill>
              </a:rPr>
              <a:t>CFU · mini-courses</a:t>
            </a:r>
            <a:endParaRPr lang="en-US" sz="1400" dirty="0"/>
          </a:p>
        </p:txBody>
      </p:sp>
      <p:sp>
        <p:nvSpPr>
          <p:cNvPr id="9" name="KPI CFU · seminars"/>
          <p:cNvSpPr/>
          <p:nvPr/>
        </p:nvSpPr>
        <p:spPr>
          <a:xfrm>
            <a:off x="3383280" y="1600200"/>
            <a:ext cx="2633472" cy="1234440"/>
          </a:xfrm>
          <a:prstGeom prst="roundRect">
            <a:avLst>
              <a:gd name="adj" fmla="val 8889"/>
            </a:avLst>
          </a:prstGeom>
          <a:solidFill>
            <a:schemeClr val="tx2">
              <a:alpha val="78000"/>
            </a:schemeClr>
          </a:solidFill>
          <a:ln w="9525">
            <a:solidFill>
              <a:schemeClr val="bg2">
                <a:alpha val="30000"/>
              </a:schemeClr>
            </a:solidFill>
            <a:prstDash val="solid"/>
          </a:ln>
        </p:spPr>
      </p:sp>
      <p:sp>
        <p:nvSpPr>
          <p:cNvPr id="10" name="Text 7"/>
          <p:cNvSpPr txBox="1"/>
          <p:nvPr/>
        </p:nvSpPr>
        <p:spPr>
          <a:xfrm>
            <a:off x="3657600" y="1691640"/>
            <a:ext cx="2194560" cy="68580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5</a:t>
            </a:r>
            <a:endParaRPr lang="en-US" sz="4400" dirty="0"/>
          </a:p>
        </p:txBody>
      </p:sp>
      <p:sp>
        <p:nvSpPr>
          <p:cNvPr id="11" name="Text 8"/>
          <p:cNvSpPr txBox="1"/>
          <p:nvPr/>
        </p:nvSpPr>
        <p:spPr>
          <a:xfrm>
            <a:off x="3657600" y="2377440"/>
            <a:ext cx="2194560" cy="347472"/>
          </a:xfrm>
          <a:prstGeom prst="rect">
            <a:avLst/>
          </a:prstGeom>
          <a:noFill/>
          <a:ln/>
        </p:spPr>
        <p:txBody>
          <a:bodyPr wrap="square" lIns="0" tIns="0" rIns="0" bIns="0" rtlCol="0" anchor="ctr"/>
          <a:lstStyle/>
          <a:p>
            <a:pPr indent="0" marL="0">
              <a:buNone/>
            </a:pPr>
            <a:r>
              <a:rPr lang="en-US" sz="1400" dirty="0">
                <a:solidFill>
                  <a:schemeClr val="bg1"/>
                </a:solidFill>
              </a:rPr>
              <a:t>CFU · seminars</a:t>
            </a:r>
            <a:endParaRPr lang="en-US" sz="1400" dirty="0"/>
          </a:p>
        </p:txBody>
      </p:sp>
      <p:sp>
        <p:nvSpPr>
          <p:cNvPr id="12" name="KPI oral presentation"/>
          <p:cNvSpPr/>
          <p:nvPr/>
        </p:nvSpPr>
        <p:spPr>
          <a:xfrm>
            <a:off x="6217920" y="1600200"/>
            <a:ext cx="2633472" cy="1234440"/>
          </a:xfrm>
          <a:prstGeom prst="roundRect">
            <a:avLst>
              <a:gd name="adj" fmla="val 8889"/>
            </a:avLst>
          </a:prstGeom>
          <a:solidFill>
            <a:schemeClr val="tx2">
              <a:alpha val="78000"/>
            </a:schemeClr>
          </a:solidFill>
          <a:ln w="9525">
            <a:solidFill>
              <a:schemeClr val="bg2">
                <a:alpha val="30000"/>
              </a:schemeClr>
            </a:solidFill>
            <a:prstDash val="solid"/>
          </a:ln>
        </p:spPr>
      </p:sp>
      <p:sp>
        <p:nvSpPr>
          <p:cNvPr id="13" name="Text 10"/>
          <p:cNvSpPr txBox="1"/>
          <p:nvPr/>
        </p:nvSpPr>
        <p:spPr>
          <a:xfrm>
            <a:off x="6492240" y="1691640"/>
            <a:ext cx="2194560" cy="68580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a:t>
            </a:r>
            <a:endParaRPr lang="en-US" sz="4400" dirty="0"/>
          </a:p>
        </p:txBody>
      </p:sp>
      <p:sp>
        <p:nvSpPr>
          <p:cNvPr id="14" name="Text 11"/>
          <p:cNvSpPr txBox="1"/>
          <p:nvPr/>
        </p:nvSpPr>
        <p:spPr>
          <a:xfrm>
            <a:off x="6492240" y="2377440"/>
            <a:ext cx="2194560" cy="347472"/>
          </a:xfrm>
          <a:prstGeom prst="rect">
            <a:avLst/>
          </a:prstGeom>
          <a:noFill/>
          <a:ln/>
        </p:spPr>
        <p:txBody>
          <a:bodyPr wrap="square" lIns="0" tIns="0" rIns="0" bIns="0" rtlCol="0" anchor="ctr"/>
          <a:lstStyle/>
          <a:p>
            <a:pPr indent="0" marL="0">
              <a:buNone/>
            </a:pPr>
            <a:r>
              <a:rPr lang="en-US" sz="1400" dirty="0">
                <a:solidFill>
                  <a:schemeClr val="bg1"/>
                </a:solidFill>
              </a:rPr>
              <a:t>oral presentation</a:t>
            </a:r>
            <a:endParaRPr lang="en-US" sz="1400" dirty="0"/>
          </a:p>
        </p:txBody>
      </p:sp>
      <p:sp>
        <p:nvSpPr>
          <p:cNvPr id="15" name="KPI journal articles submitted"/>
          <p:cNvSpPr/>
          <p:nvPr/>
        </p:nvSpPr>
        <p:spPr>
          <a:xfrm>
            <a:off x="9052560" y="1600200"/>
            <a:ext cx="2633472" cy="1234440"/>
          </a:xfrm>
          <a:prstGeom prst="roundRect">
            <a:avLst>
              <a:gd name="adj" fmla="val 8889"/>
            </a:avLst>
          </a:prstGeom>
          <a:solidFill>
            <a:schemeClr val="tx2">
              <a:alpha val="78000"/>
            </a:schemeClr>
          </a:solidFill>
          <a:ln w="9525">
            <a:solidFill>
              <a:schemeClr val="bg2">
                <a:alpha val="30000"/>
              </a:schemeClr>
            </a:solidFill>
            <a:prstDash val="solid"/>
          </a:ln>
        </p:spPr>
      </p:sp>
      <p:sp>
        <p:nvSpPr>
          <p:cNvPr id="16" name="Text 13"/>
          <p:cNvSpPr txBox="1"/>
          <p:nvPr/>
        </p:nvSpPr>
        <p:spPr>
          <a:xfrm>
            <a:off x="9326880" y="1691640"/>
            <a:ext cx="2194560" cy="68580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2</a:t>
            </a:r>
            <a:endParaRPr lang="en-US" sz="4400" dirty="0"/>
          </a:p>
        </p:txBody>
      </p:sp>
      <p:sp>
        <p:nvSpPr>
          <p:cNvPr id="17" name="Text 14"/>
          <p:cNvSpPr txBox="1"/>
          <p:nvPr/>
        </p:nvSpPr>
        <p:spPr>
          <a:xfrm>
            <a:off x="9326880" y="2377440"/>
            <a:ext cx="2194560" cy="347472"/>
          </a:xfrm>
          <a:prstGeom prst="rect">
            <a:avLst/>
          </a:prstGeom>
          <a:noFill/>
          <a:ln/>
        </p:spPr>
        <p:txBody>
          <a:bodyPr wrap="square" lIns="0" tIns="0" rIns="0" bIns="0" rtlCol="0" anchor="ctr"/>
          <a:lstStyle/>
          <a:p>
            <a:pPr indent="0" marL="0">
              <a:buNone/>
            </a:pPr>
            <a:r>
              <a:rPr lang="en-US" sz="1400" dirty="0">
                <a:solidFill>
                  <a:schemeClr val="bg1"/>
                </a:solidFill>
              </a:rPr>
              <a:t>journal articles submitted</a:t>
            </a:r>
            <a:endParaRPr lang="en-US" sz="1400" dirty="0"/>
          </a:p>
        </p:txBody>
      </p:sp>
      <p:sp>
        <p:nvSpPr>
          <p:cNvPr id="18" name="Conference card"/>
          <p:cNvSpPr/>
          <p:nvPr/>
        </p:nvSpPr>
        <p:spPr>
          <a:xfrm>
            <a:off x="548640" y="3063240"/>
            <a:ext cx="5440680" cy="3063240"/>
          </a:xfrm>
          <a:prstGeom prst="roundRect">
            <a:avLst>
              <a:gd name="adj" fmla="val 3582"/>
            </a:avLst>
          </a:prstGeom>
          <a:solidFill>
            <a:schemeClr val="tx2">
              <a:alpha val="78000"/>
            </a:schemeClr>
          </a:solidFill>
          <a:ln w="9525">
            <a:solidFill>
              <a:schemeClr val="bg2">
                <a:alpha val="30000"/>
              </a:schemeClr>
            </a:solidFill>
            <a:prstDash val="solid"/>
          </a:ln>
        </p:spPr>
      </p:sp>
      <p:sp>
        <p:nvSpPr>
          <p:cNvPr id="19" name="Conference"/>
          <p:cNvSpPr/>
          <p:nvPr/>
        </p:nvSpPr>
        <p:spPr>
          <a:xfrm>
            <a:off x="777240" y="3291840"/>
            <a:ext cx="685800" cy="685800"/>
          </a:xfrm>
          <a:prstGeom prst="ellipse">
            <a:avLst/>
          </a:prstGeom>
          <a:solidFill>
            <a:schemeClr val="accent1">
              <a:alpha val="85000"/>
            </a:schemeClr>
          </a:solidFill>
          <a:ln/>
        </p:spPr>
      </p:sp>
      <p:pic>
        <p:nvPicPr>
          <p:cNvPr id="20" name="Conference icon" descr="preencoded.png">    </p:cNvPr>
          <p:cNvPicPr>
            <a:picLocks noChangeAspect="1"/>
          </p:cNvPicPr>
          <p:nvPr/>
        </p:nvPicPr>
        <p:blipFill>
          <a:blip r:embed="rId2"/>
          <a:stretch>
            <a:fillRect/>
          </a:stretch>
        </p:blipFill>
        <p:spPr>
          <a:xfrm>
            <a:off x="955548" y="3470148"/>
            <a:ext cx="329184" cy="329184"/>
          </a:xfrm>
          <a:prstGeom prst="rect">
            <a:avLst/>
          </a:prstGeom>
        </p:spPr>
      </p:pic>
      <p:sp>
        <p:nvSpPr>
          <p:cNvPr id="21" name="Text 17"/>
          <p:cNvSpPr txBox="1"/>
          <p:nvPr/>
        </p:nvSpPr>
        <p:spPr>
          <a:xfrm>
            <a:off x="1645920" y="3291840"/>
            <a:ext cx="4114800" cy="36576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International Conference</a:t>
            </a:r>
            <a:endParaRPr lang="en-US" sz="1800" dirty="0"/>
          </a:p>
        </p:txBody>
      </p:sp>
      <p:sp>
        <p:nvSpPr>
          <p:cNvPr id="22" name="Text 18"/>
          <p:cNvSpPr txBox="1"/>
          <p:nvPr/>
        </p:nvSpPr>
        <p:spPr>
          <a:xfrm>
            <a:off x="1645920" y="3657600"/>
            <a:ext cx="4206240" cy="292608"/>
          </a:xfrm>
          <a:prstGeom prst="rect">
            <a:avLst/>
          </a:prstGeom>
          <a:noFill/>
          <a:ln/>
        </p:spPr>
        <p:txBody>
          <a:bodyPr wrap="square" lIns="0" tIns="0" rIns="0" bIns="0" rtlCol="0" anchor="ctr"/>
          <a:lstStyle/>
          <a:p>
            <a:pPr indent="0" marL="0">
              <a:buNone/>
            </a:pPr>
            <a:r>
              <a:rPr lang="en-US" sz="1400" b="1" dirty="0">
                <a:solidFill>
                  <a:schemeClr val="accent2"/>
                </a:solidFill>
              </a:rPr>
              <a:t>NanoInnovation 2026 · Rome · 14–18 Sept 2026</a:t>
            </a:r>
            <a:endParaRPr lang="en-US" sz="1400" dirty="0"/>
          </a:p>
        </p:txBody>
      </p:sp>
      <p:sp>
        <p:nvSpPr>
          <p:cNvPr id="23" name="Text 19"/>
          <p:cNvSpPr txBox="1"/>
          <p:nvPr/>
        </p:nvSpPr>
        <p:spPr>
          <a:xfrm>
            <a:off x="777240" y="4251960"/>
            <a:ext cx="4937760" cy="274320"/>
          </a:xfrm>
          <a:prstGeom prst="rect">
            <a:avLst/>
          </a:prstGeom>
          <a:noFill/>
          <a:ln/>
        </p:spPr>
        <p:txBody>
          <a:bodyPr wrap="square" lIns="0" tIns="0" rIns="0" bIns="0" rtlCol="0" anchor="ctr"/>
          <a:lstStyle/>
          <a:p>
            <a:pPr indent="0" marL="0">
              <a:buNone/>
            </a:pPr>
            <a:r>
              <a:rPr lang="en-US" sz="1300" b="1" spc="100" kern="0" dirty="0">
                <a:solidFill>
                  <a:schemeClr val="accent4"/>
                </a:solidFill>
              </a:rPr>
              <a:t>Oral presentation</a:t>
            </a:r>
            <a:endParaRPr lang="en-US" sz="1300" dirty="0"/>
          </a:p>
        </p:txBody>
      </p:sp>
      <p:sp>
        <p:nvSpPr>
          <p:cNvPr id="24" name="Text 20"/>
          <p:cNvSpPr txBox="1"/>
          <p:nvPr/>
        </p:nvSpPr>
        <p:spPr>
          <a:xfrm>
            <a:off x="777240" y="4572000"/>
            <a:ext cx="4983480" cy="914400"/>
          </a:xfrm>
          <a:prstGeom prst="rect">
            <a:avLst/>
          </a:prstGeom>
          <a:noFill/>
          <a:ln/>
        </p:spPr>
        <p:txBody>
          <a:bodyPr wrap="square" lIns="0" tIns="0" rIns="0" bIns="0" rtlCol="0" anchor="t"/>
          <a:lstStyle/>
          <a:p>
            <a:pPr indent="0" marL="0">
              <a:buNone/>
            </a:pPr>
            <a:r>
              <a:rPr lang="en-US" sz="1600" i="1" dirty="0">
                <a:solidFill>
                  <a:schemeClr val="bg1"/>
                </a:solidFill>
                <a:latin typeface="Cambria" pitchFamily="34" charset="0"/>
                <a:ea typeface="Cambria" pitchFamily="34" charset="-122"/>
                <a:cs typeface="Cambria" pitchFamily="34" charset="-120"/>
              </a:rPr>
              <a:t>“Machine Learning Raman Classification of Chromonic Liquid Crystal Self-Organisation on Different Substrates”</a:t>
            </a:r>
            <a:endParaRPr lang="en-US" sz="1600" dirty="0"/>
          </a:p>
        </p:txBody>
      </p:sp>
      <p:sp>
        <p:nvSpPr>
          <p:cNvPr id="25" name="Publications card"/>
          <p:cNvSpPr/>
          <p:nvPr/>
        </p:nvSpPr>
        <p:spPr>
          <a:xfrm>
            <a:off x="6199632" y="3063240"/>
            <a:ext cx="5440680" cy="3063240"/>
          </a:xfrm>
          <a:prstGeom prst="roundRect">
            <a:avLst>
              <a:gd name="adj" fmla="val 3582"/>
            </a:avLst>
          </a:prstGeom>
          <a:solidFill>
            <a:schemeClr val="tx2">
              <a:alpha val="78000"/>
            </a:schemeClr>
          </a:solidFill>
          <a:ln w="9525">
            <a:solidFill>
              <a:schemeClr val="bg2">
                <a:alpha val="30000"/>
              </a:schemeClr>
            </a:solidFill>
            <a:prstDash val="solid"/>
          </a:ln>
        </p:spPr>
      </p:sp>
      <p:sp>
        <p:nvSpPr>
          <p:cNvPr id="26" name="Publications"/>
          <p:cNvSpPr/>
          <p:nvPr/>
        </p:nvSpPr>
        <p:spPr>
          <a:xfrm>
            <a:off x="6428232" y="3291840"/>
            <a:ext cx="685800" cy="685800"/>
          </a:xfrm>
          <a:prstGeom prst="ellipse">
            <a:avLst/>
          </a:prstGeom>
          <a:solidFill>
            <a:schemeClr val="accent3">
              <a:alpha val="85000"/>
            </a:schemeClr>
          </a:solidFill>
          <a:ln/>
        </p:spPr>
      </p:sp>
      <p:pic>
        <p:nvPicPr>
          <p:cNvPr id="27" name="Publications icon" descr="preencoded.png">    </p:cNvPr>
          <p:cNvPicPr>
            <a:picLocks noChangeAspect="1"/>
          </p:cNvPicPr>
          <p:nvPr/>
        </p:nvPicPr>
        <p:blipFill>
          <a:blip r:embed="rId3"/>
          <a:stretch>
            <a:fillRect/>
          </a:stretch>
        </p:blipFill>
        <p:spPr>
          <a:xfrm>
            <a:off x="6606540" y="3470148"/>
            <a:ext cx="329184" cy="329184"/>
          </a:xfrm>
          <a:prstGeom prst="rect">
            <a:avLst/>
          </a:prstGeom>
        </p:spPr>
      </p:pic>
      <p:sp>
        <p:nvSpPr>
          <p:cNvPr id="28" name="Text 23"/>
          <p:cNvSpPr txBox="1"/>
          <p:nvPr/>
        </p:nvSpPr>
        <p:spPr>
          <a:xfrm>
            <a:off x="7296912" y="3291840"/>
            <a:ext cx="4114800" cy="36576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Publications from this work</a:t>
            </a:r>
            <a:endParaRPr lang="en-US" sz="1800" dirty="0"/>
          </a:p>
        </p:txBody>
      </p:sp>
      <p:sp>
        <p:nvSpPr>
          <p:cNvPr id="29" name="Text 24"/>
          <p:cNvSpPr txBox="1"/>
          <p:nvPr/>
        </p:nvSpPr>
        <p:spPr>
          <a:xfrm>
            <a:off x="7296912" y="3657600"/>
            <a:ext cx="4206240" cy="292608"/>
          </a:xfrm>
          <a:prstGeom prst="rect">
            <a:avLst/>
          </a:prstGeom>
          <a:noFill/>
          <a:ln/>
        </p:spPr>
        <p:txBody>
          <a:bodyPr wrap="square" lIns="0" tIns="0" rIns="0" bIns="0" rtlCol="0" anchor="ctr"/>
          <a:lstStyle/>
          <a:p>
            <a:pPr indent="0" marL="0">
              <a:buNone/>
            </a:pPr>
            <a:r>
              <a:rPr lang="en-US" sz="1400" b="1" dirty="0">
                <a:solidFill>
                  <a:schemeClr val="accent2"/>
                </a:solidFill>
              </a:rPr>
              <a:t>Outcome: 2 journal articles submitted</a:t>
            </a:r>
            <a:endParaRPr lang="en-US" sz="1400" dirty="0"/>
          </a:p>
        </p:txBody>
      </p:sp>
      <p:sp>
        <p:nvSpPr>
          <p:cNvPr id="30" name="Step 1 badge"/>
          <p:cNvSpPr/>
          <p:nvPr/>
        </p:nvSpPr>
        <p:spPr>
          <a:xfrm>
            <a:off x="6428232" y="4297680"/>
            <a:ext cx="347472" cy="347472"/>
          </a:xfrm>
          <a:prstGeom prst="ellipse">
            <a:avLst/>
          </a:prstGeom>
          <a:solidFill>
            <a:schemeClr val="accent3"/>
          </a:solidFill>
          <a:ln/>
        </p:spPr>
      </p:sp>
      <p:sp>
        <p:nvSpPr>
          <p:cNvPr id="31" name="Text 26"/>
          <p:cNvSpPr txBox="1"/>
          <p:nvPr/>
        </p:nvSpPr>
        <p:spPr>
          <a:xfrm>
            <a:off x="6428232" y="42976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32" name="Text 27"/>
          <p:cNvSpPr txBox="1"/>
          <p:nvPr/>
        </p:nvSpPr>
        <p:spPr>
          <a:xfrm>
            <a:off x="6903720" y="4242816"/>
            <a:ext cx="3246120" cy="457200"/>
          </a:xfrm>
          <a:prstGeom prst="rect">
            <a:avLst/>
          </a:prstGeom>
          <a:noFill/>
          <a:ln/>
        </p:spPr>
        <p:txBody>
          <a:bodyPr wrap="square" lIns="0" tIns="0" rIns="0" bIns="0" rtlCol="0" anchor="ctr"/>
          <a:lstStyle/>
          <a:p>
            <a:pPr indent="0" marL="0">
              <a:buNone/>
            </a:pPr>
            <a:r>
              <a:rPr lang="en-US" sz="1300" dirty="0">
                <a:solidFill>
                  <a:schemeClr val="bg1"/>
                </a:solidFill>
              </a:rPr>
              <a:t>[Paper 1 title] – submitted to [Journal], 2026</a:t>
            </a:r>
            <a:endParaRPr lang="en-US" sz="1300" dirty="0"/>
          </a:p>
        </p:txBody>
      </p:sp>
      <p:sp>
        <p:nvSpPr>
          <p:cNvPr id="33" name="Under review pill"/>
          <p:cNvSpPr/>
          <p:nvPr/>
        </p:nvSpPr>
        <p:spPr>
          <a:xfrm>
            <a:off x="10195560" y="4306824"/>
            <a:ext cx="1280160" cy="329184"/>
          </a:xfrm>
          <a:prstGeom prst="roundRect">
            <a:avLst>
              <a:gd name="adj" fmla="val 50000"/>
            </a:avLst>
          </a:prstGeom>
          <a:solidFill>
            <a:schemeClr val="accent4">
              <a:alpha val="90000"/>
            </a:schemeClr>
          </a:solidFill>
          <a:ln/>
        </p:spPr>
      </p:sp>
      <p:sp>
        <p:nvSpPr>
          <p:cNvPr id="34" name="Text 29"/>
          <p:cNvSpPr txBox="1"/>
          <p:nvPr/>
        </p:nvSpPr>
        <p:spPr>
          <a:xfrm>
            <a:off x="10195560" y="4306824"/>
            <a:ext cx="1280160" cy="329184"/>
          </a:xfrm>
          <a:prstGeom prst="rect">
            <a:avLst/>
          </a:prstGeom>
          <a:noFill/>
          <a:ln/>
        </p:spPr>
        <p:txBody>
          <a:bodyPr wrap="square" lIns="0" tIns="0" rIns="0" bIns="0" rtlCol="0" anchor="ctr"/>
          <a:lstStyle/>
          <a:p>
            <a:pPr algn="ctr" indent="0" marL="0">
              <a:buNone/>
            </a:pPr>
            <a:r>
              <a:rPr lang="en-US" sz="1100" b="1" spc="100" kern="0" dirty="0">
                <a:solidFill>
                  <a:schemeClr val="tx1"/>
                </a:solidFill>
              </a:rPr>
              <a:t>UNDER REVIEW</a:t>
            </a:r>
            <a:endParaRPr lang="en-US" sz="1100" dirty="0"/>
          </a:p>
        </p:txBody>
      </p:sp>
      <p:sp>
        <p:nvSpPr>
          <p:cNvPr id="35" name="Step 2 badge"/>
          <p:cNvSpPr/>
          <p:nvPr/>
        </p:nvSpPr>
        <p:spPr>
          <a:xfrm>
            <a:off x="6428232" y="5074920"/>
            <a:ext cx="347472" cy="347472"/>
          </a:xfrm>
          <a:prstGeom prst="ellipse">
            <a:avLst/>
          </a:prstGeom>
          <a:solidFill>
            <a:schemeClr val="accent3"/>
          </a:solidFill>
          <a:ln/>
        </p:spPr>
      </p:sp>
      <p:sp>
        <p:nvSpPr>
          <p:cNvPr id="36" name="Text 31"/>
          <p:cNvSpPr txBox="1"/>
          <p:nvPr/>
        </p:nvSpPr>
        <p:spPr>
          <a:xfrm>
            <a:off x="6428232" y="507492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7" name="Text 32"/>
          <p:cNvSpPr txBox="1"/>
          <p:nvPr/>
        </p:nvSpPr>
        <p:spPr>
          <a:xfrm>
            <a:off x="6903720" y="5020056"/>
            <a:ext cx="3246120" cy="457200"/>
          </a:xfrm>
          <a:prstGeom prst="rect">
            <a:avLst/>
          </a:prstGeom>
          <a:noFill/>
          <a:ln/>
        </p:spPr>
        <p:txBody>
          <a:bodyPr wrap="square" lIns="0" tIns="0" rIns="0" bIns="0" rtlCol="0" anchor="ctr"/>
          <a:lstStyle/>
          <a:p>
            <a:pPr indent="0" marL="0">
              <a:buNone/>
            </a:pPr>
            <a:r>
              <a:rPr lang="en-US" sz="1300" dirty="0">
                <a:solidFill>
                  <a:schemeClr val="bg1"/>
                </a:solidFill>
              </a:rPr>
              <a:t>[Paper 2 title] – submitted to [Journal], 2026</a:t>
            </a:r>
            <a:endParaRPr lang="en-US" sz="1300" dirty="0"/>
          </a:p>
        </p:txBody>
      </p:sp>
      <p:sp>
        <p:nvSpPr>
          <p:cNvPr id="38" name="Under review pill"/>
          <p:cNvSpPr/>
          <p:nvPr/>
        </p:nvSpPr>
        <p:spPr>
          <a:xfrm>
            <a:off x="10195560" y="5084064"/>
            <a:ext cx="1280160" cy="329184"/>
          </a:xfrm>
          <a:prstGeom prst="roundRect">
            <a:avLst>
              <a:gd name="adj" fmla="val 50000"/>
            </a:avLst>
          </a:prstGeom>
          <a:solidFill>
            <a:schemeClr val="accent4">
              <a:alpha val="90000"/>
            </a:schemeClr>
          </a:solidFill>
          <a:ln/>
        </p:spPr>
      </p:sp>
      <p:sp>
        <p:nvSpPr>
          <p:cNvPr id="39" name="Text 34"/>
          <p:cNvSpPr txBox="1"/>
          <p:nvPr/>
        </p:nvSpPr>
        <p:spPr>
          <a:xfrm>
            <a:off x="10195560" y="5084064"/>
            <a:ext cx="1280160" cy="329184"/>
          </a:xfrm>
          <a:prstGeom prst="rect">
            <a:avLst/>
          </a:prstGeom>
          <a:noFill/>
          <a:ln/>
        </p:spPr>
        <p:txBody>
          <a:bodyPr wrap="square" lIns="0" tIns="0" rIns="0" bIns="0" rtlCol="0" anchor="ctr"/>
          <a:lstStyle/>
          <a:p>
            <a:pPr algn="ctr" indent="0" marL="0">
              <a:buNone/>
            </a:pPr>
            <a:r>
              <a:rPr lang="en-US" sz="1100" b="1" spc="100" kern="0" dirty="0">
                <a:solidFill>
                  <a:schemeClr val="tx1"/>
                </a:solidFill>
              </a:rPr>
              <a:t>UNDER REVIEW</a:t>
            </a:r>
            <a:endParaRPr lang="en-US" sz="11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9C3EC"/>
                </a:solidFill>
              </a:defRPr>
            </a:lvl1pPr>
          </a:lstStyle>
          <a:p>
            <a:pPr algn="r"/>
            <a:fld id="{F7021451-1387-4CA6-816F-3879F97B5CBC}" type="slidenum">
              <a:rPr b="0" lang="en-US"/>
              <a:t>11</a:t>
            </a:fld>
            <a:endParaRPr lang="en-US"/>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Animated background" descr="Animated background: glowing molecular network and Raman spectra">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914400" y="2103120"/>
            <a:ext cx="10362895" cy="1280160"/>
          </a:xfrm>
          <a:prstGeom prst="rect">
            <a:avLst/>
          </a:prstGeom>
          <a:noFill/>
          <a:ln/>
          <a:effectLst>
            <a:outerShdw sx="100000" sy="100000" kx="0" ky="0" algn="bl" rotWithShape="0" blurRad="127000" dist="25400" dir="5400000">
              <a:srgbClr val="000000">
                <a:alpha val="60000"/>
              </a:srgbClr>
            </a:outerShdw>
          </a:effectLst>
        </p:spPr>
        <p:txBody>
          <a:bodyPr wrap="square" lIns="0" tIns="0" rIns="0" bIns="0" rtlCol="0" anchor="ctr"/>
          <a:lstStyle/>
          <a:p>
            <a:pPr algn="ctr" indent="0" marL="0">
              <a:buNone/>
            </a:pPr>
            <a:r>
              <a:rPr lang="en-US" sz="7200" b="1" dirty="0">
                <a:solidFill>
                  <a:schemeClr val="bg1"/>
                </a:solidFill>
                <a:latin typeface="Cambria" pitchFamily="34" charset="0"/>
                <a:ea typeface="Cambria" pitchFamily="34" charset="-122"/>
                <a:cs typeface="Cambria" pitchFamily="34" charset="-120"/>
              </a:rPr>
              <a:t>Thank you</a:t>
            </a:r>
            <a:endParaRPr lang="en-US" sz="7200" dirty="0"/>
          </a:p>
        </p:txBody>
      </p:sp>
      <p:sp>
        <p:nvSpPr>
          <p:cNvPr id="4" name="Text 1"/>
          <p:cNvSpPr txBox="1"/>
          <p:nvPr/>
        </p:nvSpPr>
        <p:spPr>
          <a:xfrm>
            <a:off x="914400" y="3383280"/>
            <a:ext cx="10362895" cy="502920"/>
          </a:xfrm>
          <a:prstGeom prst="rect">
            <a:avLst/>
          </a:prstGeom>
          <a:noFill/>
          <a:ln/>
        </p:spPr>
        <p:txBody>
          <a:bodyPr wrap="square" lIns="0" tIns="0" rIns="0" bIns="0" rtlCol="0" anchor="ctr"/>
          <a:lstStyle/>
          <a:p>
            <a:pPr algn="ctr" indent="0" marL="0">
              <a:buNone/>
            </a:pPr>
            <a:r>
              <a:rPr lang="en-US" sz="2400" spc="200" kern="0" dirty="0">
                <a:solidFill>
                  <a:schemeClr val="accent2"/>
                </a:solidFill>
              </a:rPr>
              <a:t>Questions &amp; discussion</a:t>
            </a:r>
            <a:endParaRPr lang="en-US" sz="2400" dirty="0"/>
          </a:p>
        </p:txBody>
      </p:sp>
      <p:sp>
        <p:nvSpPr>
          <p:cNvPr id="5" name="Presenter pill"/>
          <p:cNvSpPr/>
          <p:nvPr/>
        </p:nvSpPr>
        <p:spPr>
          <a:xfrm>
            <a:off x="2804008" y="4572000"/>
            <a:ext cx="6583680" cy="548640"/>
          </a:xfrm>
          <a:prstGeom prst="roundRect">
            <a:avLst>
              <a:gd name="adj" fmla="val 20000"/>
            </a:avLst>
          </a:prstGeom>
          <a:solidFill>
            <a:schemeClr val="tx2">
              <a:alpha val="65000"/>
            </a:schemeClr>
          </a:solidFill>
          <a:ln w="9525">
            <a:solidFill>
              <a:schemeClr val="bg2">
                <a:alpha val="30000"/>
              </a:schemeClr>
            </a:solidFill>
            <a:prstDash val="solid"/>
          </a:ln>
        </p:spPr>
      </p:sp>
      <p:sp>
        <p:nvSpPr>
          <p:cNvPr id="6" name="Text 3"/>
          <p:cNvSpPr txBox="1"/>
          <p:nvPr/>
        </p:nvSpPr>
        <p:spPr>
          <a:xfrm>
            <a:off x="2804008" y="4572000"/>
            <a:ext cx="6583680" cy="548640"/>
          </a:xfrm>
          <a:prstGeom prst="rect">
            <a:avLst/>
          </a:prstGeom>
          <a:noFill/>
          <a:ln/>
        </p:spPr>
        <p:txBody>
          <a:bodyPr wrap="square" lIns="0" tIns="0" rIns="0" bIns="0" rtlCol="0" anchor="ctr"/>
          <a:lstStyle/>
          <a:p>
            <a:pPr algn="ctr" indent="0" marL="0">
              <a:buNone/>
            </a:pPr>
            <a:r>
              <a:rPr lang="en-US" sz="1500" b="1" dirty="0">
                <a:solidFill>
                  <a:schemeClr val="bg1"/>
                </a:solidFill>
              </a:rPr>
              <a:t>Hira Aman</a:t>
            </a:r>
            <a:pPr algn="ctr" indent="0" marL="0">
              <a:buNone/>
            </a:pPr>
            <a:r>
              <a:rPr lang="en-US" sz="1500" dirty="0">
                <a:solidFill>
                  <a:schemeClr val="bg2"/>
                </a:solidFill>
              </a:rPr>
              <a:t>  ·  PhD in Information Engineering, 41st Cycle  ·  DIIES</a:t>
            </a:r>
            <a:endParaRPr lang="en-US" sz="1500" dirty="0"/>
          </a:p>
        </p:txBody>
      </p:sp>
    </p:spTree>
  </p:cSld>
  <p:clrMapOvr>
    <a:masterClrMapping/>
  </p:clrMapOvr>
  <p:transition spd="slow">
    <p:fade/>
  </p:transition>
</p:sld>
</file>

<file path=ppt/theme/theme1.xml><?xml version="1.0" encoding="utf-8"?>
<a:theme xmlns:a="http://schemas.openxmlformats.org/drawingml/2006/main" name="Raman Nocturne">
  <a:themeElements>
    <a:clrScheme name="Raman Nocturne">
      <a:dk1>
        <a:srgbClr val="0B1026"/>
      </a:dk1>
      <a:lt1>
        <a:srgbClr val="FFFFFF"/>
      </a:lt1>
      <a:dk2>
        <a:srgbClr val="1C1648"/>
      </a:dk2>
      <a:lt2>
        <a:srgbClr val="C9C3EC"/>
      </a:lt2>
      <a:accent1>
        <a:srgbClr val="FF4FA3"/>
      </a:accent1>
      <a:accent2>
        <a:srgbClr val="4FD1E8"/>
      </a:accent2>
      <a:accent3>
        <a:srgbClr val="8B5CF6"/>
      </a:accent3>
      <a:accent4>
        <a:srgbClr val="F7B538"/>
      </a:accent4>
      <a:accent5>
        <a:srgbClr val="34D399"/>
      </a:accent5>
      <a:accent6>
        <a:srgbClr val="94A3B8"/>
      </a:accent6>
      <a:hlink>
        <a:srgbClr val="4FD1E8"/>
      </a:hlink>
      <a:folHlink>
        <a:srgbClr val="C9C3EC"/>
      </a:folHlink>
    </a:clrScheme>
    <a:fontScheme name="Raman Noctur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Activity of Research and Training 2025–2026</dc:title>
  <dc:subject>PptxGenJS Presentation</dc:subject>
  <dc:creator>Hira Aman</dc:creator>
  <cp:lastModifiedBy>Hira Aman</cp:lastModifiedBy>
  <cp:revision>1</cp:revision>
  <dcterms:created xsi:type="dcterms:W3CDTF">2026-10-16T09:46:44Z</dcterms:created>
  <dcterms:modified xsi:type="dcterms:W3CDTF">2026-10-16T09:46:44Z</dcterms:modified>
</cp:coreProperties>
</file>