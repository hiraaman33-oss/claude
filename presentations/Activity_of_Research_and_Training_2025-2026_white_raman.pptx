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1507" r:id="rId3"/>
    <p:sldId id="1505" r:id="rId4"/>
    <p:sldId id="257" r:id="rId5"/>
    <p:sldId id="1502" r:id="rId6"/>
    <p:sldId id="1508" r:id="rId7"/>
    <p:sldId id="262" r:id="rId8"/>
    <p:sldId id="258" r:id="rId9"/>
    <p:sldId id="1506" r:id="rId10"/>
    <p:sldId id="150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918F82-360F-4251-A463-D191AE99887F}" type="datetimeFigureOut">
              <a:rPr lang="en-US" smtClean="0"/>
              <a:t>10/16/2026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77160-EB4B-4901-B391-6059447E414E}" type="slidenum">
              <a:rPr lang="en-US" smtClean="0"/>
              <a:t>‹#›</a:t>
            </a:fld>
            <a:endParaRPr lang="en-US"/>
          </a:p>
        </p:txBody>
      </p:sp>
    </p:spTree>
    <p:extLst>
      <p:ext uri="{BB962C8B-B14F-4D97-AF65-F5344CB8AC3E}">
        <p14:creationId xmlns:p14="http://schemas.microsoft.com/office/powerpoint/2010/main" val="4049391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references:
1. A. Convertino, V. Mussi, L. Maiolo, "Disordered array of Au covered silicon nanowires for SERS biosensing combined with electrochemical detection," Sci. Rep. 2016, 6, 25099.
2. A. Convertino, V. Mussi, L. Maiolo, M. Ledda, M. G. Lolli, F. A. Bovino, G. Fortunato, M. Rocchia, A. Lisi, "Array of disordered silicon nanowires coated by a gold film for combined NIR photothermal treatment of cancer cells and Raman monitoring of the process evolution," Nanotechnology 2018, 29, 415102.
3. D. Paria, A. Convertino, V. Mussi, L. Maiolo, I. Barman, "Silver-Coated Disordered Silicon Nanowires Provide Highly Sensitive Label-Free Glycated Albumin Detection through Molecular Trapping and Plasmonic Hotspot Formation," Adv. Healthcare Mater. 2020, 2001110.
4. V. Mussi, M. Ledda, A. Convertino, A. Lisi, "Raman Mapping of Biological Systems Interacting with a Disordered Nanostructured Surface: A Simple and Powerful Approach to the Label-Free Analysis of Single DNA Bases," Micromachines 2021, 12, 264.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lab we don't look at single spectra one by one. We use Raman mapping: the laser scans across the sample and records a full spectrum at every pixel, so one map gives us hundreds to thousands of spectra. Each spectrum is a chemical fingerprint. Here you can see bands for proteins, such as phenylalanine at 1001, amide III at 1240 and amide I around 1600, and C-H stretching around 2936 from lipids and proteins. From the map we learn not only what biomolecules are present but where they are.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problem with Raman mapping is that some biomolecules have a very weak Raman signal. To solve this we use SERS, surface-enhanced Raman scattering. Our substrate is silicon nanowires coated with metal. When the laser hits the metal, it excites surface plasmons, which create very strong electromagnetic fields in the small gaps between the wires, the so-called hot spots. Molecules sitting there give a Raman signal that is typically enhanced by ten thousand to a hundred million times. You can see it here: the bottom grey line is the same Acacia EV sample on a standard CaF2 substrate, with no detectable peaks. The red line is on our SERS substrate, where the protein and lipid bands appear clearly.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extract extracellular vesicles (EV) and nanovesicles (NV) from Acacia and drop them on our Ag/SiNW SERS substrate. We record Raman maps on the dried drops. The spectra are preprocessed in Python: we crop the informative region, smooth, and normalise with SNV. Then we use PCA for dimensionality reduction, followed by PCA-LDA classification, cross-checked with PLS-DA, using site-grouped 5-fold cross-validation so that spectra from the same spot never appear in both training and test sets. The mean spectra show differences mainly in the 1380 and 1600 bands, and in the PCA of the C-H region the two vesicle types form clearly separated clusters.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E9E8D-B8ED-7484-ECF8-906FAC4F93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1546BAF-D3F0-DAA9-2459-BBC5F5114C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5B27F9-CD5B-703B-7B42-F5F609AB4974}"/>
              </a:ext>
            </a:extLst>
          </p:cNvPr>
          <p:cNvSpPr>
            <a:spLocks noGrp="1"/>
          </p:cNvSpPr>
          <p:nvPr>
            <p:ph type="dt" sz="half" idx="10"/>
          </p:nvPr>
        </p:nvSpPr>
        <p:spPr/>
        <p:txBody>
          <a:bodyPr/>
          <a:lstStyle/>
          <a:p>
            <a:fld id="{C9003F57-3B8F-46A7-81AB-7A92D1CE2475}" type="datetimeFigureOut">
              <a:rPr lang="en-US" smtClean="0"/>
              <a:t>10/16/2026</a:t>
            </a:fld>
            <a:endParaRPr lang="en-US"/>
          </a:p>
        </p:txBody>
      </p:sp>
      <p:sp>
        <p:nvSpPr>
          <p:cNvPr id="5" name="Footer Placeholder 4">
            <a:extLst>
              <a:ext uri="{FF2B5EF4-FFF2-40B4-BE49-F238E27FC236}">
                <a16:creationId xmlns:a16="http://schemas.microsoft.com/office/drawing/2014/main" id="{FBD20943-DE4E-025A-A676-C6C4BB252F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C5B207-9799-7C1D-8779-7E08BE0715E2}"/>
              </a:ext>
            </a:extLst>
          </p:cNvPr>
          <p:cNvSpPr>
            <a:spLocks noGrp="1"/>
          </p:cNvSpPr>
          <p:nvPr>
            <p:ph type="sldNum" sz="quarter" idx="12"/>
          </p:nvPr>
        </p:nvSpPr>
        <p:spPr/>
        <p:txBody>
          <a:bodyPr/>
          <a:lstStyle/>
          <a:p>
            <a:fld id="{34D08F30-3310-4A85-AAD2-4786600AA81E}" type="slidenum">
              <a:rPr lang="en-US" smtClean="0"/>
              <a:t>‹#›</a:t>
            </a:fld>
            <a:endParaRPr lang="en-US"/>
          </a:p>
        </p:txBody>
      </p:sp>
    </p:spTree>
    <p:extLst>
      <p:ext uri="{BB962C8B-B14F-4D97-AF65-F5344CB8AC3E}">
        <p14:creationId xmlns:p14="http://schemas.microsoft.com/office/powerpoint/2010/main" val="119413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05566-8907-61F0-6521-A2D2369377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21AA93-B690-A631-99C8-8CE1211396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7E8AB3-F340-6387-2493-75E752CAD185}"/>
              </a:ext>
            </a:extLst>
          </p:cNvPr>
          <p:cNvSpPr>
            <a:spLocks noGrp="1"/>
          </p:cNvSpPr>
          <p:nvPr>
            <p:ph type="dt" sz="half" idx="10"/>
          </p:nvPr>
        </p:nvSpPr>
        <p:spPr/>
        <p:txBody>
          <a:bodyPr/>
          <a:lstStyle/>
          <a:p>
            <a:fld id="{C9003F57-3B8F-46A7-81AB-7A92D1CE2475}" type="datetimeFigureOut">
              <a:rPr lang="en-US" smtClean="0"/>
              <a:t>10/16/2026</a:t>
            </a:fld>
            <a:endParaRPr lang="en-US"/>
          </a:p>
        </p:txBody>
      </p:sp>
      <p:sp>
        <p:nvSpPr>
          <p:cNvPr id="5" name="Footer Placeholder 4">
            <a:extLst>
              <a:ext uri="{FF2B5EF4-FFF2-40B4-BE49-F238E27FC236}">
                <a16:creationId xmlns:a16="http://schemas.microsoft.com/office/drawing/2014/main" id="{724439B4-3897-EF82-5634-B9ED02C0F7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B36CBF-2BCB-D608-3A1D-14D6FDF9627B}"/>
              </a:ext>
            </a:extLst>
          </p:cNvPr>
          <p:cNvSpPr>
            <a:spLocks noGrp="1"/>
          </p:cNvSpPr>
          <p:nvPr>
            <p:ph type="sldNum" sz="quarter" idx="12"/>
          </p:nvPr>
        </p:nvSpPr>
        <p:spPr/>
        <p:txBody>
          <a:bodyPr/>
          <a:lstStyle/>
          <a:p>
            <a:fld id="{34D08F30-3310-4A85-AAD2-4786600AA81E}" type="slidenum">
              <a:rPr lang="en-US" smtClean="0"/>
              <a:t>‹#›</a:t>
            </a:fld>
            <a:endParaRPr lang="en-US"/>
          </a:p>
        </p:txBody>
      </p:sp>
    </p:spTree>
    <p:extLst>
      <p:ext uri="{BB962C8B-B14F-4D97-AF65-F5344CB8AC3E}">
        <p14:creationId xmlns:p14="http://schemas.microsoft.com/office/powerpoint/2010/main" val="2398074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24429-B685-3A52-9864-76EF5799F4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6E92F7-EA68-18DB-5460-613E917424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637A58-69A5-0F24-EA4C-F9602AB7A6B5}"/>
              </a:ext>
            </a:extLst>
          </p:cNvPr>
          <p:cNvSpPr>
            <a:spLocks noGrp="1"/>
          </p:cNvSpPr>
          <p:nvPr>
            <p:ph type="dt" sz="half" idx="10"/>
          </p:nvPr>
        </p:nvSpPr>
        <p:spPr/>
        <p:txBody>
          <a:bodyPr/>
          <a:lstStyle/>
          <a:p>
            <a:fld id="{C9003F57-3B8F-46A7-81AB-7A92D1CE2475}" type="datetimeFigureOut">
              <a:rPr lang="en-US" smtClean="0"/>
              <a:t>10/16/2026</a:t>
            </a:fld>
            <a:endParaRPr lang="en-US"/>
          </a:p>
        </p:txBody>
      </p:sp>
      <p:sp>
        <p:nvSpPr>
          <p:cNvPr id="5" name="Footer Placeholder 4">
            <a:extLst>
              <a:ext uri="{FF2B5EF4-FFF2-40B4-BE49-F238E27FC236}">
                <a16:creationId xmlns:a16="http://schemas.microsoft.com/office/drawing/2014/main" id="{E168E48F-858B-CAF6-6AE5-F24096B79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71590D-F75C-B534-187B-A9CD6433FCA9}"/>
              </a:ext>
            </a:extLst>
          </p:cNvPr>
          <p:cNvSpPr>
            <a:spLocks noGrp="1"/>
          </p:cNvSpPr>
          <p:nvPr>
            <p:ph type="sldNum" sz="quarter" idx="12"/>
          </p:nvPr>
        </p:nvSpPr>
        <p:spPr/>
        <p:txBody>
          <a:bodyPr/>
          <a:lstStyle/>
          <a:p>
            <a:fld id="{34D08F30-3310-4A85-AAD2-4786600AA81E}" type="slidenum">
              <a:rPr lang="en-US" smtClean="0"/>
              <a:t>‹#›</a:t>
            </a:fld>
            <a:endParaRPr lang="en-US"/>
          </a:p>
        </p:txBody>
      </p:sp>
    </p:spTree>
    <p:extLst>
      <p:ext uri="{BB962C8B-B14F-4D97-AF65-F5344CB8AC3E}">
        <p14:creationId xmlns:p14="http://schemas.microsoft.com/office/powerpoint/2010/main" val="275027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0E352-6B00-4067-CEFE-78C0EE402A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3D9FB8-3EEE-66C5-0CBE-C2341FDDAB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06D436-5D2A-5953-CC69-477B3F1FCB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D7DC90-037B-EC00-95A6-4A0418B39F91}"/>
              </a:ext>
            </a:extLst>
          </p:cNvPr>
          <p:cNvSpPr>
            <a:spLocks noGrp="1"/>
          </p:cNvSpPr>
          <p:nvPr>
            <p:ph type="dt" sz="half" idx="10"/>
          </p:nvPr>
        </p:nvSpPr>
        <p:spPr/>
        <p:txBody>
          <a:bodyPr/>
          <a:lstStyle/>
          <a:p>
            <a:fld id="{C9003F57-3B8F-46A7-81AB-7A92D1CE2475}" type="datetimeFigureOut">
              <a:rPr lang="en-US" smtClean="0"/>
              <a:t>10/16/2026</a:t>
            </a:fld>
            <a:endParaRPr lang="en-US"/>
          </a:p>
        </p:txBody>
      </p:sp>
      <p:sp>
        <p:nvSpPr>
          <p:cNvPr id="6" name="Footer Placeholder 5">
            <a:extLst>
              <a:ext uri="{FF2B5EF4-FFF2-40B4-BE49-F238E27FC236}">
                <a16:creationId xmlns:a16="http://schemas.microsoft.com/office/drawing/2014/main" id="{8070E6BF-964B-EA74-8146-C90DE3ED03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957417-F8A2-7064-73FC-4B5D8991F5A8}"/>
              </a:ext>
            </a:extLst>
          </p:cNvPr>
          <p:cNvSpPr>
            <a:spLocks noGrp="1"/>
          </p:cNvSpPr>
          <p:nvPr>
            <p:ph type="sldNum" sz="quarter" idx="12"/>
          </p:nvPr>
        </p:nvSpPr>
        <p:spPr/>
        <p:txBody>
          <a:bodyPr/>
          <a:lstStyle/>
          <a:p>
            <a:fld id="{34D08F30-3310-4A85-AAD2-4786600AA81E}" type="slidenum">
              <a:rPr lang="en-US" smtClean="0"/>
              <a:t>‹#›</a:t>
            </a:fld>
            <a:endParaRPr lang="en-US"/>
          </a:p>
        </p:txBody>
      </p:sp>
    </p:spTree>
    <p:extLst>
      <p:ext uri="{BB962C8B-B14F-4D97-AF65-F5344CB8AC3E}">
        <p14:creationId xmlns:p14="http://schemas.microsoft.com/office/powerpoint/2010/main" val="2452783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49EB2-EF9F-E38A-F1D2-3472329852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0567818-2ADF-9D88-B58B-00B976307C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A864C4-1BBB-79A5-CAB7-26DBB7556E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4BD550-6FB6-3E9D-EC7D-B744A93979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2E95B7-EA52-634D-60CC-1002FDEEA0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392710-F0AB-7D6A-B396-D1E094776BCD}"/>
              </a:ext>
            </a:extLst>
          </p:cNvPr>
          <p:cNvSpPr>
            <a:spLocks noGrp="1"/>
          </p:cNvSpPr>
          <p:nvPr>
            <p:ph type="dt" sz="half" idx="10"/>
          </p:nvPr>
        </p:nvSpPr>
        <p:spPr/>
        <p:txBody>
          <a:bodyPr/>
          <a:lstStyle/>
          <a:p>
            <a:fld id="{C9003F57-3B8F-46A7-81AB-7A92D1CE2475}" type="datetimeFigureOut">
              <a:rPr lang="en-US" smtClean="0"/>
              <a:t>10/16/2026</a:t>
            </a:fld>
            <a:endParaRPr lang="en-US"/>
          </a:p>
        </p:txBody>
      </p:sp>
      <p:sp>
        <p:nvSpPr>
          <p:cNvPr id="8" name="Footer Placeholder 7">
            <a:extLst>
              <a:ext uri="{FF2B5EF4-FFF2-40B4-BE49-F238E27FC236}">
                <a16:creationId xmlns:a16="http://schemas.microsoft.com/office/drawing/2014/main" id="{7CBD120D-38AA-B013-6310-A5F9EE2057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4F070D-D561-DE9E-A987-26231E255FDA}"/>
              </a:ext>
            </a:extLst>
          </p:cNvPr>
          <p:cNvSpPr>
            <a:spLocks noGrp="1"/>
          </p:cNvSpPr>
          <p:nvPr>
            <p:ph type="sldNum" sz="quarter" idx="12"/>
          </p:nvPr>
        </p:nvSpPr>
        <p:spPr/>
        <p:txBody>
          <a:bodyPr/>
          <a:lstStyle/>
          <a:p>
            <a:fld id="{34D08F30-3310-4A85-AAD2-4786600AA81E}" type="slidenum">
              <a:rPr lang="en-US" smtClean="0"/>
              <a:t>‹#›</a:t>
            </a:fld>
            <a:endParaRPr lang="en-US"/>
          </a:p>
        </p:txBody>
      </p:sp>
    </p:spTree>
    <p:extLst>
      <p:ext uri="{BB962C8B-B14F-4D97-AF65-F5344CB8AC3E}">
        <p14:creationId xmlns:p14="http://schemas.microsoft.com/office/powerpoint/2010/main" val="3709415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07146-880B-70C7-1D28-EC953B4792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CE43F0-FC34-6FB8-3CFB-1897BDE36E7A}"/>
              </a:ext>
            </a:extLst>
          </p:cNvPr>
          <p:cNvSpPr>
            <a:spLocks noGrp="1"/>
          </p:cNvSpPr>
          <p:nvPr>
            <p:ph type="dt" sz="half" idx="10"/>
          </p:nvPr>
        </p:nvSpPr>
        <p:spPr/>
        <p:txBody>
          <a:bodyPr/>
          <a:lstStyle/>
          <a:p>
            <a:fld id="{C9003F57-3B8F-46A7-81AB-7A92D1CE2475}" type="datetimeFigureOut">
              <a:rPr lang="en-US" smtClean="0"/>
              <a:t>10/16/2026</a:t>
            </a:fld>
            <a:endParaRPr lang="en-US"/>
          </a:p>
        </p:txBody>
      </p:sp>
      <p:sp>
        <p:nvSpPr>
          <p:cNvPr id="4" name="Footer Placeholder 3">
            <a:extLst>
              <a:ext uri="{FF2B5EF4-FFF2-40B4-BE49-F238E27FC236}">
                <a16:creationId xmlns:a16="http://schemas.microsoft.com/office/drawing/2014/main" id="{8FE135D0-1068-D9F9-AD1D-8FBA09D85E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B1EF4-CCAF-6436-EF18-2E5A7EC61DA2}"/>
              </a:ext>
            </a:extLst>
          </p:cNvPr>
          <p:cNvSpPr>
            <a:spLocks noGrp="1"/>
          </p:cNvSpPr>
          <p:nvPr>
            <p:ph type="sldNum" sz="quarter" idx="12"/>
          </p:nvPr>
        </p:nvSpPr>
        <p:spPr/>
        <p:txBody>
          <a:bodyPr/>
          <a:lstStyle/>
          <a:p>
            <a:fld id="{34D08F30-3310-4A85-AAD2-4786600AA81E}" type="slidenum">
              <a:rPr lang="en-US" smtClean="0"/>
              <a:t>‹#›</a:t>
            </a:fld>
            <a:endParaRPr lang="en-US"/>
          </a:p>
        </p:txBody>
      </p:sp>
    </p:spTree>
    <p:extLst>
      <p:ext uri="{BB962C8B-B14F-4D97-AF65-F5344CB8AC3E}">
        <p14:creationId xmlns:p14="http://schemas.microsoft.com/office/powerpoint/2010/main" val="1189469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428CE1-F2E3-C247-79CD-4505FD5D5D8B}"/>
              </a:ext>
            </a:extLst>
          </p:cNvPr>
          <p:cNvSpPr>
            <a:spLocks noGrp="1"/>
          </p:cNvSpPr>
          <p:nvPr>
            <p:ph type="dt" sz="half" idx="10"/>
          </p:nvPr>
        </p:nvSpPr>
        <p:spPr/>
        <p:txBody>
          <a:bodyPr/>
          <a:lstStyle/>
          <a:p>
            <a:fld id="{C9003F57-3B8F-46A7-81AB-7A92D1CE2475}" type="datetimeFigureOut">
              <a:rPr lang="en-US" smtClean="0"/>
              <a:t>10/16/2026</a:t>
            </a:fld>
            <a:endParaRPr lang="en-US"/>
          </a:p>
        </p:txBody>
      </p:sp>
      <p:sp>
        <p:nvSpPr>
          <p:cNvPr id="3" name="Footer Placeholder 2">
            <a:extLst>
              <a:ext uri="{FF2B5EF4-FFF2-40B4-BE49-F238E27FC236}">
                <a16:creationId xmlns:a16="http://schemas.microsoft.com/office/drawing/2014/main" id="{8EBAE952-D058-D771-CEE4-CEAF1E9FA3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17438F-8C1C-DE68-8907-9946A6C879FA}"/>
              </a:ext>
            </a:extLst>
          </p:cNvPr>
          <p:cNvSpPr>
            <a:spLocks noGrp="1"/>
          </p:cNvSpPr>
          <p:nvPr>
            <p:ph type="sldNum" sz="quarter" idx="12"/>
          </p:nvPr>
        </p:nvSpPr>
        <p:spPr/>
        <p:txBody>
          <a:bodyPr/>
          <a:lstStyle/>
          <a:p>
            <a:fld id="{34D08F30-3310-4A85-AAD2-4786600AA81E}" type="slidenum">
              <a:rPr lang="en-US" smtClean="0"/>
              <a:t>‹#›</a:t>
            </a:fld>
            <a:endParaRPr lang="en-US"/>
          </a:p>
        </p:txBody>
      </p:sp>
    </p:spTree>
    <p:extLst>
      <p:ext uri="{BB962C8B-B14F-4D97-AF65-F5344CB8AC3E}">
        <p14:creationId xmlns:p14="http://schemas.microsoft.com/office/powerpoint/2010/main" val="1878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96A2E-1046-977B-42E9-9864965ED5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E9BFC1-3253-E961-BB56-4A8A321A16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896748-8CE5-F2B8-B8B3-5283F24275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8B3C6B-5D37-DE59-5536-F8B007C06A2D}"/>
              </a:ext>
            </a:extLst>
          </p:cNvPr>
          <p:cNvSpPr>
            <a:spLocks noGrp="1"/>
          </p:cNvSpPr>
          <p:nvPr>
            <p:ph type="dt" sz="half" idx="10"/>
          </p:nvPr>
        </p:nvSpPr>
        <p:spPr/>
        <p:txBody>
          <a:bodyPr/>
          <a:lstStyle/>
          <a:p>
            <a:fld id="{C9003F57-3B8F-46A7-81AB-7A92D1CE2475}" type="datetimeFigureOut">
              <a:rPr lang="en-US" smtClean="0"/>
              <a:t>10/16/2026</a:t>
            </a:fld>
            <a:endParaRPr lang="en-US"/>
          </a:p>
        </p:txBody>
      </p:sp>
      <p:sp>
        <p:nvSpPr>
          <p:cNvPr id="6" name="Footer Placeholder 5">
            <a:extLst>
              <a:ext uri="{FF2B5EF4-FFF2-40B4-BE49-F238E27FC236}">
                <a16:creationId xmlns:a16="http://schemas.microsoft.com/office/drawing/2014/main" id="{E0A92C90-C33A-5F32-CEA6-3E436F76F6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4771BE-2099-162F-FB7E-E465CADF08EE}"/>
              </a:ext>
            </a:extLst>
          </p:cNvPr>
          <p:cNvSpPr>
            <a:spLocks noGrp="1"/>
          </p:cNvSpPr>
          <p:nvPr>
            <p:ph type="sldNum" sz="quarter" idx="12"/>
          </p:nvPr>
        </p:nvSpPr>
        <p:spPr/>
        <p:txBody>
          <a:bodyPr/>
          <a:lstStyle/>
          <a:p>
            <a:fld id="{34D08F30-3310-4A85-AAD2-4786600AA81E}" type="slidenum">
              <a:rPr lang="en-US" smtClean="0"/>
              <a:t>‹#›</a:t>
            </a:fld>
            <a:endParaRPr lang="en-US"/>
          </a:p>
        </p:txBody>
      </p:sp>
    </p:spTree>
    <p:extLst>
      <p:ext uri="{BB962C8B-B14F-4D97-AF65-F5344CB8AC3E}">
        <p14:creationId xmlns:p14="http://schemas.microsoft.com/office/powerpoint/2010/main" val="2696416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E41FA-FC57-8DA1-9686-7BFC48FAC5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7C1CC6-70D8-AE48-3579-9C864F440A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68F6E4A-C1B1-B2EB-897F-EB4B519BF7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E4C8B8-6FFB-B564-2267-D852D6C5F186}"/>
              </a:ext>
            </a:extLst>
          </p:cNvPr>
          <p:cNvSpPr>
            <a:spLocks noGrp="1"/>
          </p:cNvSpPr>
          <p:nvPr>
            <p:ph type="dt" sz="half" idx="10"/>
          </p:nvPr>
        </p:nvSpPr>
        <p:spPr/>
        <p:txBody>
          <a:bodyPr/>
          <a:lstStyle/>
          <a:p>
            <a:fld id="{C9003F57-3B8F-46A7-81AB-7A92D1CE2475}" type="datetimeFigureOut">
              <a:rPr lang="en-US" smtClean="0"/>
              <a:t>10/16/2026</a:t>
            </a:fld>
            <a:endParaRPr lang="en-US"/>
          </a:p>
        </p:txBody>
      </p:sp>
      <p:sp>
        <p:nvSpPr>
          <p:cNvPr id="6" name="Footer Placeholder 5">
            <a:extLst>
              <a:ext uri="{FF2B5EF4-FFF2-40B4-BE49-F238E27FC236}">
                <a16:creationId xmlns:a16="http://schemas.microsoft.com/office/drawing/2014/main" id="{3861D26C-0FA8-BE82-57C7-B2551B25A3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5976F6-5801-6B3B-BB2A-073765A1263A}"/>
              </a:ext>
            </a:extLst>
          </p:cNvPr>
          <p:cNvSpPr>
            <a:spLocks noGrp="1"/>
          </p:cNvSpPr>
          <p:nvPr>
            <p:ph type="sldNum" sz="quarter" idx="12"/>
          </p:nvPr>
        </p:nvSpPr>
        <p:spPr/>
        <p:txBody>
          <a:bodyPr/>
          <a:lstStyle/>
          <a:p>
            <a:fld id="{34D08F30-3310-4A85-AAD2-4786600AA81E}" type="slidenum">
              <a:rPr lang="en-US" smtClean="0"/>
              <a:t>‹#›</a:t>
            </a:fld>
            <a:endParaRPr lang="en-US"/>
          </a:p>
        </p:txBody>
      </p:sp>
    </p:spTree>
    <p:extLst>
      <p:ext uri="{BB962C8B-B14F-4D97-AF65-F5344CB8AC3E}">
        <p14:creationId xmlns:p14="http://schemas.microsoft.com/office/powerpoint/2010/main" val="686533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72AA3-5FEB-CB4E-DB09-44A454BD74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3006FB-DAB8-9FF4-DDA0-836D6D57F8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E8E03-400F-EE1E-BFED-AD40617B691A}"/>
              </a:ext>
            </a:extLst>
          </p:cNvPr>
          <p:cNvSpPr>
            <a:spLocks noGrp="1"/>
          </p:cNvSpPr>
          <p:nvPr>
            <p:ph type="dt" sz="half" idx="10"/>
          </p:nvPr>
        </p:nvSpPr>
        <p:spPr/>
        <p:txBody>
          <a:bodyPr/>
          <a:lstStyle/>
          <a:p>
            <a:fld id="{C9003F57-3B8F-46A7-81AB-7A92D1CE2475}" type="datetimeFigureOut">
              <a:rPr lang="en-US" smtClean="0"/>
              <a:t>10/16/2026</a:t>
            </a:fld>
            <a:endParaRPr lang="en-US"/>
          </a:p>
        </p:txBody>
      </p:sp>
      <p:sp>
        <p:nvSpPr>
          <p:cNvPr id="5" name="Footer Placeholder 4">
            <a:extLst>
              <a:ext uri="{FF2B5EF4-FFF2-40B4-BE49-F238E27FC236}">
                <a16:creationId xmlns:a16="http://schemas.microsoft.com/office/drawing/2014/main" id="{316F85DF-75F1-C89B-CF96-1052D7324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E0C0A4-9E5C-0EAC-C183-D202399215D2}"/>
              </a:ext>
            </a:extLst>
          </p:cNvPr>
          <p:cNvSpPr>
            <a:spLocks noGrp="1"/>
          </p:cNvSpPr>
          <p:nvPr>
            <p:ph type="sldNum" sz="quarter" idx="12"/>
          </p:nvPr>
        </p:nvSpPr>
        <p:spPr/>
        <p:txBody>
          <a:bodyPr/>
          <a:lstStyle/>
          <a:p>
            <a:fld id="{34D08F30-3310-4A85-AAD2-4786600AA81E}" type="slidenum">
              <a:rPr lang="en-US" smtClean="0"/>
              <a:t>‹#›</a:t>
            </a:fld>
            <a:endParaRPr lang="en-US"/>
          </a:p>
        </p:txBody>
      </p:sp>
    </p:spTree>
    <p:extLst>
      <p:ext uri="{BB962C8B-B14F-4D97-AF65-F5344CB8AC3E}">
        <p14:creationId xmlns:p14="http://schemas.microsoft.com/office/powerpoint/2010/main" val="3946653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6CE9AA-77A5-5FA3-A809-19A881B73F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24DAFE-CDCC-263C-8284-E90ED336E3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5D42E1-496F-8043-0429-8DE4BCBB1551}"/>
              </a:ext>
            </a:extLst>
          </p:cNvPr>
          <p:cNvSpPr>
            <a:spLocks noGrp="1"/>
          </p:cNvSpPr>
          <p:nvPr>
            <p:ph type="dt" sz="half" idx="10"/>
          </p:nvPr>
        </p:nvSpPr>
        <p:spPr/>
        <p:txBody>
          <a:bodyPr/>
          <a:lstStyle/>
          <a:p>
            <a:fld id="{C9003F57-3B8F-46A7-81AB-7A92D1CE2475}" type="datetimeFigureOut">
              <a:rPr lang="en-US" smtClean="0"/>
              <a:t>10/16/2026</a:t>
            </a:fld>
            <a:endParaRPr lang="en-US"/>
          </a:p>
        </p:txBody>
      </p:sp>
      <p:sp>
        <p:nvSpPr>
          <p:cNvPr id="5" name="Footer Placeholder 4">
            <a:extLst>
              <a:ext uri="{FF2B5EF4-FFF2-40B4-BE49-F238E27FC236}">
                <a16:creationId xmlns:a16="http://schemas.microsoft.com/office/drawing/2014/main" id="{29878D93-4A74-2A57-43C8-2B6C0262DF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EC6DD4-CA78-0417-A228-E673C5A8D7B0}"/>
              </a:ext>
            </a:extLst>
          </p:cNvPr>
          <p:cNvSpPr>
            <a:spLocks noGrp="1"/>
          </p:cNvSpPr>
          <p:nvPr>
            <p:ph type="sldNum" sz="quarter" idx="12"/>
          </p:nvPr>
        </p:nvSpPr>
        <p:spPr/>
        <p:txBody>
          <a:bodyPr/>
          <a:lstStyle/>
          <a:p>
            <a:fld id="{34D08F30-3310-4A85-AAD2-4786600AA81E}" type="slidenum">
              <a:rPr lang="en-US" smtClean="0"/>
              <a:t>‹#›</a:t>
            </a:fld>
            <a:endParaRPr lang="en-US"/>
          </a:p>
        </p:txBody>
      </p:sp>
    </p:spTree>
    <p:extLst>
      <p:ext uri="{BB962C8B-B14F-4D97-AF65-F5344CB8AC3E}">
        <p14:creationId xmlns:p14="http://schemas.microsoft.com/office/powerpoint/2010/main" val="1458173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28573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41376"/>
            <a:ext cx="10972800" cy="731520"/>
          </a:xfrm>
          <a:prstGeom prst="rect">
            <a:avLst/>
          </a:prstGeom>
          <a:noFill/>
          <a:ln/>
        </p:spPr>
        <p:txBody>
          <a:bodyPr wrap="square" rtlCol="0"/>
          <a:lstStyle>
            <a:lvl1pPr marL="0" indent="0" algn="l">
              <a:buNone/>
              <a:defRPr lang="en-US" sz="3467" b="1" dirty="0">
                <a:solidFill>
                  <a:schemeClr val="tx2"/>
                </a:solidFill>
              </a:defRPr>
            </a:lvl1pPr>
          </a:lstStyle>
          <a:p>
            <a:pPr marL="0" indent="0" algn="l">
              <a:buNone/>
            </a:pPr>
            <a:endParaRPr lang="en-US" sz="3467" dirty="0"/>
          </a:p>
        </p:txBody>
      </p:sp>
    </p:spTree>
    <p:extLst>
      <p:ext uri="{BB962C8B-B14F-4D97-AF65-F5344CB8AC3E}">
        <p14:creationId xmlns:p14="http://schemas.microsoft.com/office/powerpoint/2010/main" val="39846422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Title 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41376"/>
            <a:ext cx="10972800" cy="731520"/>
          </a:xfrm>
          <a:prstGeom prst="rect">
            <a:avLst/>
          </a:prstGeom>
          <a:noFill/>
          <a:ln/>
        </p:spPr>
        <p:txBody>
          <a:bodyPr wrap="square" rtlCol="0"/>
          <a:lstStyle>
            <a:lvl1pPr marL="0" indent="0" algn="l">
              <a:buNone/>
              <a:defRPr lang="en-US" sz="3467" b="1" dirty="0">
                <a:solidFill>
                  <a:schemeClr val="tx2"/>
                </a:solidFill>
              </a:defRPr>
            </a:lvl1pPr>
          </a:lstStyle>
          <a:p>
            <a:pPr marL="0" indent="0" algn="l">
              <a:buNone/>
            </a:pPr>
            <a:endParaRPr lang="en-US" sz="3467" dirty="0"/>
          </a:p>
        </p:txBody>
      </p:sp>
    </p:spTree>
    <p:extLst>
      <p:ext uri="{BB962C8B-B14F-4D97-AF65-F5344CB8AC3E}">
        <p14:creationId xmlns:p14="http://schemas.microsoft.com/office/powerpoint/2010/main" val="3826983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3_Title 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65760" y="292608"/>
            <a:ext cx="11430000" cy="54864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Tree>
    <p:extLst>
      <p:ext uri="{BB962C8B-B14F-4D97-AF65-F5344CB8AC3E}">
        <p14:creationId xmlns:p14="http://schemas.microsoft.com/office/powerpoint/2010/main" val="34058252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4_Title 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65760" y="292608"/>
            <a:ext cx="9418320" cy="54864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Tree>
    <p:extLst>
      <p:ext uri="{BB962C8B-B14F-4D97-AF65-F5344CB8AC3E}">
        <p14:creationId xmlns:p14="http://schemas.microsoft.com/office/powerpoint/2010/main" val="3843011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29E72E-4EC3-8E05-A90F-4C3CA7BC16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6D4E9BC-8F1C-A7B8-849A-F176375A8D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ACCBB2-419B-5DE0-5236-219AC72819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9003F57-3B8F-46A7-81AB-7A92D1CE2475}" type="datetimeFigureOut">
              <a:rPr lang="en-US" smtClean="0"/>
              <a:t>10/16/2026</a:t>
            </a:fld>
            <a:endParaRPr lang="en-US"/>
          </a:p>
        </p:txBody>
      </p:sp>
      <p:sp>
        <p:nvSpPr>
          <p:cNvPr id="5" name="Footer Placeholder 4">
            <a:extLst>
              <a:ext uri="{FF2B5EF4-FFF2-40B4-BE49-F238E27FC236}">
                <a16:creationId xmlns:a16="http://schemas.microsoft.com/office/drawing/2014/main" id="{DBDF8214-E571-B94F-CC86-1CCA5CB150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8773085-A411-D2C6-49A3-A846F8B21B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D08F30-3310-4A85-AAD2-4786600AA81E}" type="slidenum">
              <a:rPr lang="en-US" smtClean="0"/>
              <a:t>‹#›</a:t>
            </a:fld>
            <a:endParaRPr lang="en-US"/>
          </a:p>
        </p:txBody>
      </p:sp>
    </p:spTree>
    <p:extLst>
      <p:ext uri="{BB962C8B-B14F-4D97-AF65-F5344CB8AC3E}">
        <p14:creationId xmlns:p14="http://schemas.microsoft.com/office/powerpoint/2010/main" val="819026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RamanBg" Type="http://schemas.openxmlformats.org/officeDocument/2006/relationships/image" Target="../media/raman_bg.gif"/></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3.png"/><Relationship Id="rIdRamanBg" Type="http://schemas.openxmlformats.org/officeDocument/2006/relationships/image" Target="../media/raman_bg.gif"/></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 Id="rIdRamanBg" Type="http://schemas.openxmlformats.org/officeDocument/2006/relationships/image" Target="../media/raman_bg.gif"/></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image" Target="../media/image7.jpeg"/><Relationship Id="rId4" Type="http://schemas.openxmlformats.org/officeDocument/2006/relationships/image" Target="../media/image6.png"/><Relationship Id="rIdRamanBg" Type="http://schemas.openxmlformats.org/officeDocument/2006/relationships/image" Target="../media/raman_bg.gif"/></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RamanBg" Type="http://schemas.openxmlformats.org/officeDocument/2006/relationships/image" Target="../media/raman_bg.gif"/></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jpeg"/><Relationship Id="rIdRamanBg" Type="http://schemas.openxmlformats.org/officeDocument/2006/relationships/image" Target="../media/raman_bg.gif"/></Relationships>
</file>

<file path=ppt/slides/_rels/slide7.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9.jpg"/><Relationship Id="rId7" Type="http://schemas.openxmlformats.org/officeDocument/2006/relationships/image" Target="../media/image23.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g"/><Relationship Id="rIdRamanBg" Type="http://schemas.openxmlformats.org/officeDocument/2006/relationships/image" Target="../media/raman_bg.gi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 Id="rIdRamanBg" Type="http://schemas.openxmlformats.org/officeDocument/2006/relationships/image" Target="../media/raman_bg.gi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 Id="rIdRamanBg" Type="http://schemas.openxmlformats.org/officeDocument/2006/relationships/image" Target="../media/raman_bg.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RamanBg" Type="http://schemas.openxmlformats.org/officeDocument/2006/relationships/image" Target="../media/raman_bg.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Raman animated background" descr="Animated background: Raman spectra and laser scattering">
            <a:extLst>
              <a:ext uri="{C183D7F6-B498-43B3-948B-1728B52AA6E4}">
                <adec:decorative xmlns:adec="http://schemas.microsoft.com/office/drawing/2017/decorative" val="1"/>
              </a:ext>
            </a:extLst>
          </p:cNvPr>
          <p:cNvPicPr>
            <a:picLocks noGrp="1" noChangeAspect="1"/>
          </p:cNvPicPr>
          <p:nvPr userDrawn="1"/>
        </p:nvPicPr>
        <p:blipFill>
          <a:blip r:embed="rIdRamanBg"/>
          <a:stretch>
            <a:fillRect/>
          </a:stretch>
        </p:blipFill>
        <p:spPr>
          <a:xfrm>
            <a:off x="0" y="0"/>
            <a:ext cx="12192000" cy="6858000"/>
          </a:xfrm>
          <a:prstGeom prst="rect">
            <a:avLst/>
          </a:prstGeom>
        </p:spPr>
      </p:pic>
      <p:pic>
        <p:nvPicPr>
          <p:cNvPr id="3" name="University logo" descr="unirc_logo.png"/>
          <p:cNvPicPr>
            <a:picLocks noChangeAspect="1"/>
          </p:cNvPicPr>
          <p:nvPr/>
        </p:nvPicPr>
        <p:blipFill>
          <a:blip r:embed="rId3"/>
          <a:stretch>
            <a:fillRect/>
          </a:stretch>
        </p:blipFill>
        <p:spPr>
          <a:xfrm>
            <a:off x="640080" y="365760"/>
            <a:ext cx="1371600" cy="1371600"/>
          </a:xfrm>
          <a:prstGeom prst="rect">
            <a:avLst/>
          </a:prstGeom>
        </p:spPr>
      </p:pic>
      <p:sp>
        <p:nvSpPr>
          <p:cNvPr id="4" name="Text 0"/>
          <p:cNvSpPr txBox="1"/>
          <p:nvPr/>
        </p:nvSpPr>
        <p:spPr>
          <a:xfrm>
            <a:off x="2331720" y="548640"/>
            <a:ext cx="9326880" cy="365760"/>
          </a:xfrm>
          <a:prstGeom prst="rect">
            <a:avLst/>
          </a:prstGeom>
          <a:noFill/>
          <a:ln/>
        </p:spPr>
        <p:txBody>
          <a:bodyPr wrap="square" lIns="0" tIns="0" rIns="0" bIns="0" rtlCol="0" anchor="ctr"/>
          <a:lstStyle/>
          <a:p>
            <a:pPr marL="0" indent="0">
              <a:buNone/>
            </a:pPr>
            <a:r>
              <a:rPr lang="en-US" sz="1800" b="1" dirty="0">
                <a:solidFill>
                  <a:schemeClr val="tx2"/>
                </a:solidFill>
              </a:rPr>
              <a:t>PhD Programme in “Information Engineering” – 41</a:t>
            </a:r>
            <a:r>
              <a:rPr lang="en-US" sz="1800" b="1" baseline="30000" dirty="0">
                <a:solidFill>
                  <a:schemeClr val="tx2"/>
                </a:solidFill>
              </a:rPr>
              <a:t>st</a:t>
            </a:r>
            <a:r>
              <a:rPr lang="en-US" sz="1800" b="1" dirty="0">
                <a:solidFill>
                  <a:schemeClr val="tx2"/>
                </a:solidFill>
              </a:rPr>
              <a:t> Cycle</a:t>
            </a:r>
            <a:endParaRPr lang="en-US" sz="1800" dirty="0"/>
          </a:p>
        </p:txBody>
      </p:sp>
      <p:sp>
        <p:nvSpPr>
          <p:cNvPr id="5" name="Text 1"/>
          <p:cNvSpPr txBox="1"/>
          <p:nvPr/>
        </p:nvSpPr>
        <p:spPr>
          <a:xfrm>
            <a:off x="2331720" y="960120"/>
            <a:ext cx="9326880" cy="365760"/>
          </a:xfrm>
          <a:prstGeom prst="rect">
            <a:avLst/>
          </a:prstGeom>
          <a:noFill/>
          <a:ln/>
        </p:spPr>
        <p:txBody>
          <a:bodyPr wrap="square" lIns="0" tIns="0" rIns="0" bIns="0" rtlCol="0" anchor="ctr"/>
          <a:lstStyle/>
          <a:p>
            <a:pPr marL="0" indent="0">
              <a:buNone/>
            </a:pPr>
            <a:r>
              <a:rPr lang="en-US" sz="1600" dirty="0">
                <a:solidFill>
                  <a:schemeClr val="accent5"/>
                </a:solidFill>
              </a:rPr>
              <a:t>Department of Information Engineering, Infrastructure and Sustainable Energy (DIIES)</a:t>
            </a:r>
            <a:endParaRPr lang="en-US" sz="1600" dirty="0"/>
          </a:p>
        </p:txBody>
      </p:sp>
      <p:sp>
        <p:nvSpPr>
          <p:cNvPr id="6" name="Text 2"/>
          <p:cNvSpPr txBox="1"/>
          <p:nvPr/>
        </p:nvSpPr>
        <p:spPr>
          <a:xfrm>
            <a:off x="640080" y="2514600"/>
            <a:ext cx="10908792" cy="777240"/>
          </a:xfrm>
          <a:prstGeom prst="rect">
            <a:avLst/>
          </a:prstGeom>
          <a:noFill/>
          <a:ln/>
        </p:spPr>
        <p:txBody>
          <a:bodyPr wrap="square" lIns="0" tIns="0" rIns="0" bIns="0" rtlCol="0" anchor="ctr"/>
          <a:lstStyle/>
          <a:p>
            <a:pPr marL="0" indent="0" algn="ctr">
              <a:buNone/>
            </a:pPr>
            <a:r>
              <a:rPr lang="en-US" sz="4400" b="1" dirty="0">
                <a:solidFill>
                  <a:schemeClr val="tx2"/>
                </a:solidFill>
                <a:latin typeface="Cambria" pitchFamily="34" charset="0"/>
                <a:ea typeface="Cambria" pitchFamily="34" charset="-122"/>
                <a:cs typeface="Cambria" pitchFamily="34" charset="-120"/>
              </a:rPr>
              <a:t>Activity of Research and Training</a:t>
            </a:r>
            <a:endParaRPr lang="en-US" sz="4400" dirty="0"/>
          </a:p>
        </p:txBody>
      </p:sp>
      <p:sp>
        <p:nvSpPr>
          <p:cNvPr id="7" name="Text 3"/>
          <p:cNvSpPr txBox="1"/>
          <p:nvPr/>
        </p:nvSpPr>
        <p:spPr>
          <a:xfrm>
            <a:off x="640080" y="3291840"/>
            <a:ext cx="10908792" cy="502920"/>
          </a:xfrm>
          <a:prstGeom prst="rect">
            <a:avLst/>
          </a:prstGeom>
          <a:noFill/>
          <a:ln/>
        </p:spPr>
        <p:txBody>
          <a:bodyPr wrap="square" lIns="0" tIns="0" rIns="0" bIns="0" rtlCol="0" anchor="ctr"/>
          <a:lstStyle/>
          <a:p>
            <a:pPr marL="0" indent="0" algn="ctr">
              <a:buNone/>
            </a:pPr>
            <a:r>
              <a:rPr lang="en-US" sz="2600" dirty="0">
                <a:solidFill>
                  <a:schemeClr val="accent1"/>
                </a:solidFill>
              </a:rPr>
              <a:t>2025 – 2026</a:t>
            </a:r>
            <a:endParaRPr lang="en-US" sz="2600" dirty="0"/>
          </a:p>
        </p:txBody>
      </p:sp>
      <p:sp>
        <p:nvSpPr>
          <p:cNvPr id="8" name="Text 4"/>
          <p:cNvSpPr txBox="1"/>
          <p:nvPr/>
        </p:nvSpPr>
        <p:spPr>
          <a:xfrm>
            <a:off x="8778240" y="5897880"/>
            <a:ext cx="3108960" cy="640080"/>
          </a:xfrm>
          <a:prstGeom prst="rect">
            <a:avLst/>
          </a:prstGeom>
          <a:noFill/>
          <a:ln/>
        </p:spPr>
        <p:txBody>
          <a:bodyPr wrap="square" lIns="0" tIns="0" rIns="0" bIns="0" rtlCol="0" anchor="ctr"/>
          <a:lstStyle/>
          <a:p>
            <a:pPr marL="0" indent="0" algn="r">
              <a:buNone/>
            </a:pPr>
            <a:r>
              <a:rPr lang="en-US" sz="1500" dirty="0">
                <a:solidFill>
                  <a:srgbClr val="6B7780"/>
                </a:solidFill>
              </a:rPr>
              <a:t>PhD Student: </a:t>
            </a:r>
            <a:r>
              <a:rPr lang="en-US" sz="1500" b="1" dirty="0">
                <a:solidFill>
                  <a:schemeClr val="tx2"/>
                </a:solidFill>
              </a:rPr>
              <a:t>Hira Aman</a:t>
            </a:r>
            <a:endParaRPr lang="en-US" sz="1500" dirty="0"/>
          </a:p>
          <a:p>
            <a:pPr marL="0" indent="0" algn="r">
              <a:buNone/>
            </a:pPr>
            <a:r>
              <a:rPr lang="en-US" sz="1500" dirty="0">
                <a:solidFill>
                  <a:srgbClr val="6B7780"/>
                </a:solidFill>
              </a:rPr>
              <a:t>Mentor: </a:t>
            </a:r>
            <a:r>
              <a:rPr lang="en-US" sz="1500" b="1" dirty="0">
                <a:solidFill>
                  <a:schemeClr val="tx2"/>
                </a:solidFill>
              </a:rPr>
              <a:t>Prof. Giuliana Faggio</a:t>
            </a:r>
            <a:endParaRPr lang="en-US" sz="1500" dirty="0"/>
          </a:p>
        </p:txBody>
      </p:sp>
      <p:sp>
        <p:nvSpPr>
          <p:cNvPr id="9" name="AutoShape 2" descr="Generated image 3">
            <a:extLst>
              <a:ext uri="{FF2B5EF4-FFF2-40B4-BE49-F238E27FC236}">
                <a16:creationId xmlns:a16="http://schemas.microsoft.com/office/drawing/2014/main" id="{C7A904C0-8671-8EF4-F6B7-90358A0459B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4" descr="Generated image 3">
            <a:extLst>
              <a:ext uri="{FF2B5EF4-FFF2-40B4-BE49-F238E27FC236}">
                <a16:creationId xmlns:a16="http://schemas.microsoft.com/office/drawing/2014/main" id="{62B995B6-7659-7D8F-AC6F-91CF8465DD07}"/>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Raman animated background" descr="Animated background: Raman spectra and laser scattering">
            <a:extLst>
              <a:ext uri="{C183D7F6-B498-43B3-948B-1728B52AA6E4}">
                <adec:decorative xmlns:adec="http://schemas.microsoft.com/office/drawing/2017/decorative" val="1"/>
              </a:ext>
            </a:extLst>
          </p:cNvPr>
          <p:cNvPicPr>
            <a:picLocks noGrp="1" noChangeAspect="1"/>
          </p:cNvPicPr>
          <p:nvPr userDrawn="1"/>
        </p:nvPicPr>
        <p:blipFill>
          <a:blip r:embed="rIdRamanBg"/>
          <a:stretch>
            <a:fillRect/>
          </a:stretch>
        </p:blipFill>
        <p:spPr>
          <a:xfrm>
            <a:off x="0" y="0"/>
            <a:ext cx="12192000" cy="6858000"/>
          </a:xfrm>
          <a:prstGeom prst="rect">
            <a:avLst/>
          </a:prstGeom>
        </p:spPr>
      </p:pic>
      <p:sp>
        <p:nvSpPr>
          <p:cNvPr id="2" name="Text 0"/>
          <p:cNvSpPr>
            <a:spLocks noGrp="1"/>
          </p:cNvSpPr>
          <p:nvPr>
            <p:ph type="title" idx="100" hasCustomPrompt="1"/>
          </p:nvPr>
        </p:nvSpPr>
        <p:spPr>
          <a:xfrm>
            <a:off x="365760" y="292608"/>
            <a:ext cx="11430000" cy="548640"/>
          </a:xfrm>
          <a:prstGeom prst="rect">
            <a:avLst/>
          </a:prstGeom>
          <a:noFill/>
          <a:ln/>
        </p:spPr>
        <p:txBody>
          <a:bodyPr wrap="square" lIns="0" tIns="0" rIns="0" bIns="0" rtlCol="0" anchor="ctr"/>
          <a:lstStyle/>
          <a:p>
            <a:pPr marL="0" indent="0" algn="l">
              <a:buNone/>
            </a:pPr>
            <a:r>
              <a:rPr lang="en-US" sz="3200" b="1" dirty="0">
                <a:solidFill>
                  <a:schemeClr val="tx2"/>
                </a:solidFill>
              </a:rPr>
              <a:t>Research Activity – First Year: Motivation</a:t>
            </a:r>
            <a:endParaRPr lang="en-US" sz="3200" dirty="0"/>
          </a:p>
        </p:txBody>
      </p:sp>
      <p:sp>
        <p:nvSpPr>
          <p:cNvPr id="3" name="Text 1"/>
          <p:cNvSpPr txBox="1"/>
          <p:nvPr/>
        </p:nvSpPr>
        <p:spPr>
          <a:xfrm>
            <a:off x="365760" y="896112"/>
            <a:ext cx="11430000" cy="292608"/>
          </a:xfrm>
          <a:prstGeom prst="rect">
            <a:avLst/>
          </a:prstGeom>
          <a:noFill/>
          <a:ln/>
        </p:spPr>
        <p:txBody>
          <a:bodyPr wrap="square" lIns="0" tIns="0" rIns="0" bIns="0" rtlCol="0" anchor="ctr"/>
          <a:lstStyle/>
          <a:p>
            <a:pPr marL="0" indent="0">
              <a:buNone/>
            </a:pPr>
            <a:r>
              <a:rPr lang="en-US" sz="1500" i="1" dirty="0">
                <a:solidFill>
                  <a:schemeClr val="accent1"/>
                </a:solidFill>
              </a:rPr>
              <a:t>Advanced characterization and AI-based analysis of biological molecules and nanostructured materials</a:t>
            </a:r>
            <a:endParaRPr lang="en-US" sz="1500" dirty="0"/>
          </a:p>
        </p:txBody>
      </p:sp>
      <p:sp>
        <p:nvSpPr>
          <p:cNvPr id="4" name="Text 2"/>
          <p:cNvSpPr txBox="1"/>
          <p:nvPr/>
        </p:nvSpPr>
        <p:spPr>
          <a:xfrm>
            <a:off x="365760" y="1463040"/>
            <a:ext cx="5943600" cy="365760"/>
          </a:xfrm>
          <a:prstGeom prst="rect">
            <a:avLst/>
          </a:prstGeom>
          <a:noFill/>
          <a:ln/>
        </p:spPr>
        <p:txBody>
          <a:bodyPr wrap="square" lIns="0" tIns="0" rIns="0" bIns="0" rtlCol="0" anchor="ctr"/>
          <a:lstStyle/>
          <a:p>
            <a:pPr marL="0" indent="0">
              <a:buNone/>
            </a:pPr>
            <a:r>
              <a:rPr lang="en-US" sz="1900" b="1" dirty="0">
                <a:solidFill>
                  <a:schemeClr val="tx2"/>
                </a:solidFill>
                <a:latin typeface="Cambria" pitchFamily="34" charset="0"/>
                <a:ea typeface="Cambria" pitchFamily="34" charset="-122"/>
                <a:cs typeface="Cambria" pitchFamily="34" charset="-120"/>
              </a:rPr>
              <a:t>Label-free DNA discrimination</a:t>
            </a:r>
            <a:endParaRPr lang="en-US" sz="1900" dirty="0"/>
          </a:p>
        </p:txBody>
      </p:sp>
      <p:sp>
        <p:nvSpPr>
          <p:cNvPr id="5" name="Text 3"/>
          <p:cNvSpPr txBox="1"/>
          <p:nvPr/>
        </p:nvSpPr>
        <p:spPr>
          <a:xfrm>
            <a:off x="365760" y="1938528"/>
            <a:ext cx="2651760" cy="228600"/>
          </a:xfrm>
          <a:prstGeom prst="rect">
            <a:avLst/>
          </a:prstGeom>
          <a:noFill/>
          <a:ln/>
        </p:spPr>
        <p:txBody>
          <a:bodyPr wrap="square" lIns="0" tIns="0" rIns="0" bIns="0" rtlCol="0" anchor="ctr"/>
          <a:lstStyle/>
          <a:p>
            <a:pPr marL="0" indent="0" algn="ctr">
              <a:buNone/>
            </a:pPr>
            <a:r>
              <a:rPr lang="en-US" sz="1200" b="1" dirty="0">
                <a:solidFill>
                  <a:schemeClr val="accent5"/>
                </a:solidFill>
              </a:rPr>
              <a:t>Raman spectra</a:t>
            </a:r>
            <a:endParaRPr lang="en-US" sz="1200" dirty="0"/>
          </a:p>
        </p:txBody>
      </p:sp>
      <p:pic>
        <p:nvPicPr>
          <p:cNvPr id="6" name="Raman spectra" descr="m_spec.png"/>
          <p:cNvPicPr>
            <a:picLocks noChangeAspect="1"/>
          </p:cNvPicPr>
          <p:nvPr/>
        </p:nvPicPr>
        <p:blipFill>
          <a:blip r:embed="rId3"/>
          <a:stretch>
            <a:fillRect/>
          </a:stretch>
        </p:blipFill>
        <p:spPr>
          <a:xfrm>
            <a:off x="517975" y="2194560"/>
            <a:ext cx="2347329" cy="2834640"/>
          </a:xfrm>
          <a:prstGeom prst="rect">
            <a:avLst/>
          </a:prstGeom>
        </p:spPr>
      </p:pic>
      <p:sp>
        <p:nvSpPr>
          <p:cNvPr id="7" name="Text 4"/>
          <p:cNvSpPr txBox="1"/>
          <p:nvPr/>
        </p:nvSpPr>
        <p:spPr>
          <a:xfrm>
            <a:off x="3246120" y="1938528"/>
            <a:ext cx="3017520" cy="228600"/>
          </a:xfrm>
          <a:prstGeom prst="rect">
            <a:avLst/>
          </a:prstGeom>
          <a:noFill/>
          <a:ln/>
        </p:spPr>
        <p:txBody>
          <a:bodyPr wrap="square" lIns="0" tIns="0" rIns="0" bIns="0" rtlCol="0" anchor="ctr"/>
          <a:lstStyle/>
          <a:p>
            <a:pPr marL="0" indent="0" algn="ctr">
              <a:buNone/>
            </a:pPr>
            <a:r>
              <a:rPr lang="en-US" sz="1200" b="1" dirty="0">
                <a:solidFill>
                  <a:schemeClr val="accent5"/>
                </a:solidFill>
              </a:rPr>
              <a:t>PCA of the spectra</a:t>
            </a:r>
            <a:endParaRPr lang="en-US" sz="1200" dirty="0"/>
          </a:p>
        </p:txBody>
      </p:sp>
      <p:pic>
        <p:nvPicPr>
          <p:cNvPr id="8" name="PCA scores" descr="m_pca.png"/>
          <p:cNvPicPr>
            <a:picLocks noChangeAspect="1"/>
          </p:cNvPicPr>
          <p:nvPr/>
        </p:nvPicPr>
        <p:blipFill>
          <a:blip r:embed="rId4"/>
          <a:stretch>
            <a:fillRect/>
          </a:stretch>
        </p:blipFill>
        <p:spPr>
          <a:xfrm>
            <a:off x="3246120" y="2377440"/>
            <a:ext cx="3017520" cy="2597467"/>
          </a:xfrm>
          <a:prstGeom prst="rect">
            <a:avLst/>
          </a:prstGeom>
        </p:spPr>
      </p:pic>
      <p:sp>
        <p:nvSpPr>
          <p:cNvPr id="9" name="Legend HaCaT · normal"/>
          <p:cNvSpPr/>
          <p:nvPr/>
        </p:nvSpPr>
        <p:spPr>
          <a:xfrm>
            <a:off x="411480" y="5175504"/>
            <a:ext cx="146304" cy="146304"/>
          </a:xfrm>
          <a:prstGeom prst="ellipse">
            <a:avLst/>
          </a:prstGeom>
          <a:solidFill>
            <a:srgbClr val="1F6FC0"/>
          </a:solidFill>
          <a:ln w="12700">
            <a:solidFill>
              <a:srgbClr val="1F6FC0"/>
            </a:solidFill>
            <a:prstDash val="solid"/>
          </a:ln>
        </p:spPr>
        <p:txBody>
          <a:bodyPr/>
          <a:lstStyle/>
          <a:p>
            <a:endParaRPr lang="en-US"/>
          </a:p>
        </p:txBody>
      </p:sp>
      <p:sp>
        <p:nvSpPr>
          <p:cNvPr id="10" name="Text 6"/>
          <p:cNvSpPr txBox="1"/>
          <p:nvPr/>
        </p:nvSpPr>
        <p:spPr>
          <a:xfrm>
            <a:off x="630936" y="5120640"/>
            <a:ext cx="1737360" cy="256032"/>
          </a:xfrm>
          <a:prstGeom prst="rect">
            <a:avLst/>
          </a:prstGeom>
          <a:noFill/>
          <a:ln/>
        </p:spPr>
        <p:txBody>
          <a:bodyPr wrap="square" lIns="0" tIns="0" rIns="0" bIns="0" rtlCol="0" anchor="ctr"/>
          <a:lstStyle/>
          <a:p>
            <a:pPr marL="0" indent="0">
              <a:buNone/>
            </a:pPr>
            <a:r>
              <a:rPr lang="en-US" sz="1200" dirty="0">
                <a:solidFill>
                  <a:schemeClr val="tx1"/>
                </a:solidFill>
              </a:rPr>
              <a:t>HaCaT · normal</a:t>
            </a:r>
            <a:endParaRPr lang="en-US" sz="1200" dirty="0"/>
          </a:p>
        </p:txBody>
      </p:sp>
      <p:sp>
        <p:nvSpPr>
          <p:cNvPr id="11" name="Legend SK-Mel-28 · melanoma"/>
          <p:cNvSpPr/>
          <p:nvPr/>
        </p:nvSpPr>
        <p:spPr>
          <a:xfrm>
            <a:off x="2377440" y="5175504"/>
            <a:ext cx="146304" cy="146304"/>
          </a:xfrm>
          <a:prstGeom prst="ellipse">
            <a:avLst/>
          </a:prstGeom>
          <a:solidFill>
            <a:srgbClr val="E05A1E"/>
          </a:solidFill>
          <a:ln w="12700">
            <a:solidFill>
              <a:srgbClr val="E05A1E"/>
            </a:solidFill>
            <a:prstDash val="solid"/>
          </a:ln>
        </p:spPr>
        <p:txBody>
          <a:bodyPr/>
          <a:lstStyle/>
          <a:p>
            <a:endParaRPr lang="en-US"/>
          </a:p>
        </p:txBody>
      </p:sp>
      <p:sp>
        <p:nvSpPr>
          <p:cNvPr id="12" name="Text 8"/>
          <p:cNvSpPr txBox="1"/>
          <p:nvPr/>
        </p:nvSpPr>
        <p:spPr>
          <a:xfrm>
            <a:off x="2596896" y="5120640"/>
            <a:ext cx="1737360" cy="256032"/>
          </a:xfrm>
          <a:prstGeom prst="rect">
            <a:avLst/>
          </a:prstGeom>
          <a:noFill/>
          <a:ln/>
        </p:spPr>
        <p:txBody>
          <a:bodyPr wrap="square" lIns="0" tIns="0" rIns="0" bIns="0" rtlCol="0" anchor="ctr"/>
          <a:lstStyle/>
          <a:p>
            <a:pPr marL="0" indent="0">
              <a:buNone/>
            </a:pPr>
            <a:r>
              <a:rPr lang="en-US" sz="1200" dirty="0">
                <a:solidFill>
                  <a:schemeClr val="tx1"/>
                </a:solidFill>
              </a:rPr>
              <a:t>SK-Mel-28 · melanoma</a:t>
            </a:r>
            <a:endParaRPr lang="en-US" sz="1200" dirty="0"/>
          </a:p>
        </p:txBody>
      </p:sp>
      <p:sp>
        <p:nvSpPr>
          <p:cNvPr id="13" name="Legend A375 · melanoma"/>
          <p:cNvSpPr/>
          <p:nvPr/>
        </p:nvSpPr>
        <p:spPr>
          <a:xfrm>
            <a:off x="4343400" y="5175504"/>
            <a:ext cx="146304" cy="146304"/>
          </a:xfrm>
          <a:prstGeom prst="ellipse">
            <a:avLst/>
          </a:prstGeom>
          <a:solidFill>
            <a:srgbClr val="2E9E3E"/>
          </a:solidFill>
          <a:ln w="12700">
            <a:solidFill>
              <a:srgbClr val="2E9E3E"/>
            </a:solidFill>
            <a:prstDash val="solid"/>
          </a:ln>
        </p:spPr>
        <p:txBody>
          <a:bodyPr/>
          <a:lstStyle/>
          <a:p>
            <a:endParaRPr lang="en-US"/>
          </a:p>
        </p:txBody>
      </p:sp>
      <p:sp>
        <p:nvSpPr>
          <p:cNvPr id="14" name="Text 10"/>
          <p:cNvSpPr txBox="1"/>
          <p:nvPr/>
        </p:nvSpPr>
        <p:spPr>
          <a:xfrm>
            <a:off x="4562856" y="5120640"/>
            <a:ext cx="1737360" cy="256032"/>
          </a:xfrm>
          <a:prstGeom prst="rect">
            <a:avLst/>
          </a:prstGeom>
          <a:noFill/>
          <a:ln/>
        </p:spPr>
        <p:txBody>
          <a:bodyPr wrap="square" lIns="0" tIns="0" rIns="0" bIns="0" rtlCol="0" anchor="ctr"/>
          <a:lstStyle/>
          <a:p>
            <a:pPr marL="0" indent="0">
              <a:buNone/>
            </a:pPr>
            <a:r>
              <a:rPr lang="en-US" sz="1200" dirty="0">
                <a:solidFill>
                  <a:schemeClr val="tx1"/>
                </a:solidFill>
              </a:rPr>
              <a:t>A375 · melanoma</a:t>
            </a:r>
            <a:endParaRPr lang="en-US" sz="1200" dirty="0"/>
          </a:p>
        </p:txBody>
      </p:sp>
      <p:sp>
        <p:nvSpPr>
          <p:cNvPr id="15" name="Text 11"/>
          <p:cNvSpPr txBox="1"/>
          <p:nvPr/>
        </p:nvSpPr>
        <p:spPr>
          <a:xfrm>
            <a:off x="365760" y="5486400"/>
            <a:ext cx="5943600" cy="548640"/>
          </a:xfrm>
          <a:prstGeom prst="rect">
            <a:avLst/>
          </a:prstGeom>
          <a:noFill/>
          <a:ln/>
        </p:spPr>
        <p:txBody>
          <a:bodyPr wrap="square" lIns="0" tIns="0" rIns="0" bIns="0" rtlCol="0" anchor="t"/>
          <a:lstStyle/>
          <a:p>
            <a:pPr marL="0" indent="0">
              <a:buNone/>
            </a:pPr>
            <a:r>
              <a:rPr lang="en-US" sz="1250" dirty="0">
                <a:solidFill>
                  <a:schemeClr val="tx1"/>
                </a:solidFill>
              </a:rPr>
              <a:t>Genomic DNA drops from normal (HaCaT) and melanoma cells (SK-Mel-28, A375) on Ag-coated SiNW are separated by Raman spectroscopy and PCA, with no labels.</a:t>
            </a:r>
            <a:endParaRPr lang="en-US" sz="1250" dirty="0"/>
          </a:p>
        </p:txBody>
      </p:sp>
      <p:sp>
        <p:nvSpPr>
          <p:cNvPr id="16" name="Text 12"/>
          <p:cNvSpPr txBox="1"/>
          <p:nvPr/>
        </p:nvSpPr>
        <p:spPr>
          <a:xfrm>
            <a:off x="365760" y="6126480"/>
            <a:ext cx="5943600" cy="411480"/>
          </a:xfrm>
          <a:prstGeom prst="rect">
            <a:avLst/>
          </a:prstGeom>
          <a:noFill/>
          <a:ln/>
        </p:spPr>
        <p:txBody>
          <a:bodyPr wrap="square" lIns="0" tIns="0" rIns="0" bIns="0" rtlCol="0" anchor="t"/>
          <a:lstStyle/>
          <a:p>
            <a:pPr marL="0" indent="0">
              <a:buNone/>
            </a:pPr>
            <a:r>
              <a:rPr lang="en-US" sz="1000" dirty="0">
                <a:solidFill>
                  <a:schemeClr val="accent5"/>
                </a:solidFill>
              </a:rPr>
              <a:t>V. Mussi, M. Ledda, D. Polese, L. Maiolo, D. Paria, I. Barman, M. G. Lolli, A. Lisi, A. Convertino, </a:t>
            </a:r>
            <a:r>
              <a:rPr lang="en-US" sz="1000" i="1" dirty="0">
                <a:solidFill>
                  <a:schemeClr val="accent5"/>
                </a:solidFill>
              </a:rPr>
              <a:t>Mater. Sci. Eng. C</a:t>
            </a:r>
            <a:r>
              <a:rPr lang="en-US" sz="1000" b="1" dirty="0">
                <a:solidFill>
                  <a:schemeClr val="accent5"/>
                </a:solidFill>
              </a:rPr>
              <a:t> 2021</a:t>
            </a:r>
            <a:r>
              <a:rPr lang="en-US" sz="1000" dirty="0">
                <a:solidFill>
                  <a:schemeClr val="accent5"/>
                </a:solidFill>
              </a:rPr>
              <a:t>, 122, 111951.</a:t>
            </a:r>
            <a:endParaRPr lang="en-US" sz="1000" dirty="0"/>
          </a:p>
        </p:txBody>
      </p:sp>
      <p:sp>
        <p:nvSpPr>
          <p:cNvPr id="17" name="Prior work card"/>
          <p:cNvSpPr/>
          <p:nvPr/>
        </p:nvSpPr>
        <p:spPr>
          <a:xfrm>
            <a:off x="6629400" y="1463040"/>
            <a:ext cx="5212080" cy="5120640"/>
          </a:xfrm>
          <a:prstGeom prst="roundRect">
            <a:avLst>
              <a:gd name="adj" fmla="val 1786"/>
            </a:avLst>
          </a:prstGeom>
          <a:solidFill>
            <a:schemeClr val="bg2"/>
          </a:solidFill>
          <a:ln/>
        </p:spPr>
        <p:txBody>
          <a:bodyPr/>
          <a:lstStyle/>
          <a:p>
            <a:endParaRPr lang="en-US"/>
          </a:p>
        </p:txBody>
      </p:sp>
      <p:sp>
        <p:nvSpPr>
          <p:cNvPr id="18" name="Text 14"/>
          <p:cNvSpPr txBox="1"/>
          <p:nvPr/>
        </p:nvSpPr>
        <p:spPr>
          <a:xfrm>
            <a:off x="6858000" y="1600200"/>
            <a:ext cx="4754880" cy="365760"/>
          </a:xfrm>
          <a:prstGeom prst="rect">
            <a:avLst/>
          </a:prstGeom>
          <a:noFill/>
          <a:ln/>
        </p:spPr>
        <p:txBody>
          <a:bodyPr wrap="square" lIns="0" tIns="0" rIns="0" bIns="0" rtlCol="0" anchor="ctr"/>
          <a:lstStyle/>
          <a:p>
            <a:pPr marL="0" indent="0">
              <a:buNone/>
            </a:pPr>
            <a:r>
              <a:rPr lang="en-US" sz="1900" b="1" dirty="0">
                <a:solidFill>
                  <a:schemeClr val="tx2"/>
                </a:solidFill>
                <a:latin typeface="Cambria" pitchFamily="34" charset="0"/>
                <a:ea typeface="Cambria" pitchFamily="34" charset="-122"/>
                <a:cs typeface="Cambria" pitchFamily="34" charset="-120"/>
              </a:rPr>
              <a:t>Motivation:</a:t>
            </a:r>
            <a:endParaRPr lang="en-US" sz="1900" dirty="0"/>
          </a:p>
        </p:txBody>
      </p:sp>
      <p:sp>
        <p:nvSpPr>
          <p:cNvPr id="19" name="Timeline"/>
          <p:cNvSpPr/>
          <p:nvPr/>
        </p:nvSpPr>
        <p:spPr>
          <a:xfrm>
            <a:off x="7269480" y="2377440"/>
            <a:ext cx="0" cy="2606040"/>
          </a:xfrm>
          <a:prstGeom prst="line">
            <a:avLst/>
          </a:prstGeom>
          <a:noFill/>
          <a:ln w="25400">
            <a:solidFill>
              <a:schemeClr val="accent3"/>
            </a:solidFill>
            <a:prstDash val="solid"/>
          </a:ln>
        </p:spPr>
        <p:txBody>
          <a:bodyPr/>
          <a:lstStyle/>
          <a:p>
            <a:endParaRPr lang="en-US"/>
          </a:p>
        </p:txBody>
      </p:sp>
      <p:sp>
        <p:nvSpPr>
          <p:cNvPr id="20" name="Year 2016"/>
          <p:cNvSpPr/>
          <p:nvPr/>
        </p:nvSpPr>
        <p:spPr>
          <a:xfrm>
            <a:off x="6858000" y="2221992"/>
            <a:ext cx="822960" cy="310896"/>
          </a:xfrm>
          <a:prstGeom prst="roundRect">
            <a:avLst>
              <a:gd name="adj" fmla="val 50000"/>
            </a:avLst>
          </a:prstGeom>
          <a:solidFill>
            <a:schemeClr val="accent1"/>
          </a:solidFill>
          <a:ln/>
        </p:spPr>
        <p:txBody>
          <a:bodyPr/>
          <a:lstStyle/>
          <a:p>
            <a:endParaRPr lang="en-US"/>
          </a:p>
        </p:txBody>
      </p:sp>
      <p:sp>
        <p:nvSpPr>
          <p:cNvPr id="21" name="Text 17"/>
          <p:cNvSpPr txBox="1"/>
          <p:nvPr/>
        </p:nvSpPr>
        <p:spPr>
          <a:xfrm>
            <a:off x="6858000" y="2221992"/>
            <a:ext cx="822960" cy="310896"/>
          </a:xfrm>
          <a:prstGeom prst="rect">
            <a:avLst/>
          </a:prstGeom>
          <a:noFill/>
          <a:ln/>
        </p:spPr>
        <p:txBody>
          <a:bodyPr wrap="square" lIns="0" tIns="0" rIns="0" bIns="0" rtlCol="0" anchor="ctr"/>
          <a:lstStyle/>
          <a:p>
            <a:pPr marL="0" indent="0" algn="ctr">
              <a:buNone/>
            </a:pPr>
            <a:r>
              <a:rPr lang="en-US" sz="1300" b="1" dirty="0">
                <a:solidFill>
                  <a:schemeClr val="bg1"/>
                </a:solidFill>
              </a:rPr>
              <a:t>2016</a:t>
            </a:r>
            <a:endParaRPr lang="en-US" sz="1300" dirty="0"/>
          </a:p>
        </p:txBody>
      </p:sp>
      <p:sp>
        <p:nvSpPr>
          <p:cNvPr id="22" name="Text 18"/>
          <p:cNvSpPr txBox="1"/>
          <p:nvPr/>
        </p:nvSpPr>
        <p:spPr>
          <a:xfrm>
            <a:off x="7863840" y="2194560"/>
            <a:ext cx="3840480" cy="777240"/>
          </a:xfrm>
          <a:prstGeom prst="rect">
            <a:avLst/>
          </a:prstGeom>
          <a:noFill/>
          <a:ln/>
        </p:spPr>
        <p:txBody>
          <a:bodyPr wrap="square" lIns="0" tIns="0" rIns="0" bIns="0" rtlCol="0" anchor="t"/>
          <a:lstStyle/>
          <a:p>
            <a:pPr marL="0" indent="0">
              <a:buNone/>
            </a:pPr>
            <a:r>
              <a:rPr lang="en-US" sz="1250" b="1" dirty="0">
                <a:solidFill>
                  <a:schemeClr val="tx2"/>
                </a:solidFill>
              </a:rPr>
              <a:t>Au-coated SiNW arrays for SERS biosensing with electrochemical detection</a:t>
            </a:r>
            <a:endParaRPr lang="en-US" sz="1250" dirty="0"/>
          </a:p>
          <a:p>
            <a:pPr marL="0" indent="0">
              <a:buNone/>
            </a:pPr>
            <a:r>
              <a:rPr lang="en-US" sz="1050" i="1" dirty="0">
                <a:solidFill>
                  <a:schemeClr val="accent5"/>
                </a:solidFill>
              </a:rPr>
              <a:t>Convertino et al., Sci. Rep. 6, 25099</a:t>
            </a:r>
            <a:endParaRPr lang="en-US" sz="1250" dirty="0"/>
          </a:p>
        </p:txBody>
      </p:sp>
      <p:sp>
        <p:nvSpPr>
          <p:cNvPr id="23" name="Year 2018"/>
          <p:cNvSpPr/>
          <p:nvPr/>
        </p:nvSpPr>
        <p:spPr>
          <a:xfrm>
            <a:off x="6858000" y="3090672"/>
            <a:ext cx="822960" cy="310896"/>
          </a:xfrm>
          <a:prstGeom prst="roundRect">
            <a:avLst>
              <a:gd name="adj" fmla="val 50000"/>
            </a:avLst>
          </a:prstGeom>
          <a:solidFill>
            <a:schemeClr val="accent1"/>
          </a:solidFill>
          <a:ln/>
        </p:spPr>
        <p:txBody>
          <a:bodyPr/>
          <a:lstStyle/>
          <a:p>
            <a:endParaRPr lang="en-US"/>
          </a:p>
        </p:txBody>
      </p:sp>
      <p:sp>
        <p:nvSpPr>
          <p:cNvPr id="24" name="Text 20"/>
          <p:cNvSpPr txBox="1"/>
          <p:nvPr/>
        </p:nvSpPr>
        <p:spPr>
          <a:xfrm>
            <a:off x="6858000" y="3090672"/>
            <a:ext cx="822960" cy="310896"/>
          </a:xfrm>
          <a:prstGeom prst="rect">
            <a:avLst/>
          </a:prstGeom>
          <a:noFill/>
          <a:ln/>
        </p:spPr>
        <p:txBody>
          <a:bodyPr wrap="square" lIns="0" tIns="0" rIns="0" bIns="0" rtlCol="0" anchor="ctr"/>
          <a:lstStyle/>
          <a:p>
            <a:pPr marL="0" indent="0" algn="ctr">
              <a:buNone/>
            </a:pPr>
            <a:r>
              <a:rPr lang="en-US" sz="1300" b="1" dirty="0">
                <a:solidFill>
                  <a:schemeClr val="bg1"/>
                </a:solidFill>
              </a:rPr>
              <a:t>2018</a:t>
            </a:r>
            <a:endParaRPr lang="en-US" sz="1300" dirty="0"/>
          </a:p>
        </p:txBody>
      </p:sp>
      <p:sp>
        <p:nvSpPr>
          <p:cNvPr id="25" name="Text 21"/>
          <p:cNvSpPr txBox="1"/>
          <p:nvPr/>
        </p:nvSpPr>
        <p:spPr>
          <a:xfrm>
            <a:off x="7863840" y="3063240"/>
            <a:ext cx="3840480" cy="777240"/>
          </a:xfrm>
          <a:prstGeom prst="rect">
            <a:avLst/>
          </a:prstGeom>
          <a:noFill/>
          <a:ln/>
        </p:spPr>
        <p:txBody>
          <a:bodyPr wrap="square" lIns="0" tIns="0" rIns="0" bIns="0" rtlCol="0" anchor="t"/>
          <a:lstStyle/>
          <a:p>
            <a:pPr marL="0" indent="0">
              <a:buNone/>
            </a:pPr>
            <a:r>
              <a:rPr lang="en-US" sz="1250" b="1" dirty="0">
                <a:solidFill>
                  <a:schemeClr val="tx2"/>
                </a:solidFill>
              </a:rPr>
              <a:t>Au-coated SiNW for NIR photothermal treatment of cancer cells, monitored by Raman</a:t>
            </a:r>
            <a:endParaRPr lang="en-US" sz="1250" dirty="0"/>
          </a:p>
          <a:p>
            <a:pPr marL="0" indent="0">
              <a:buNone/>
            </a:pPr>
            <a:r>
              <a:rPr lang="en-US" sz="1050" i="1" dirty="0">
                <a:solidFill>
                  <a:schemeClr val="accent5"/>
                </a:solidFill>
              </a:rPr>
              <a:t>Convertino et al., Nanotechnology 29, 415102</a:t>
            </a:r>
            <a:endParaRPr lang="en-US" sz="1250" dirty="0"/>
          </a:p>
        </p:txBody>
      </p:sp>
      <p:sp>
        <p:nvSpPr>
          <p:cNvPr id="26" name="Year 2020"/>
          <p:cNvSpPr/>
          <p:nvPr/>
        </p:nvSpPr>
        <p:spPr>
          <a:xfrm>
            <a:off x="6858000" y="3959352"/>
            <a:ext cx="822960" cy="310896"/>
          </a:xfrm>
          <a:prstGeom prst="roundRect">
            <a:avLst>
              <a:gd name="adj" fmla="val 50000"/>
            </a:avLst>
          </a:prstGeom>
          <a:solidFill>
            <a:schemeClr val="accent1"/>
          </a:solidFill>
          <a:ln/>
        </p:spPr>
        <p:txBody>
          <a:bodyPr/>
          <a:lstStyle/>
          <a:p>
            <a:endParaRPr lang="en-US"/>
          </a:p>
        </p:txBody>
      </p:sp>
      <p:sp>
        <p:nvSpPr>
          <p:cNvPr id="27" name="Text 23"/>
          <p:cNvSpPr txBox="1"/>
          <p:nvPr/>
        </p:nvSpPr>
        <p:spPr>
          <a:xfrm>
            <a:off x="6858000" y="3959352"/>
            <a:ext cx="822960" cy="310896"/>
          </a:xfrm>
          <a:prstGeom prst="rect">
            <a:avLst/>
          </a:prstGeom>
          <a:noFill/>
          <a:ln/>
        </p:spPr>
        <p:txBody>
          <a:bodyPr wrap="square" lIns="0" tIns="0" rIns="0" bIns="0" rtlCol="0" anchor="ctr"/>
          <a:lstStyle/>
          <a:p>
            <a:pPr marL="0" indent="0" algn="ctr">
              <a:buNone/>
            </a:pPr>
            <a:r>
              <a:rPr lang="en-US" sz="1300" b="1" dirty="0">
                <a:solidFill>
                  <a:schemeClr val="bg1"/>
                </a:solidFill>
              </a:rPr>
              <a:t>2020</a:t>
            </a:r>
            <a:endParaRPr lang="en-US" sz="1300" dirty="0"/>
          </a:p>
        </p:txBody>
      </p:sp>
      <p:sp>
        <p:nvSpPr>
          <p:cNvPr id="28" name="Text 24"/>
          <p:cNvSpPr txBox="1"/>
          <p:nvPr/>
        </p:nvSpPr>
        <p:spPr>
          <a:xfrm>
            <a:off x="7863840" y="3931920"/>
            <a:ext cx="3840480" cy="777240"/>
          </a:xfrm>
          <a:prstGeom prst="rect">
            <a:avLst/>
          </a:prstGeom>
          <a:noFill/>
          <a:ln/>
        </p:spPr>
        <p:txBody>
          <a:bodyPr wrap="square" lIns="0" tIns="0" rIns="0" bIns="0" rtlCol="0" anchor="t"/>
          <a:lstStyle/>
          <a:p>
            <a:pPr marL="0" indent="0">
              <a:buNone/>
            </a:pPr>
            <a:r>
              <a:rPr lang="en-US" sz="1250" b="1" dirty="0">
                <a:solidFill>
                  <a:schemeClr val="tx2"/>
                </a:solidFill>
              </a:rPr>
              <a:t>Ag-coated SiNW for label-free detection of glycated albumin</a:t>
            </a:r>
            <a:endParaRPr lang="en-US" sz="1250" dirty="0"/>
          </a:p>
          <a:p>
            <a:pPr marL="0" indent="0">
              <a:buNone/>
            </a:pPr>
            <a:r>
              <a:rPr lang="en-US" sz="1050" i="1" dirty="0">
                <a:solidFill>
                  <a:schemeClr val="accent5"/>
                </a:solidFill>
              </a:rPr>
              <a:t>Paria et al., Adv. Healthcare Mater., 2001110</a:t>
            </a:r>
            <a:endParaRPr lang="en-US" sz="1250" dirty="0"/>
          </a:p>
        </p:txBody>
      </p:sp>
      <p:sp>
        <p:nvSpPr>
          <p:cNvPr id="29" name="Year 2021"/>
          <p:cNvSpPr/>
          <p:nvPr/>
        </p:nvSpPr>
        <p:spPr>
          <a:xfrm>
            <a:off x="6858000" y="4828032"/>
            <a:ext cx="822960" cy="310896"/>
          </a:xfrm>
          <a:prstGeom prst="roundRect">
            <a:avLst>
              <a:gd name="adj" fmla="val 50000"/>
            </a:avLst>
          </a:prstGeom>
          <a:solidFill>
            <a:schemeClr val="accent1"/>
          </a:solidFill>
          <a:ln/>
        </p:spPr>
        <p:txBody>
          <a:bodyPr/>
          <a:lstStyle/>
          <a:p>
            <a:endParaRPr lang="en-US"/>
          </a:p>
        </p:txBody>
      </p:sp>
      <p:sp>
        <p:nvSpPr>
          <p:cNvPr id="30" name="Text 26"/>
          <p:cNvSpPr txBox="1"/>
          <p:nvPr/>
        </p:nvSpPr>
        <p:spPr>
          <a:xfrm>
            <a:off x="6858000" y="4828032"/>
            <a:ext cx="822960" cy="310896"/>
          </a:xfrm>
          <a:prstGeom prst="rect">
            <a:avLst/>
          </a:prstGeom>
          <a:noFill/>
          <a:ln/>
        </p:spPr>
        <p:txBody>
          <a:bodyPr wrap="square" lIns="0" tIns="0" rIns="0" bIns="0" rtlCol="0" anchor="ctr"/>
          <a:lstStyle/>
          <a:p>
            <a:pPr marL="0" indent="0" algn="ctr">
              <a:buNone/>
            </a:pPr>
            <a:r>
              <a:rPr lang="en-US" sz="1300" b="1" dirty="0">
                <a:solidFill>
                  <a:schemeClr val="bg1"/>
                </a:solidFill>
              </a:rPr>
              <a:t>2021</a:t>
            </a:r>
            <a:endParaRPr lang="en-US" sz="1300" dirty="0"/>
          </a:p>
        </p:txBody>
      </p:sp>
      <p:sp>
        <p:nvSpPr>
          <p:cNvPr id="31" name="Text 27"/>
          <p:cNvSpPr txBox="1"/>
          <p:nvPr/>
        </p:nvSpPr>
        <p:spPr>
          <a:xfrm>
            <a:off x="7863840" y="4800600"/>
            <a:ext cx="3840480" cy="777240"/>
          </a:xfrm>
          <a:prstGeom prst="rect">
            <a:avLst/>
          </a:prstGeom>
          <a:noFill/>
          <a:ln/>
        </p:spPr>
        <p:txBody>
          <a:bodyPr wrap="square" lIns="0" tIns="0" rIns="0" bIns="0" rtlCol="0" anchor="t"/>
          <a:lstStyle/>
          <a:p>
            <a:pPr marL="0" indent="0">
              <a:buNone/>
            </a:pPr>
            <a:r>
              <a:rPr lang="en-US" sz="1250" b="1" dirty="0">
                <a:solidFill>
                  <a:schemeClr val="tx2"/>
                </a:solidFill>
              </a:rPr>
              <a:t>Raman mapping of single DNA bases on disordered nanostructured surfaces</a:t>
            </a:r>
            <a:endParaRPr lang="en-US" sz="1250" dirty="0"/>
          </a:p>
          <a:p>
            <a:pPr marL="0" indent="0">
              <a:buNone/>
            </a:pPr>
            <a:r>
              <a:rPr lang="en-US" sz="1050" i="1" dirty="0">
                <a:solidFill>
                  <a:schemeClr val="accent5"/>
                </a:solidFill>
              </a:rPr>
              <a:t>Mussi et al., Micromachines 12, 264</a:t>
            </a:r>
            <a:endParaRPr lang="en-US" sz="1250" dirty="0"/>
          </a:p>
        </p:txBody>
      </p:sp>
      <p:sp>
        <p:nvSpPr>
          <p:cNvPr id="32" name="PhD aim"/>
          <p:cNvSpPr/>
          <p:nvPr/>
        </p:nvSpPr>
        <p:spPr>
          <a:xfrm>
            <a:off x="6858000" y="5715000"/>
            <a:ext cx="4754880" cy="685800"/>
          </a:xfrm>
          <a:prstGeom prst="roundRect">
            <a:avLst>
              <a:gd name="adj" fmla="val 10667"/>
            </a:avLst>
          </a:prstGeom>
          <a:solidFill>
            <a:schemeClr val="accent1"/>
          </a:solidFill>
          <a:ln/>
        </p:spPr>
        <p:txBody>
          <a:bodyPr/>
          <a:lstStyle/>
          <a:p>
            <a:endParaRPr lang="en-US"/>
          </a:p>
        </p:txBody>
      </p:sp>
      <p:sp>
        <p:nvSpPr>
          <p:cNvPr id="33" name="Text 29"/>
          <p:cNvSpPr txBox="1"/>
          <p:nvPr/>
        </p:nvSpPr>
        <p:spPr>
          <a:xfrm>
            <a:off x="6995160" y="5715000"/>
            <a:ext cx="4526280" cy="685800"/>
          </a:xfrm>
          <a:prstGeom prst="rect">
            <a:avLst/>
          </a:prstGeom>
          <a:noFill/>
          <a:ln/>
        </p:spPr>
        <p:txBody>
          <a:bodyPr wrap="square" lIns="0" tIns="0" rIns="0" bIns="0" rtlCol="0" anchor="ctr"/>
          <a:lstStyle/>
          <a:p>
            <a:pPr marL="0" indent="0">
              <a:buNone/>
            </a:pPr>
            <a:r>
              <a:rPr lang="en-US" sz="1300" b="1" dirty="0">
                <a:solidFill>
                  <a:schemeClr val="bg1"/>
                </a:solidFill>
              </a:rPr>
              <a:t>This PhD: </a:t>
            </a:r>
            <a:r>
              <a:rPr lang="en-US" sz="1300" dirty="0">
                <a:solidFill>
                  <a:schemeClr val="bg1"/>
                </a:solidFill>
              </a:rPr>
              <a:t>Raman mapping + machine learning to analyse thousands of spectra automatically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 name="Raman animated background" descr="Animated background: Raman spectra and laser scattering">
            <a:extLst>
              <a:ext uri="{C183D7F6-B498-43B3-948B-1728B52AA6E4}">
                <adec:decorative xmlns:adec="http://schemas.microsoft.com/office/drawing/2017/decorative" val="1"/>
              </a:ext>
            </a:extLst>
          </p:cNvPr>
          <p:cNvPicPr>
            <a:picLocks noGrp="1" noChangeAspect="1"/>
          </p:cNvPicPr>
          <p:nvPr userDrawn="1"/>
        </p:nvPicPr>
        <p:blipFill>
          <a:blip r:embed="rIdRamanBg"/>
          <a:stretch>
            <a:fillRect/>
          </a:stretch>
        </p:blipFill>
        <p:spPr>
          <a:xfrm>
            <a:off x="0" y="0"/>
            <a:ext cx="12192000" cy="6858000"/>
          </a:xfrm>
          <a:prstGeom prst="rect">
            <a:avLst/>
          </a:prstGeom>
        </p:spPr>
      </p:pic>
      <p:sp>
        <p:nvSpPr>
          <p:cNvPr id="2" name="Text 0"/>
          <p:cNvSpPr>
            <a:spLocks noGrp="1"/>
          </p:cNvSpPr>
          <p:nvPr>
            <p:ph type="title" idx="100" hasCustomPrompt="1"/>
          </p:nvPr>
        </p:nvSpPr>
        <p:spPr>
          <a:xfrm>
            <a:off x="609600" y="341376"/>
            <a:ext cx="10972800" cy="731520"/>
          </a:xfrm>
          <a:prstGeom prst="rect">
            <a:avLst/>
          </a:prstGeom>
          <a:noFill/>
          <a:ln/>
        </p:spPr>
        <p:txBody>
          <a:bodyPr vert="horz" wrap="square" lIns="0" tIns="0" rIns="0" bIns="0" rtlCol="0" anchor="ctr">
            <a:normAutofit/>
          </a:bodyPr>
          <a:lstStyle/>
          <a:p>
            <a:r>
              <a:rPr lang="en-US" dirty="0"/>
              <a:t>Raman Mapping: A Chemical Fingerprint at Every Pixel</a:t>
            </a:r>
          </a:p>
        </p:txBody>
      </p:sp>
      <p:sp>
        <p:nvSpPr>
          <p:cNvPr id="3" name="Text 1"/>
          <p:cNvSpPr txBox="1"/>
          <p:nvPr/>
        </p:nvSpPr>
        <p:spPr>
          <a:xfrm>
            <a:off x="609600" y="1072896"/>
            <a:ext cx="10972800" cy="390144"/>
          </a:xfrm>
          <a:prstGeom prst="rect">
            <a:avLst/>
          </a:prstGeom>
          <a:noFill/>
          <a:ln/>
        </p:spPr>
        <p:txBody>
          <a:bodyPr wrap="square" lIns="0" tIns="0" rIns="0" bIns="0" rtlCol="0" anchor="ctr"/>
          <a:lstStyle/>
          <a:p>
            <a:r>
              <a:rPr lang="en-US" sz="1867" i="1" dirty="0">
                <a:solidFill>
                  <a:schemeClr val="accent1"/>
                </a:solidFill>
              </a:rPr>
              <a:t>Instead of checking single spectra by hand, we map the whole sample</a:t>
            </a:r>
            <a:endParaRPr lang="en-US" sz="1867" dirty="0"/>
          </a:p>
        </p:txBody>
      </p:sp>
      <p:sp>
        <p:nvSpPr>
          <p:cNvPr id="4" name="Map pixel 0-0"/>
          <p:cNvSpPr/>
          <p:nvPr/>
        </p:nvSpPr>
        <p:spPr>
          <a:xfrm>
            <a:off x="609600" y="176784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5" name="Map pixel 0-1"/>
          <p:cNvSpPr/>
          <p:nvPr/>
        </p:nvSpPr>
        <p:spPr>
          <a:xfrm>
            <a:off x="853440" y="176784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6" name="Map pixel 0-2"/>
          <p:cNvSpPr/>
          <p:nvPr/>
        </p:nvSpPr>
        <p:spPr>
          <a:xfrm>
            <a:off x="1097280" y="176784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7" name="Map pixel 0-3"/>
          <p:cNvSpPr/>
          <p:nvPr/>
        </p:nvSpPr>
        <p:spPr>
          <a:xfrm>
            <a:off x="1341120" y="176784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8" name="Map pixel 0-4"/>
          <p:cNvSpPr/>
          <p:nvPr/>
        </p:nvSpPr>
        <p:spPr>
          <a:xfrm>
            <a:off x="1584960" y="176784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9" name="Map pixel 0-5"/>
          <p:cNvSpPr/>
          <p:nvPr/>
        </p:nvSpPr>
        <p:spPr>
          <a:xfrm>
            <a:off x="1828800" y="176784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10" name="Map pixel 0-6"/>
          <p:cNvSpPr/>
          <p:nvPr/>
        </p:nvSpPr>
        <p:spPr>
          <a:xfrm>
            <a:off x="2072640" y="176784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11" name="Map pixel 0-7"/>
          <p:cNvSpPr/>
          <p:nvPr/>
        </p:nvSpPr>
        <p:spPr>
          <a:xfrm>
            <a:off x="2316480" y="176784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12" name="Map pixel 0-8"/>
          <p:cNvSpPr/>
          <p:nvPr/>
        </p:nvSpPr>
        <p:spPr>
          <a:xfrm>
            <a:off x="2560320" y="176784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13" name="Map pixel 0-9"/>
          <p:cNvSpPr/>
          <p:nvPr/>
        </p:nvSpPr>
        <p:spPr>
          <a:xfrm>
            <a:off x="2804160" y="176784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14" name="Map pixel 1-0"/>
          <p:cNvSpPr/>
          <p:nvPr/>
        </p:nvSpPr>
        <p:spPr>
          <a:xfrm>
            <a:off x="609600" y="201168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15" name="Map pixel 1-1"/>
          <p:cNvSpPr/>
          <p:nvPr/>
        </p:nvSpPr>
        <p:spPr>
          <a:xfrm>
            <a:off x="853440" y="201168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16" name="Map pixel 1-2"/>
          <p:cNvSpPr/>
          <p:nvPr/>
        </p:nvSpPr>
        <p:spPr>
          <a:xfrm>
            <a:off x="1097280" y="201168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17" name="Map pixel 1-3"/>
          <p:cNvSpPr/>
          <p:nvPr/>
        </p:nvSpPr>
        <p:spPr>
          <a:xfrm>
            <a:off x="1341120" y="201168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18" name="Map pixel 1-4"/>
          <p:cNvSpPr/>
          <p:nvPr/>
        </p:nvSpPr>
        <p:spPr>
          <a:xfrm>
            <a:off x="1584960" y="201168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19" name="Map pixel 1-5"/>
          <p:cNvSpPr/>
          <p:nvPr/>
        </p:nvSpPr>
        <p:spPr>
          <a:xfrm>
            <a:off x="1828800" y="201168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20" name="Map pixel 1-6"/>
          <p:cNvSpPr/>
          <p:nvPr/>
        </p:nvSpPr>
        <p:spPr>
          <a:xfrm>
            <a:off x="2072640" y="201168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21" name="Map pixel 1-7"/>
          <p:cNvSpPr/>
          <p:nvPr/>
        </p:nvSpPr>
        <p:spPr>
          <a:xfrm>
            <a:off x="2316480" y="201168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22" name="Map pixel 1-8"/>
          <p:cNvSpPr/>
          <p:nvPr/>
        </p:nvSpPr>
        <p:spPr>
          <a:xfrm>
            <a:off x="2560320" y="201168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23" name="Map pixel 1-9"/>
          <p:cNvSpPr/>
          <p:nvPr/>
        </p:nvSpPr>
        <p:spPr>
          <a:xfrm>
            <a:off x="2804160" y="201168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24" name="Map pixel 2-0"/>
          <p:cNvSpPr/>
          <p:nvPr/>
        </p:nvSpPr>
        <p:spPr>
          <a:xfrm>
            <a:off x="609600" y="2255520"/>
            <a:ext cx="243840" cy="243840"/>
          </a:xfrm>
          <a:prstGeom prst="rect">
            <a:avLst/>
          </a:prstGeom>
          <a:solidFill>
            <a:srgbClr val="1C7C8C"/>
          </a:solidFill>
          <a:ln w="6350">
            <a:solidFill>
              <a:srgbClr val="FFFFFF"/>
            </a:solidFill>
            <a:prstDash val="solid"/>
          </a:ln>
        </p:spPr>
        <p:txBody>
          <a:bodyPr/>
          <a:lstStyle/>
          <a:p>
            <a:endParaRPr lang="en-US" sz="2400"/>
          </a:p>
        </p:txBody>
      </p:sp>
      <p:sp>
        <p:nvSpPr>
          <p:cNvPr id="25" name="Map pixel 2-1"/>
          <p:cNvSpPr/>
          <p:nvPr/>
        </p:nvSpPr>
        <p:spPr>
          <a:xfrm>
            <a:off x="853440" y="2255520"/>
            <a:ext cx="243840" cy="243840"/>
          </a:xfrm>
          <a:prstGeom prst="rect">
            <a:avLst/>
          </a:prstGeom>
          <a:solidFill>
            <a:srgbClr val="1C7C8C"/>
          </a:solidFill>
          <a:ln w="6350">
            <a:solidFill>
              <a:srgbClr val="FFFFFF"/>
            </a:solidFill>
            <a:prstDash val="solid"/>
          </a:ln>
        </p:spPr>
        <p:txBody>
          <a:bodyPr/>
          <a:lstStyle/>
          <a:p>
            <a:endParaRPr lang="en-US" sz="2400"/>
          </a:p>
        </p:txBody>
      </p:sp>
      <p:sp>
        <p:nvSpPr>
          <p:cNvPr id="26" name="Map pixel 2-2"/>
          <p:cNvSpPr/>
          <p:nvPr/>
        </p:nvSpPr>
        <p:spPr>
          <a:xfrm>
            <a:off x="1097280" y="2255520"/>
            <a:ext cx="243840" cy="243840"/>
          </a:xfrm>
          <a:prstGeom prst="rect">
            <a:avLst/>
          </a:prstGeom>
          <a:solidFill>
            <a:srgbClr val="1C7C8C"/>
          </a:solidFill>
          <a:ln w="6350">
            <a:solidFill>
              <a:srgbClr val="FFFFFF"/>
            </a:solidFill>
            <a:prstDash val="solid"/>
          </a:ln>
        </p:spPr>
        <p:txBody>
          <a:bodyPr/>
          <a:lstStyle/>
          <a:p>
            <a:endParaRPr lang="en-US" sz="2400"/>
          </a:p>
        </p:txBody>
      </p:sp>
      <p:sp>
        <p:nvSpPr>
          <p:cNvPr id="27" name="Map pixel 2-3"/>
          <p:cNvSpPr/>
          <p:nvPr/>
        </p:nvSpPr>
        <p:spPr>
          <a:xfrm>
            <a:off x="1341120" y="225552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28" name="Map pixel 2-4"/>
          <p:cNvSpPr/>
          <p:nvPr/>
        </p:nvSpPr>
        <p:spPr>
          <a:xfrm>
            <a:off x="1584960" y="225552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29" name="Map pixel 2-5"/>
          <p:cNvSpPr/>
          <p:nvPr/>
        </p:nvSpPr>
        <p:spPr>
          <a:xfrm>
            <a:off x="1828800" y="225552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30" name="Map pixel 2-6"/>
          <p:cNvSpPr/>
          <p:nvPr/>
        </p:nvSpPr>
        <p:spPr>
          <a:xfrm>
            <a:off x="2072640" y="225552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31" name="Map pixel 2-7"/>
          <p:cNvSpPr/>
          <p:nvPr/>
        </p:nvSpPr>
        <p:spPr>
          <a:xfrm>
            <a:off x="2316480" y="225552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32" name="Map pixel 2-8"/>
          <p:cNvSpPr/>
          <p:nvPr/>
        </p:nvSpPr>
        <p:spPr>
          <a:xfrm>
            <a:off x="2560320" y="225552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33" name="Map pixel 2-9"/>
          <p:cNvSpPr/>
          <p:nvPr/>
        </p:nvSpPr>
        <p:spPr>
          <a:xfrm>
            <a:off x="2804160" y="225552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34" name="Map pixel 3-0"/>
          <p:cNvSpPr/>
          <p:nvPr/>
        </p:nvSpPr>
        <p:spPr>
          <a:xfrm>
            <a:off x="609600" y="2499360"/>
            <a:ext cx="243840" cy="243840"/>
          </a:xfrm>
          <a:prstGeom prst="rect">
            <a:avLst/>
          </a:prstGeom>
          <a:solidFill>
            <a:srgbClr val="1C7C8C"/>
          </a:solidFill>
          <a:ln w="6350">
            <a:solidFill>
              <a:srgbClr val="FFFFFF"/>
            </a:solidFill>
            <a:prstDash val="solid"/>
          </a:ln>
        </p:spPr>
        <p:txBody>
          <a:bodyPr/>
          <a:lstStyle/>
          <a:p>
            <a:endParaRPr lang="en-US" sz="2400"/>
          </a:p>
        </p:txBody>
      </p:sp>
      <p:sp>
        <p:nvSpPr>
          <p:cNvPr id="35" name="Map pixel 3-1"/>
          <p:cNvSpPr/>
          <p:nvPr/>
        </p:nvSpPr>
        <p:spPr>
          <a:xfrm>
            <a:off x="853440" y="2499360"/>
            <a:ext cx="243840" cy="243840"/>
          </a:xfrm>
          <a:prstGeom prst="rect">
            <a:avLst/>
          </a:prstGeom>
          <a:solidFill>
            <a:srgbClr val="1C7C8C"/>
          </a:solidFill>
          <a:ln w="6350">
            <a:solidFill>
              <a:srgbClr val="FFFFFF"/>
            </a:solidFill>
            <a:prstDash val="solid"/>
          </a:ln>
        </p:spPr>
        <p:txBody>
          <a:bodyPr/>
          <a:lstStyle/>
          <a:p>
            <a:endParaRPr lang="en-US" sz="2400"/>
          </a:p>
        </p:txBody>
      </p:sp>
      <p:sp>
        <p:nvSpPr>
          <p:cNvPr id="36" name="Map pixel 3-2"/>
          <p:cNvSpPr/>
          <p:nvPr/>
        </p:nvSpPr>
        <p:spPr>
          <a:xfrm>
            <a:off x="1097280" y="2499360"/>
            <a:ext cx="243840" cy="243840"/>
          </a:xfrm>
          <a:prstGeom prst="rect">
            <a:avLst/>
          </a:prstGeom>
          <a:solidFill>
            <a:srgbClr val="1C7C8C"/>
          </a:solidFill>
          <a:ln w="6350">
            <a:solidFill>
              <a:srgbClr val="FFFFFF"/>
            </a:solidFill>
            <a:prstDash val="solid"/>
          </a:ln>
        </p:spPr>
        <p:txBody>
          <a:bodyPr/>
          <a:lstStyle/>
          <a:p>
            <a:endParaRPr lang="en-US" sz="2400"/>
          </a:p>
        </p:txBody>
      </p:sp>
      <p:sp>
        <p:nvSpPr>
          <p:cNvPr id="37" name="Map pixel 3-3"/>
          <p:cNvSpPr/>
          <p:nvPr/>
        </p:nvSpPr>
        <p:spPr>
          <a:xfrm>
            <a:off x="1341120" y="249936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38" name="Map pixel 3-4"/>
          <p:cNvSpPr/>
          <p:nvPr/>
        </p:nvSpPr>
        <p:spPr>
          <a:xfrm>
            <a:off x="1584960" y="249936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39" name="Map pixel 3-5"/>
          <p:cNvSpPr/>
          <p:nvPr/>
        </p:nvSpPr>
        <p:spPr>
          <a:xfrm>
            <a:off x="1828800" y="249936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40" name="Map pixel 3-6"/>
          <p:cNvSpPr/>
          <p:nvPr/>
        </p:nvSpPr>
        <p:spPr>
          <a:xfrm>
            <a:off x="2072640" y="249936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41" name="Map pixel 3-7"/>
          <p:cNvSpPr/>
          <p:nvPr/>
        </p:nvSpPr>
        <p:spPr>
          <a:xfrm>
            <a:off x="2316480" y="249936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42" name="Map pixel 3-8"/>
          <p:cNvSpPr/>
          <p:nvPr/>
        </p:nvSpPr>
        <p:spPr>
          <a:xfrm>
            <a:off x="2560320" y="249936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43" name="Map pixel 3-9"/>
          <p:cNvSpPr/>
          <p:nvPr/>
        </p:nvSpPr>
        <p:spPr>
          <a:xfrm>
            <a:off x="2804160" y="249936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44" name="Map pixel 4-0"/>
          <p:cNvSpPr/>
          <p:nvPr/>
        </p:nvSpPr>
        <p:spPr>
          <a:xfrm>
            <a:off x="609600" y="2743200"/>
            <a:ext cx="243840" cy="243840"/>
          </a:xfrm>
          <a:prstGeom prst="rect">
            <a:avLst/>
          </a:prstGeom>
          <a:solidFill>
            <a:srgbClr val="1C7C8C"/>
          </a:solidFill>
          <a:ln w="6350">
            <a:solidFill>
              <a:srgbClr val="FFFFFF"/>
            </a:solidFill>
            <a:prstDash val="solid"/>
          </a:ln>
        </p:spPr>
        <p:txBody>
          <a:bodyPr/>
          <a:lstStyle/>
          <a:p>
            <a:endParaRPr lang="en-US" sz="2400"/>
          </a:p>
        </p:txBody>
      </p:sp>
      <p:sp>
        <p:nvSpPr>
          <p:cNvPr id="45" name="Map pixel 4-1"/>
          <p:cNvSpPr/>
          <p:nvPr/>
        </p:nvSpPr>
        <p:spPr>
          <a:xfrm>
            <a:off x="853440" y="2743200"/>
            <a:ext cx="243840" cy="243840"/>
          </a:xfrm>
          <a:prstGeom prst="rect">
            <a:avLst/>
          </a:prstGeom>
          <a:solidFill>
            <a:srgbClr val="1C7C8C"/>
          </a:solidFill>
          <a:ln w="6350">
            <a:solidFill>
              <a:srgbClr val="FFFFFF"/>
            </a:solidFill>
            <a:prstDash val="solid"/>
          </a:ln>
        </p:spPr>
        <p:txBody>
          <a:bodyPr/>
          <a:lstStyle/>
          <a:p>
            <a:endParaRPr lang="en-US" sz="2400"/>
          </a:p>
        </p:txBody>
      </p:sp>
      <p:sp>
        <p:nvSpPr>
          <p:cNvPr id="46" name="Map pixel 4-2"/>
          <p:cNvSpPr/>
          <p:nvPr/>
        </p:nvSpPr>
        <p:spPr>
          <a:xfrm>
            <a:off x="1097280" y="274320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47" name="Map pixel 4-3"/>
          <p:cNvSpPr/>
          <p:nvPr/>
        </p:nvSpPr>
        <p:spPr>
          <a:xfrm>
            <a:off x="1341120" y="274320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48" name="Map pixel 4-4"/>
          <p:cNvSpPr/>
          <p:nvPr/>
        </p:nvSpPr>
        <p:spPr>
          <a:xfrm>
            <a:off x="1584960" y="274320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49" name="Map pixel 4-5"/>
          <p:cNvSpPr/>
          <p:nvPr/>
        </p:nvSpPr>
        <p:spPr>
          <a:xfrm>
            <a:off x="1828800" y="274320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50" name="Map pixel 4-6"/>
          <p:cNvSpPr/>
          <p:nvPr/>
        </p:nvSpPr>
        <p:spPr>
          <a:xfrm>
            <a:off x="2072640" y="274320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51" name="Map pixel 4-7"/>
          <p:cNvSpPr/>
          <p:nvPr/>
        </p:nvSpPr>
        <p:spPr>
          <a:xfrm>
            <a:off x="2316480" y="274320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52" name="Map pixel 4-8"/>
          <p:cNvSpPr/>
          <p:nvPr/>
        </p:nvSpPr>
        <p:spPr>
          <a:xfrm>
            <a:off x="2560320" y="274320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53" name="Map pixel 4-9"/>
          <p:cNvSpPr/>
          <p:nvPr/>
        </p:nvSpPr>
        <p:spPr>
          <a:xfrm>
            <a:off x="2804160" y="274320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54" name="Map pixel 5-0"/>
          <p:cNvSpPr/>
          <p:nvPr/>
        </p:nvSpPr>
        <p:spPr>
          <a:xfrm>
            <a:off x="609600" y="298704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55" name="Map pixel 5-1"/>
          <p:cNvSpPr/>
          <p:nvPr/>
        </p:nvSpPr>
        <p:spPr>
          <a:xfrm>
            <a:off x="853440" y="298704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56" name="Map pixel 5-2"/>
          <p:cNvSpPr/>
          <p:nvPr/>
        </p:nvSpPr>
        <p:spPr>
          <a:xfrm>
            <a:off x="1097280" y="2987040"/>
            <a:ext cx="243840" cy="243840"/>
          </a:xfrm>
          <a:prstGeom prst="rect">
            <a:avLst/>
          </a:prstGeom>
          <a:solidFill>
            <a:srgbClr val="5FA8B3"/>
          </a:solidFill>
          <a:ln w="6350">
            <a:solidFill>
              <a:srgbClr val="FFFFFF"/>
            </a:solidFill>
            <a:prstDash val="solid"/>
          </a:ln>
        </p:spPr>
        <p:txBody>
          <a:bodyPr/>
          <a:lstStyle/>
          <a:p>
            <a:endParaRPr lang="en-US" sz="2400"/>
          </a:p>
        </p:txBody>
      </p:sp>
      <p:sp>
        <p:nvSpPr>
          <p:cNvPr id="57" name="Map pixel 5-3"/>
          <p:cNvSpPr/>
          <p:nvPr/>
        </p:nvSpPr>
        <p:spPr>
          <a:xfrm>
            <a:off x="1341120" y="298704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58" name="Map pixel 5-4"/>
          <p:cNvSpPr/>
          <p:nvPr/>
        </p:nvSpPr>
        <p:spPr>
          <a:xfrm>
            <a:off x="1584960" y="298704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59" name="Map pixel 5-5"/>
          <p:cNvSpPr/>
          <p:nvPr/>
        </p:nvSpPr>
        <p:spPr>
          <a:xfrm>
            <a:off x="1828800" y="298704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60" name="Map pixel 5-6"/>
          <p:cNvSpPr/>
          <p:nvPr/>
        </p:nvSpPr>
        <p:spPr>
          <a:xfrm>
            <a:off x="2072640" y="298704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61" name="Map pixel 5-7"/>
          <p:cNvSpPr/>
          <p:nvPr/>
        </p:nvSpPr>
        <p:spPr>
          <a:xfrm>
            <a:off x="2316480" y="298704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62" name="Map pixel 5-8"/>
          <p:cNvSpPr/>
          <p:nvPr/>
        </p:nvSpPr>
        <p:spPr>
          <a:xfrm>
            <a:off x="2560320" y="298704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63" name="Map pixel 5-9"/>
          <p:cNvSpPr/>
          <p:nvPr/>
        </p:nvSpPr>
        <p:spPr>
          <a:xfrm>
            <a:off x="2804160" y="298704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64" name="Map pixel 6-0"/>
          <p:cNvSpPr/>
          <p:nvPr/>
        </p:nvSpPr>
        <p:spPr>
          <a:xfrm>
            <a:off x="609600" y="323088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65" name="Map pixel 6-1"/>
          <p:cNvSpPr/>
          <p:nvPr/>
        </p:nvSpPr>
        <p:spPr>
          <a:xfrm>
            <a:off x="853440" y="323088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66" name="Map pixel 6-2"/>
          <p:cNvSpPr/>
          <p:nvPr/>
        </p:nvSpPr>
        <p:spPr>
          <a:xfrm>
            <a:off x="1097280" y="323088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67" name="Map pixel 6-3"/>
          <p:cNvSpPr/>
          <p:nvPr/>
        </p:nvSpPr>
        <p:spPr>
          <a:xfrm>
            <a:off x="1341120" y="323088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68" name="Map pixel 6-4"/>
          <p:cNvSpPr/>
          <p:nvPr/>
        </p:nvSpPr>
        <p:spPr>
          <a:xfrm>
            <a:off x="1584960" y="323088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69" name="Map pixel 6-5"/>
          <p:cNvSpPr/>
          <p:nvPr/>
        </p:nvSpPr>
        <p:spPr>
          <a:xfrm>
            <a:off x="1828800" y="323088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70" name="Map pixel 6-6"/>
          <p:cNvSpPr/>
          <p:nvPr/>
        </p:nvSpPr>
        <p:spPr>
          <a:xfrm>
            <a:off x="2072640" y="323088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71" name="Map pixel 6-7"/>
          <p:cNvSpPr/>
          <p:nvPr/>
        </p:nvSpPr>
        <p:spPr>
          <a:xfrm>
            <a:off x="2316480" y="323088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72" name="Map pixel 6-8"/>
          <p:cNvSpPr/>
          <p:nvPr/>
        </p:nvSpPr>
        <p:spPr>
          <a:xfrm>
            <a:off x="2560320" y="323088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73" name="Map pixel 6-9"/>
          <p:cNvSpPr/>
          <p:nvPr/>
        </p:nvSpPr>
        <p:spPr>
          <a:xfrm>
            <a:off x="2804160" y="323088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74" name="Map pixel 7-0"/>
          <p:cNvSpPr/>
          <p:nvPr/>
        </p:nvSpPr>
        <p:spPr>
          <a:xfrm>
            <a:off x="609600" y="347472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75" name="Map pixel 7-1"/>
          <p:cNvSpPr/>
          <p:nvPr/>
        </p:nvSpPr>
        <p:spPr>
          <a:xfrm>
            <a:off x="853440" y="347472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76" name="Map pixel 7-2"/>
          <p:cNvSpPr/>
          <p:nvPr/>
        </p:nvSpPr>
        <p:spPr>
          <a:xfrm>
            <a:off x="1097280" y="347472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77" name="Map pixel 7-3"/>
          <p:cNvSpPr/>
          <p:nvPr/>
        </p:nvSpPr>
        <p:spPr>
          <a:xfrm>
            <a:off x="1341120" y="347472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78" name="Map pixel 7-4"/>
          <p:cNvSpPr/>
          <p:nvPr/>
        </p:nvSpPr>
        <p:spPr>
          <a:xfrm>
            <a:off x="1584960" y="347472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79" name="Map pixel 7-5"/>
          <p:cNvSpPr/>
          <p:nvPr/>
        </p:nvSpPr>
        <p:spPr>
          <a:xfrm>
            <a:off x="1828800" y="347472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80" name="Map pixel 7-6"/>
          <p:cNvSpPr/>
          <p:nvPr/>
        </p:nvSpPr>
        <p:spPr>
          <a:xfrm>
            <a:off x="2072640" y="347472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81" name="Map pixel 7-7"/>
          <p:cNvSpPr/>
          <p:nvPr/>
        </p:nvSpPr>
        <p:spPr>
          <a:xfrm>
            <a:off x="2316480" y="347472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82" name="Map pixel 7-8"/>
          <p:cNvSpPr/>
          <p:nvPr/>
        </p:nvSpPr>
        <p:spPr>
          <a:xfrm>
            <a:off x="2560320" y="347472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83" name="Map pixel 7-9"/>
          <p:cNvSpPr/>
          <p:nvPr/>
        </p:nvSpPr>
        <p:spPr>
          <a:xfrm>
            <a:off x="2804160" y="347472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84" name="Map pixel 8-0"/>
          <p:cNvSpPr/>
          <p:nvPr/>
        </p:nvSpPr>
        <p:spPr>
          <a:xfrm>
            <a:off x="609600" y="371856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85" name="Map pixel 8-1"/>
          <p:cNvSpPr/>
          <p:nvPr/>
        </p:nvSpPr>
        <p:spPr>
          <a:xfrm>
            <a:off x="853440" y="371856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86" name="Map pixel 8-2"/>
          <p:cNvSpPr/>
          <p:nvPr/>
        </p:nvSpPr>
        <p:spPr>
          <a:xfrm>
            <a:off x="1097280" y="371856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87" name="Map pixel 8-3"/>
          <p:cNvSpPr/>
          <p:nvPr/>
        </p:nvSpPr>
        <p:spPr>
          <a:xfrm>
            <a:off x="1341120" y="371856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88" name="Map pixel 8-4"/>
          <p:cNvSpPr/>
          <p:nvPr/>
        </p:nvSpPr>
        <p:spPr>
          <a:xfrm>
            <a:off x="1584960" y="371856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89" name="Map pixel 8-5"/>
          <p:cNvSpPr/>
          <p:nvPr/>
        </p:nvSpPr>
        <p:spPr>
          <a:xfrm>
            <a:off x="1828800" y="371856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90" name="Map pixel 8-6"/>
          <p:cNvSpPr/>
          <p:nvPr/>
        </p:nvSpPr>
        <p:spPr>
          <a:xfrm>
            <a:off x="2072640" y="371856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91" name="Map pixel 8-7"/>
          <p:cNvSpPr/>
          <p:nvPr/>
        </p:nvSpPr>
        <p:spPr>
          <a:xfrm>
            <a:off x="2316480" y="371856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92" name="Map pixel 8-8"/>
          <p:cNvSpPr/>
          <p:nvPr/>
        </p:nvSpPr>
        <p:spPr>
          <a:xfrm>
            <a:off x="2560320" y="371856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93" name="Map pixel 8-9"/>
          <p:cNvSpPr/>
          <p:nvPr/>
        </p:nvSpPr>
        <p:spPr>
          <a:xfrm>
            <a:off x="2804160" y="371856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94" name="Map pixel 9-0"/>
          <p:cNvSpPr/>
          <p:nvPr/>
        </p:nvSpPr>
        <p:spPr>
          <a:xfrm>
            <a:off x="609600" y="396240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95" name="Map pixel 9-1"/>
          <p:cNvSpPr/>
          <p:nvPr/>
        </p:nvSpPr>
        <p:spPr>
          <a:xfrm>
            <a:off x="853440" y="396240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96" name="Map pixel 9-2"/>
          <p:cNvSpPr/>
          <p:nvPr/>
        </p:nvSpPr>
        <p:spPr>
          <a:xfrm>
            <a:off x="1097280" y="396240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97" name="Map pixel 9-3"/>
          <p:cNvSpPr/>
          <p:nvPr/>
        </p:nvSpPr>
        <p:spPr>
          <a:xfrm>
            <a:off x="1341120" y="396240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98" name="Map pixel 9-4"/>
          <p:cNvSpPr/>
          <p:nvPr/>
        </p:nvSpPr>
        <p:spPr>
          <a:xfrm>
            <a:off x="1584960" y="396240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99" name="Map pixel 9-5"/>
          <p:cNvSpPr/>
          <p:nvPr/>
        </p:nvSpPr>
        <p:spPr>
          <a:xfrm>
            <a:off x="1828800" y="396240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100" name="Map pixel 9-6"/>
          <p:cNvSpPr/>
          <p:nvPr/>
        </p:nvSpPr>
        <p:spPr>
          <a:xfrm>
            <a:off x="2072640" y="396240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101" name="Map pixel 9-7"/>
          <p:cNvSpPr/>
          <p:nvPr/>
        </p:nvSpPr>
        <p:spPr>
          <a:xfrm>
            <a:off x="2316480" y="3962400"/>
            <a:ext cx="243840" cy="243840"/>
          </a:xfrm>
          <a:prstGeom prst="rect">
            <a:avLst/>
          </a:prstGeom>
          <a:solidFill>
            <a:srgbClr val="B9DFE3"/>
          </a:solidFill>
          <a:ln w="6350">
            <a:solidFill>
              <a:srgbClr val="FFFFFF"/>
            </a:solidFill>
            <a:prstDash val="solid"/>
          </a:ln>
        </p:spPr>
        <p:txBody>
          <a:bodyPr/>
          <a:lstStyle/>
          <a:p>
            <a:endParaRPr lang="en-US" sz="2400"/>
          </a:p>
        </p:txBody>
      </p:sp>
      <p:sp>
        <p:nvSpPr>
          <p:cNvPr id="102" name="Map pixel 9-8"/>
          <p:cNvSpPr/>
          <p:nvPr/>
        </p:nvSpPr>
        <p:spPr>
          <a:xfrm>
            <a:off x="2560320" y="396240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103" name="Map pixel 9-9"/>
          <p:cNvSpPr/>
          <p:nvPr/>
        </p:nvSpPr>
        <p:spPr>
          <a:xfrm>
            <a:off x="2804160" y="3962400"/>
            <a:ext cx="243840" cy="243840"/>
          </a:xfrm>
          <a:prstGeom prst="rect">
            <a:avLst/>
          </a:prstGeom>
          <a:solidFill>
            <a:srgbClr val="8CC6CD"/>
          </a:solidFill>
          <a:ln w="6350">
            <a:solidFill>
              <a:srgbClr val="FFFFFF"/>
            </a:solidFill>
            <a:prstDash val="solid"/>
          </a:ln>
        </p:spPr>
        <p:txBody>
          <a:bodyPr/>
          <a:lstStyle/>
          <a:p>
            <a:endParaRPr lang="en-US" sz="2400"/>
          </a:p>
        </p:txBody>
      </p:sp>
      <p:sp>
        <p:nvSpPr>
          <p:cNvPr id="104" name="Selected pixel"/>
          <p:cNvSpPr/>
          <p:nvPr/>
        </p:nvSpPr>
        <p:spPr>
          <a:xfrm>
            <a:off x="2072640" y="2499360"/>
            <a:ext cx="243840" cy="243840"/>
          </a:xfrm>
          <a:prstGeom prst="rect">
            <a:avLst/>
          </a:prstGeom>
          <a:ln w="31750">
            <a:solidFill>
              <a:schemeClr val="accent2"/>
            </a:solidFill>
            <a:prstDash val="solid"/>
          </a:ln>
        </p:spPr>
        <p:txBody>
          <a:bodyPr/>
          <a:lstStyle/>
          <a:p>
            <a:endParaRPr lang="en-US" sz="2400"/>
          </a:p>
        </p:txBody>
      </p:sp>
      <p:sp>
        <p:nvSpPr>
          <p:cNvPr id="105" name="Pixel to spectrum"/>
          <p:cNvSpPr/>
          <p:nvPr/>
        </p:nvSpPr>
        <p:spPr>
          <a:xfrm>
            <a:off x="2316480" y="2621280"/>
            <a:ext cx="2255520" cy="0"/>
          </a:xfrm>
          <a:prstGeom prst="line">
            <a:avLst/>
          </a:prstGeom>
          <a:noFill/>
          <a:ln w="15875">
            <a:solidFill>
              <a:schemeClr val="accent2"/>
            </a:solidFill>
            <a:prstDash val="dash"/>
            <a:tailEnd type="triangle"/>
          </a:ln>
        </p:spPr>
        <p:txBody>
          <a:bodyPr/>
          <a:lstStyle/>
          <a:p>
            <a:endParaRPr lang="en-US" sz="2400"/>
          </a:p>
        </p:txBody>
      </p:sp>
      <p:sp>
        <p:nvSpPr>
          <p:cNvPr id="106" name="Text 104"/>
          <p:cNvSpPr txBox="1"/>
          <p:nvPr/>
        </p:nvSpPr>
        <p:spPr>
          <a:xfrm>
            <a:off x="609600" y="4279392"/>
            <a:ext cx="2438400" cy="304800"/>
          </a:xfrm>
          <a:prstGeom prst="rect">
            <a:avLst/>
          </a:prstGeom>
          <a:noFill/>
          <a:ln/>
        </p:spPr>
        <p:txBody>
          <a:bodyPr wrap="square" lIns="0" tIns="0" rIns="0" bIns="0" rtlCol="0" anchor="ctr"/>
          <a:lstStyle/>
          <a:p>
            <a:r>
              <a:rPr lang="en-US" sz="1467" i="1" dirty="0">
                <a:solidFill>
                  <a:schemeClr val="accent5"/>
                </a:solidFill>
              </a:rPr>
              <a:t>Each pixel = one full spectrum</a:t>
            </a:r>
            <a:endParaRPr lang="en-US" sz="1467" dirty="0"/>
          </a:p>
        </p:txBody>
      </p:sp>
      <p:sp>
        <p:nvSpPr>
          <p:cNvPr id="107" name="Text 105"/>
          <p:cNvSpPr txBox="1"/>
          <p:nvPr/>
        </p:nvSpPr>
        <p:spPr>
          <a:xfrm>
            <a:off x="609600" y="4693920"/>
            <a:ext cx="1706880" cy="609600"/>
          </a:xfrm>
          <a:prstGeom prst="rect">
            <a:avLst/>
          </a:prstGeom>
          <a:noFill/>
          <a:ln/>
        </p:spPr>
        <p:txBody>
          <a:bodyPr wrap="square" lIns="0" tIns="0" rIns="0" bIns="0" rtlCol="0" anchor="ctr"/>
          <a:lstStyle/>
          <a:p>
            <a:r>
              <a:rPr lang="en-US" sz="4000" b="1" dirty="0">
                <a:solidFill>
                  <a:schemeClr val="accent2"/>
                </a:solidFill>
              </a:rPr>
              <a:t>100s</a:t>
            </a:r>
            <a:endParaRPr lang="en-US" sz="4000" dirty="0"/>
          </a:p>
        </p:txBody>
      </p:sp>
      <p:sp>
        <p:nvSpPr>
          <p:cNvPr id="108" name="Text 106"/>
          <p:cNvSpPr txBox="1"/>
          <p:nvPr/>
        </p:nvSpPr>
        <p:spPr>
          <a:xfrm>
            <a:off x="2194560" y="4718304"/>
            <a:ext cx="2072640" cy="609600"/>
          </a:xfrm>
          <a:prstGeom prst="rect">
            <a:avLst/>
          </a:prstGeom>
          <a:noFill/>
          <a:ln/>
        </p:spPr>
        <p:txBody>
          <a:bodyPr wrap="square" lIns="0" tIns="0" rIns="0" bIns="0" rtlCol="0" anchor="ctr"/>
          <a:lstStyle/>
          <a:p>
            <a:r>
              <a:rPr lang="en-US" sz="1733" dirty="0">
                <a:solidFill>
                  <a:schemeClr val="tx2"/>
                </a:solidFill>
              </a:rPr>
              <a:t>spectra per map</a:t>
            </a:r>
            <a:endParaRPr lang="en-US" sz="1733" dirty="0"/>
          </a:p>
        </p:txBody>
      </p:sp>
      <p:sp>
        <p:nvSpPr>
          <p:cNvPr id="109" name="Text 107"/>
          <p:cNvSpPr txBox="1"/>
          <p:nvPr/>
        </p:nvSpPr>
        <p:spPr>
          <a:xfrm>
            <a:off x="609600" y="5425440"/>
            <a:ext cx="3779520" cy="975360"/>
          </a:xfrm>
          <a:prstGeom prst="rect">
            <a:avLst/>
          </a:prstGeom>
          <a:noFill/>
          <a:ln/>
        </p:spPr>
        <p:txBody>
          <a:bodyPr wrap="square" lIns="0" tIns="0" rIns="0" bIns="0" rtlCol="0" anchor="t"/>
          <a:lstStyle/>
          <a:p>
            <a:pPr marL="203195" indent="-203195">
              <a:spcAft>
                <a:spcPts val="800"/>
              </a:spcAft>
              <a:buSzPct val="100000"/>
              <a:buChar char="•"/>
            </a:pPr>
            <a:r>
              <a:rPr lang="en-US" sz="1733" dirty="0"/>
              <a:t>Fingerprints of proteins and lipids</a:t>
            </a:r>
          </a:p>
          <a:p>
            <a:pPr marL="203195" indent="-203195">
              <a:spcAft>
                <a:spcPts val="800"/>
              </a:spcAft>
              <a:buSzPct val="100000"/>
              <a:buChar char="•"/>
            </a:pPr>
            <a:r>
              <a:rPr lang="en-US" sz="1733" dirty="0"/>
              <a:t>Where each biomolecule sits in the sample</a:t>
            </a:r>
          </a:p>
        </p:txBody>
      </p:sp>
      <p:pic>
        <p:nvPicPr>
          <p:cNvPr id="110" name="Fingerprint spectrum" descr="spec_fingerprint.png"/>
          <p:cNvPicPr>
            <a:picLocks noChangeAspect="1"/>
          </p:cNvPicPr>
          <p:nvPr/>
        </p:nvPicPr>
        <p:blipFill>
          <a:blip r:embed="rId3"/>
          <a:stretch>
            <a:fillRect/>
          </a:stretch>
        </p:blipFill>
        <p:spPr>
          <a:xfrm>
            <a:off x="4300451" y="1706880"/>
            <a:ext cx="7281949" cy="4450080"/>
          </a:xfrm>
          <a:prstGeom prst="rect">
            <a:avLst/>
          </a:prstGeom>
        </p:spPr>
      </p:pic>
      <p:sp>
        <p:nvSpPr>
          <p:cNvPr id="111" name="Text 108"/>
          <p:cNvSpPr txBox="1"/>
          <p:nvPr/>
        </p:nvSpPr>
        <p:spPr>
          <a:xfrm>
            <a:off x="4300451" y="6193536"/>
            <a:ext cx="7281949" cy="304800"/>
          </a:xfrm>
          <a:prstGeom prst="rect">
            <a:avLst/>
          </a:prstGeom>
          <a:noFill/>
          <a:ln/>
        </p:spPr>
        <p:txBody>
          <a:bodyPr wrap="square" lIns="0" tIns="0" rIns="0" bIns="0" rtlCol="0" anchor="ctr"/>
          <a:lstStyle/>
          <a:p>
            <a:pPr algn="ctr"/>
            <a:r>
              <a:rPr lang="en-US" sz="1467" i="1" dirty="0">
                <a:solidFill>
                  <a:schemeClr val="accent5"/>
                </a:solidFill>
              </a:rPr>
              <a:t>Example spectrum: Acacia extracellular vesicles</a:t>
            </a:r>
            <a:endParaRPr lang="en-US" sz="146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Raman animated background" descr="Animated background: Raman spectra and laser scattering">
            <a:extLst>
              <a:ext uri="{C183D7F6-B498-43B3-948B-1728B52AA6E4}">
                <adec:decorative xmlns:adec="http://schemas.microsoft.com/office/drawing/2017/decorative" val="1"/>
              </a:ext>
            </a:extLst>
          </p:cNvPr>
          <p:cNvPicPr>
            <a:picLocks noGrp="1" noChangeAspect="1"/>
          </p:cNvPicPr>
          <p:nvPr userDrawn="1"/>
        </p:nvPicPr>
        <p:blipFill>
          <a:blip r:embed="rIdRamanBg"/>
          <a:stretch>
            <a:fillRect/>
          </a:stretch>
        </p:blipFill>
        <p:spPr>
          <a:xfrm>
            <a:off x="0" y="0"/>
            <a:ext cx="12192000" cy="6858000"/>
          </a:xfrm>
          <a:prstGeom prst="rect">
            <a:avLst/>
          </a:prstGeom>
        </p:spPr>
      </p:pic>
      <p:sp>
        <p:nvSpPr>
          <p:cNvPr id="2" name="Text 0"/>
          <p:cNvSpPr>
            <a:spLocks noGrp="1"/>
          </p:cNvSpPr>
          <p:nvPr>
            <p:ph type="title" idx="100" hasCustomPrompt="1"/>
          </p:nvPr>
        </p:nvSpPr>
        <p:spPr>
          <a:xfrm>
            <a:off x="609600" y="341376"/>
            <a:ext cx="10972800" cy="731520"/>
          </a:xfrm>
          <a:prstGeom prst="rect">
            <a:avLst/>
          </a:prstGeom>
          <a:noFill/>
          <a:ln/>
        </p:spPr>
        <p:txBody>
          <a:bodyPr vert="horz" wrap="square" lIns="0" tIns="0" rIns="0" bIns="0" rtlCol="0" anchor="ctr">
            <a:normAutofit/>
          </a:bodyPr>
          <a:lstStyle/>
          <a:p>
            <a:r>
              <a:rPr lang="en-US" dirty="0"/>
              <a:t>Weak Signal? SERS Makes It Visible</a:t>
            </a:r>
          </a:p>
        </p:txBody>
      </p:sp>
      <p:sp>
        <p:nvSpPr>
          <p:cNvPr id="3" name="Text 1"/>
          <p:cNvSpPr txBox="1"/>
          <p:nvPr/>
        </p:nvSpPr>
        <p:spPr>
          <a:xfrm>
            <a:off x="609600" y="1072896"/>
            <a:ext cx="10972800" cy="390144"/>
          </a:xfrm>
          <a:prstGeom prst="rect">
            <a:avLst/>
          </a:prstGeom>
          <a:noFill/>
          <a:ln/>
        </p:spPr>
        <p:txBody>
          <a:bodyPr wrap="square" lIns="0" tIns="0" rIns="0" bIns="0" rtlCol="0" anchor="ctr"/>
          <a:lstStyle/>
          <a:p>
            <a:r>
              <a:rPr lang="en-US" sz="1867" i="1" dirty="0">
                <a:solidFill>
                  <a:schemeClr val="accent1"/>
                </a:solidFill>
              </a:rPr>
              <a:t>Surface-enhanced Raman scattering on our nanowire substrate</a:t>
            </a:r>
            <a:endParaRPr lang="en-US" sz="1867" dirty="0"/>
          </a:p>
        </p:txBody>
      </p:sp>
      <p:sp>
        <p:nvSpPr>
          <p:cNvPr id="4" name="Silicon base"/>
          <p:cNvSpPr/>
          <p:nvPr/>
        </p:nvSpPr>
        <p:spPr>
          <a:xfrm>
            <a:off x="731520" y="3596640"/>
            <a:ext cx="4389120" cy="268224"/>
          </a:xfrm>
          <a:prstGeom prst="rect">
            <a:avLst/>
          </a:prstGeom>
          <a:solidFill>
            <a:srgbClr val="5A6B73"/>
          </a:solidFill>
          <a:ln w="12700">
            <a:solidFill>
              <a:srgbClr val="5A6B73"/>
            </a:solidFill>
            <a:prstDash val="solid"/>
          </a:ln>
        </p:spPr>
        <p:txBody>
          <a:bodyPr/>
          <a:lstStyle/>
          <a:p>
            <a:endParaRPr lang="en-US" sz="2400"/>
          </a:p>
        </p:txBody>
      </p:sp>
      <p:sp>
        <p:nvSpPr>
          <p:cNvPr id="5" name="Nanowire 1"/>
          <p:cNvSpPr/>
          <p:nvPr/>
        </p:nvSpPr>
        <p:spPr>
          <a:xfrm>
            <a:off x="975360" y="2438400"/>
            <a:ext cx="195072" cy="1158240"/>
          </a:xfrm>
          <a:prstGeom prst="rect">
            <a:avLst/>
          </a:prstGeom>
          <a:solidFill>
            <a:srgbClr val="8A979E"/>
          </a:solidFill>
          <a:ln w="12700">
            <a:solidFill>
              <a:srgbClr val="8A979E"/>
            </a:solidFill>
            <a:prstDash val="solid"/>
          </a:ln>
        </p:spPr>
        <p:txBody>
          <a:bodyPr/>
          <a:lstStyle/>
          <a:p>
            <a:endParaRPr lang="en-US" sz="2400"/>
          </a:p>
        </p:txBody>
      </p:sp>
      <p:sp>
        <p:nvSpPr>
          <p:cNvPr id="6" name="Metal cap 1"/>
          <p:cNvSpPr/>
          <p:nvPr/>
        </p:nvSpPr>
        <p:spPr>
          <a:xfrm>
            <a:off x="914400" y="2316480"/>
            <a:ext cx="316992" cy="243840"/>
          </a:xfrm>
          <a:prstGeom prst="ellipse">
            <a:avLst/>
          </a:prstGeom>
          <a:solidFill>
            <a:srgbClr val="C9D1D6"/>
          </a:solidFill>
          <a:ln w="9525">
            <a:solidFill>
              <a:srgbClr val="8A979E"/>
            </a:solidFill>
            <a:prstDash val="solid"/>
          </a:ln>
        </p:spPr>
        <p:txBody>
          <a:bodyPr/>
          <a:lstStyle/>
          <a:p>
            <a:endParaRPr lang="en-US" sz="2400"/>
          </a:p>
        </p:txBody>
      </p:sp>
      <p:sp>
        <p:nvSpPr>
          <p:cNvPr id="7" name="Hot spot 1"/>
          <p:cNvSpPr/>
          <p:nvPr/>
        </p:nvSpPr>
        <p:spPr>
          <a:xfrm>
            <a:off x="1219200" y="2596896"/>
            <a:ext cx="463296" cy="463296"/>
          </a:xfrm>
          <a:prstGeom prst="ellipse">
            <a:avLst/>
          </a:prstGeom>
          <a:solidFill>
            <a:schemeClr val="accent4">
              <a:alpha val="55000"/>
            </a:schemeClr>
          </a:solidFill>
          <a:ln/>
        </p:spPr>
        <p:txBody>
          <a:bodyPr/>
          <a:lstStyle/>
          <a:p>
            <a:endParaRPr lang="en-US" sz="2400"/>
          </a:p>
        </p:txBody>
      </p:sp>
      <p:sp>
        <p:nvSpPr>
          <p:cNvPr id="8" name="Molecule 1"/>
          <p:cNvSpPr/>
          <p:nvPr/>
        </p:nvSpPr>
        <p:spPr>
          <a:xfrm>
            <a:off x="1377696" y="2755392"/>
            <a:ext cx="146304" cy="146304"/>
          </a:xfrm>
          <a:prstGeom prst="ellipse">
            <a:avLst/>
          </a:prstGeom>
          <a:solidFill>
            <a:schemeClr val="accent1"/>
          </a:solidFill>
          <a:ln w="12700">
            <a:solidFill>
              <a:schemeClr val="accent1"/>
            </a:solidFill>
            <a:prstDash val="solid"/>
          </a:ln>
        </p:spPr>
        <p:txBody>
          <a:bodyPr/>
          <a:lstStyle/>
          <a:p>
            <a:endParaRPr lang="en-US" sz="2400"/>
          </a:p>
        </p:txBody>
      </p:sp>
      <p:sp>
        <p:nvSpPr>
          <p:cNvPr id="9" name="Nanowire 2"/>
          <p:cNvSpPr/>
          <p:nvPr/>
        </p:nvSpPr>
        <p:spPr>
          <a:xfrm>
            <a:off x="1731264" y="2255520"/>
            <a:ext cx="195072" cy="1341120"/>
          </a:xfrm>
          <a:prstGeom prst="rect">
            <a:avLst/>
          </a:prstGeom>
          <a:solidFill>
            <a:srgbClr val="8A979E"/>
          </a:solidFill>
          <a:ln w="12700">
            <a:solidFill>
              <a:srgbClr val="8A979E"/>
            </a:solidFill>
            <a:prstDash val="solid"/>
          </a:ln>
        </p:spPr>
        <p:txBody>
          <a:bodyPr/>
          <a:lstStyle/>
          <a:p>
            <a:endParaRPr lang="en-US" sz="2400"/>
          </a:p>
        </p:txBody>
      </p:sp>
      <p:sp>
        <p:nvSpPr>
          <p:cNvPr id="10" name="Metal cap 2"/>
          <p:cNvSpPr/>
          <p:nvPr/>
        </p:nvSpPr>
        <p:spPr>
          <a:xfrm>
            <a:off x="1670304" y="2133600"/>
            <a:ext cx="316992" cy="243840"/>
          </a:xfrm>
          <a:prstGeom prst="ellipse">
            <a:avLst/>
          </a:prstGeom>
          <a:solidFill>
            <a:srgbClr val="C9D1D6"/>
          </a:solidFill>
          <a:ln w="9525">
            <a:solidFill>
              <a:srgbClr val="8A979E"/>
            </a:solidFill>
            <a:prstDash val="solid"/>
          </a:ln>
        </p:spPr>
        <p:txBody>
          <a:bodyPr/>
          <a:lstStyle/>
          <a:p>
            <a:endParaRPr lang="en-US" sz="2400"/>
          </a:p>
        </p:txBody>
      </p:sp>
      <p:sp>
        <p:nvSpPr>
          <p:cNvPr id="11" name="Hot spot 2"/>
          <p:cNvSpPr/>
          <p:nvPr/>
        </p:nvSpPr>
        <p:spPr>
          <a:xfrm>
            <a:off x="1975104" y="2596896"/>
            <a:ext cx="463296" cy="463296"/>
          </a:xfrm>
          <a:prstGeom prst="ellipse">
            <a:avLst/>
          </a:prstGeom>
          <a:solidFill>
            <a:schemeClr val="accent4">
              <a:alpha val="55000"/>
            </a:schemeClr>
          </a:solidFill>
          <a:ln/>
        </p:spPr>
        <p:txBody>
          <a:bodyPr/>
          <a:lstStyle/>
          <a:p>
            <a:endParaRPr lang="en-US" sz="2400"/>
          </a:p>
        </p:txBody>
      </p:sp>
      <p:sp>
        <p:nvSpPr>
          <p:cNvPr id="12" name="Molecule 2"/>
          <p:cNvSpPr/>
          <p:nvPr/>
        </p:nvSpPr>
        <p:spPr>
          <a:xfrm>
            <a:off x="2133600" y="2755392"/>
            <a:ext cx="146304" cy="146304"/>
          </a:xfrm>
          <a:prstGeom prst="ellipse">
            <a:avLst/>
          </a:prstGeom>
          <a:solidFill>
            <a:schemeClr val="accent1"/>
          </a:solidFill>
          <a:ln w="12700">
            <a:solidFill>
              <a:schemeClr val="accent1"/>
            </a:solidFill>
            <a:prstDash val="solid"/>
          </a:ln>
        </p:spPr>
        <p:txBody>
          <a:bodyPr/>
          <a:lstStyle/>
          <a:p>
            <a:endParaRPr lang="en-US" sz="2400"/>
          </a:p>
        </p:txBody>
      </p:sp>
      <p:sp>
        <p:nvSpPr>
          <p:cNvPr id="13" name="Nanowire 3"/>
          <p:cNvSpPr/>
          <p:nvPr/>
        </p:nvSpPr>
        <p:spPr>
          <a:xfrm>
            <a:off x="2487168" y="2499360"/>
            <a:ext cx="195072" cy="1097280"/>
          </a:xfrm>
          <a:prstGeom prst="rect">
            <a:avLst/>
          </a:prstGeom>
          <a:solidFill>
            <a:srgbClr val="8A979E"/>
          </a:solidFill>
          <a:ln w="12700">
            <a:solidFill>
              <a:srgbClr val="8A979E"/>
            </a:solidFill>
            <a:prstDash val="solid"/>
          </a:ln>
        </p:spPr>
        <p:txBody>
          <a:bodyPr/>
          <a:lstStyle/>
          <a:p>
            <a:endParaRPr lang="en-US" sz="2400"/>
          </a:p>
        </p:txBody>
      </p:sp>
      <p:sp>
        <p:nvSpPr>
          <p:cNvPr id="14" name="Metal cap 3"/>
          <p:cNvSpPr/>
          <p:nvPr/>
        </p:nvSpPr>
        <p:spPr>
          <a:xfrm>
            <a:off x="2426208" y="2377440"/>
            <a:ext cx="316992" cy="243840"/>
          </a:xfrm>
          <a:prstGeom prst="ellipse">
            <a:avLst/>
          </a:prstGeom>
          <a:solidFill>
            <a:srgbClr val="C9D1D6"/>
          </a:solidFill>
          <a:ln w="9525">
            <a:solidFill>
              <a:srgbClr val="8A979E"/>
            </a:solidFill>
            <a:prstDash val="solid"/>
          </a:ln>
        </p:spPr>
        <p:txBody>
          <a:bodyPr/>
          <a:lstStyle/>
          <a:p>
            <a:endParaRPr lang="en-US" sz="2400"/>
          </a:p>
        </p:txBody>
      </p:sp>
      <p:sp>
        <p:nvSpPr>
          <p:cNvPr id="15" name="Hot spot 3"/>
          <p:cNvSpPr/>
          <p:nvPr/>
        </p:nvSpPr>
        <p:spPr>
          <a:xfrm>
            <a:off x="2731008" y="2596896"/>
            <a:ext cx="463296" cy="463296"/>
          </a:xfrm>
          <a:prstGeom prst="ellipse">
            <a:avLst/>
          </a:prstGeom>
          <a:solidFill>
            <a:schemeClr val="accent4">
              <a:alpha val="55000"/>
            </a:schemeClr>
          </a:solidFill>
          <a:ln/>
        </p:spPr>
        <p:txBody>
          <a:bodyPr/>
          <a:lstStyle/>
          <a:p>
            <a:endParaRPr lang="en-US" sz="2400"/>
          </a:p>
        </p:txBody>
      </p:sp>
      <p:sp>
        <p:nvSpPr>
          <p:cNvPr id="16" name="Molecule 3"/>
          <p:cNvSpPr/>
          <p:nvPr/>
        </p:nvSpPr>
        <p:spPr>
          <a:xfrm>
            <a:off x="2889504" y="2755392"/>
            <a:ext cx="146304" cy="146304"/>
          </a:xfrm>
          <a:prstGeom prst="ellipse">
            <a:avLst/>
          </a:prstGeom>
          <a:solidFill>
            <a:schemeClr val="accent1"/>
          </a:solidFill>
          <a:ln w="12700">
            <a:solidFill>
              <a:schemeClr val="accent1"/>
            </a:solidFill>
            <a:prstDash val="solid"/>
          </a:ln>
        </p:spPr>
        <p:txBody>
          <a:bodyPr/>
          <a:lstStyle/>
          <a:p>
            <a:endParaRPr lang="en-US" sz="2400"/>
          </a:p>
        </p:txBody>
      </p:sp>
      <p:sp>
        <p:nvSpPr>
          <p:cNvPr id="17" name="Nanowire 4"/>
          <p:cNvSpPr/>
          <p:nvPr/>
        </p:nvSpPr>
        <p:spPr>
          <a:xfrm>
            <a:off x="3243072" y="2316480"/>
            <a:ext cx="195072" cy="1280160"/>
          </a:xfrm>
          <a:prstGeom prst="rect">
            <a:avLst/>
          </a:prstGeom>
          <a:solidFill>
            <a:srgbClr val="8A979E"/>
          </a:solidFill>
          <a:ln w="12700">
            <a:solidFill>
              <a:srgbClr val="8A979E"/>
            </a:solidFill>
            <a:prstDash val="solid"/>
          </a:ln>
        </p:spPr>
        <p:txBody>
          <a:bodyPr/>
          <a:lstStyle/>
          <a:p>
            <a:endParaRPr lang="en-US" sz="2400"/>
          </a:p>
        </p:txBody>
      </p:sp>
      <p:sp>
        <p:nvSpPr>
          <p:cNvPr id="18" name="Metal cap 4"/>
          <p:cNvSpPr/>
          <p:nvPr/>
        </p:nvSpPr>
        <p:spPr>
          <a:xfrm>
            <a:off x="3182112" y="2194560"/>
            <a:ext cx="316992" cy="243840"/>
          </a:xfrm>
          <a:prstGeom prst="ellipse">
            <a:avLst/>
          </a:prstGeom>
          <a:solidFill>
            <a:srgbClr val="C9D1D6"/>
          </a:solidFill>
          <a:ln w="9525">
            <a:solidFill>
              <a:srgbClr val="8A979E"/>
            </a:solidFill>
            <a:prstDash val="solid"/>
          </a:ln>
        </p:spPr>
        <p:txBody>
          <a:bodyPr/>
          <a:lstStyle/>
          <a:p>
            <a:endParaRPr lang="en-US" sz="2400"/>
          </a:p>
        </p:txBody>
      </p:sp>
      <p:sp>
        <p:nvSpPr>
          <p:cNvPr id="19" name="Hot spot 4"/>
          <p:cNvSpPr/>
          <p:nvPr/>
        </p:nvSpPr>
        <p:spPr>
          <a:xfrm>
            <a:off x="3486912" y="2596896"/>
            <a:ext cx="463296" cy="463296"/>
          </a:xfrm>
          <a:prstGeom prst="ellipse">
            <a:avLst/>
          </a:prstGeom>
          <a:solidFill>
            <a:schemeClr val="accent4">
              <a:alpha val="55000"/>
            </a:schemeClr>
          </a:solidFill>
          <a:ln/>
        </p:spPr>
        <p:txBody>
          <a:bodyPr/>
          <a:lstStyle/>
          <a:p>
            <a:endParaRPr lang="en-US" sz="2400"/>
          </a:p>
        </p:txBody>
      </p:sp>
      <p:sp>
        <p:nvSpPr>
          <p:cNvPr id="20" name="Molecule 4"/>
          <p:cNvSpPr/>
          <p:nvPr/>
        </p:nvSpPr>
        <p:spPr>
          <a:xfrm>
            <a:off x="3645408" y="2755392"/>
            <a:ext cx="146304" cy="146304"/>
          </a:xfrm>
          <a:prstGeom prst="ellipse">
            <a:avLst/>
          </a:prstGeom>
          <a:solidFill>
            <a:schemeClr val="accent1"/>
          </a:solidFill>
          <a:ln w="12700">
            <a:solidFill>
              <a:schemeClr val="accent1"/>
            </a:solidFill>
            <a:prstDash val="solid"/>
          </a:ln>
        </p:spPr>
        <p:txBody>
          <a:bodyPr/>
          <a:lstStyle/>
          <a:p>
            <a:endParaRPr lang="en-US" sz="2400"/>
          </a:p>
        </p:txBody>
      </p:sp>
      <p:sp>
        <p:nvSpPr>
          <p:cNvPr id="21" name="Nanowire 5"/>
          <p:cNvSpPr/>
          <p:nvPr/>
        </p:nvSpPr>
        <p:spPr>
          <a:xfrm>
            <a:off x="3998976" y="2401824"/>
            <a:ext cx="195072" cy="1194816"/>
          </a:xfrm>
          <a:prstGeom prst="rect">
            <a:avLst/>
          </a:prstGeom>
          <a:solidFill>
            <a:srgbClr val="8A979E"/>
          </a:solidFill>
          <a:ln w="12700">
            <a:solidFill>
              <a:srgbClr val="8A979E"/>
            </a:solidFill>
            <a:prstDash val="solid"/>
          </a:ln>
        </p:spPr>
        <p:txBody>
          <a:bodyPr/>
          <a:lstStyle/>
          <a:p>
            <a:endParaRPr lang="en-US" sz="2400"/>
          </a:p>
        </p:txBody>
      </p:sp>
      <p:sp>
        <p:nvSpPr>
          <p:cNvPr id="22" name="Metal cap 5"/>
          <p:cNvSpPr/>
          <p:nvPr/>
        </p:nvSpPr>
        <p:spPr>
          <a:xfrm>
            <a:off x="3938016" y="2279904"/>
            <a:ext cx="316992" cy="243840"/>
          </a:xfrm>
          <a:prstGeom prst="ellipse">
            <a:avLst/>
          </a:prstGeom>
          <a:solidFill>
            <a:srgbClr val="C9D1D6"/>
          </a:solidFill>
          <a:ln w="9525">
            <a:solidFill>
              <a:srgbClr val="8A979E"/>
            </a:solidFill>
            <a:prstDash val="solid"/>
          </a:ln>
        </p:spPr>
        <p:txBody>
          <a:bodyPr/>
          <a:lstStyle/>
          <a:p>
            <a:endParaRPr lang="en-US" sz="2400"/>
          </a:p>
        </p:txBody>
      </p:sp>
      <p:sp>
        <p:nvSpPr>
          <p:cNvPr id="23" name="Hot spot 5"/>
          <p:cNvSpPr/>
          <p:nvPr/>
        </p:nvSpPr>
        <p:spPr>
          <a:xfrm>
            <a:off x="4242816" y="2596896"/>
            <a:ext cx="463296" cy="463296"/>
          </a:xfrm>
          <a:prstGeom prst="ellipse">
            <a:avLst/>
          </a:prstGeom>
          <a:solidFill>
            <a:schemeClr val="accent4">
              <a:alpha val="55000"/>
            </a:schemeClr>
          </a:solidFill>
          <a:ln/>
        </p:spPr>
        <p:txBody>
          <a:bodyPr/>
          <a:lstStyle/>
          <a:p>
            <a:endParaRPr lang="en-US" sz="2400"/>
          </a:p>
        </p:txBody>
      </p:sp>
      <p:sp>
        <p:nvSpPr>
          <p:cNvPr id="24" name="Molecule 5"/>
          <p:cNvSpPr/>
          <p:nvPr/>
        </p:nvSpPr>
        <p:spPr>
          <a:xfrm>
            <a:off x="4401312" y="2755392"/>
            <a:ext cx="146304" cy="146304"/>
          </a:xfrm>
          <a:prstGeom prst="ellipse">
            <a:avLst/>
          </a:prstGeom>
          <a:solidFill>
            <a:schemeClr val="accent1"/>
          </a:solidFill>
          <a:ln w="12700">
            <a:solidFill>
              <a:schemeClr val="accent1"/>
            </a:solidFill>
            <a:prstDash val="solid"/>
          </a:ln>
        </p:spPr>
        <p:txBody>
          <a:bodyPr/>
          <a:lstStyle/>
          <a:p>
            <a:endParaRPr lang="en-US" sz="2400"/>
          </a:p>
        </p:txBody>
      </p:sp>
      <p:sp>
        <p:nvSpPr>
          <p:cNvPr id="25" name="Nanowire 6"/>
          <p:cNvSpPr/>
          <p:nvPr/>
        </p:nvSpPr>
        <p:spPr>
          <a:xfrm>
            <a:off x="4754880" y="2523744"/>
            <a:ext cx="195072" cy="1072896"/>
          </a:xfrm>
          <a:prstGeom prst="rect">
            <a:avLst/>
          </a:prstGeom>
          <a:solidFill>
            <a:srgbClr val="8A979E"/>
          </a:solidFill>
          <a:ln w="12700">
            <a:solidFill>
              <a:srgbClr val="8A979E"/>
            </a:solidFill>
            <a:prstDash val="solid"/>
          </a:ln>
        </p:spPr>
        <p:txBody>
          <a:bodyPr/>
          <a:lstStyle/>
          <a:p>
            <a:endParaRPr lang="en-US" sz="2400"/>
          </a:p>
        </p:txBody>
      </p:sp>
      <p:sp>
        <p:nvSpPr>
          <p:cNvPr id="26" name="Metal cap 6"/>
          <p:cNvSpPr/>
          <p:nvPr/>
        </p:nvSpPr>
        <p:spPr>
          <a:xfrm>
            <a:off x="4693920" y="2401824"/>
            <a:ext cx="316992" cy="243840"/>
          </a:xfrm>
          <a:prstGeom prst="ellipse">
            <a:avLst/>
          </a:prstGeom>
          <a:solidFill>
            <a:srgbClr val="C9D1D6"/>
          </a:solidFill>
          <a:ln w="9525">
            <a:solidFill>
              <a:srgbClr val="8A979E"/>
            </a:solidFill>
            <a:prstDash val="solid"/>
          </a:ln>
        </p:spPr>
        <p:txBody>
          <a:bodyPr/>
          <a:lstStyle/>
          <a:p>
            <a:endParaRPr lang="en-US" sz="2400"/>
          </a:p>
        </p:txBody>
      </p:sp>
      <p:sp>
        <p:nvSpPr>
          <p:cNvPr id="27" name="Laser in"/>
          <p:cNvSpPr/>
          <p:nvPr/>
        </p:nvSpPr>
        <p:spPr>
          <a:xfrm>
            <a:off x="1219200" y="1645920"/>
            <a:ext cx="670560" cy="731520"/>
          </a:xfrm>
          <a:prstGeom prst="line">
            <a:avLst/>
          </a:prstGeom>
          <a:noFill/>
          <a:ln w="31750">
            <a:solidFill>
              <a:srgbClr val="3BA55C"/>
            </a:solidFill>
            <a:prstDash val="solid"/>
            <a:tailEnd type="triangle"/>
          </a:ln>
        </p:spPr>
        <p:txBody>
          <a:bodyPr/>
          <a:lstStyle/>
          <a:p>
            <a:endParaRPr lang="en-US" sz="2400"/>
          </a:p>
        </p:txBody>
      </p:sp>
      <p:sp>
        <p:nvSpPr>
          <p:cNvPr id="28" name="Text 26"/>
          <p:cNvSpPr txBox="1"/>
          <p:nvPr/>
        </p:nvSpPr>
        <p:spPr>
          <a:xfrm>
            <a:off x="609600" y="1584960"/>
            <a:ext cx="731520" cy="304800"/>
          </a:xfrm>
          <a:prstGeom prst="rect">
            <a:avLst/>
          </a:prstGeom>
          <a:noFill/>
          <a:ln/>
        </p:spPr>
        <p:txBody>
          <a:bodyPr wrap="square" lIns="0" tIns="0" rIns="0" bIns="0" rtlCol="0" anchor="ctr"/>
          <a:lstStyle/>
          <a:p>
            <a:r>
              <a:rPr lang="en-US" sz="1467" b="1" dirty="0">
                <a:solidFill>
                  <a:srgbClr val="2E7D47"/>
                </a:solidFill>
              </a:rPr>
              <a:t>Laser</a:t>
            </a:r>
            <a:endParaRPr lang="en-US" sz="1467" dirty="0"/>
          </a:p>
        </p:txBody>
      </p:sp>
      <p:sp>
        <p:nvSpPr>
          <p:cNvPr id="29" name="Enhanced signal out"/>
          <p:cNvSpPr/>
          <p:nvPr/>
        </p:nvSpPr>
        <p:spPr>
          <a:xfrm flipV="1">
            <a:off x="3352800" y="1645920"/>
            <a:ext cx="670560" cy="731520"/>
          </a:xfrm>
          <a:prstGeom prst="line">
            <a:avLst/>
          </a:prstGeom>
          <a:noFill/>
          <a:ln w="44450">
            <a:solidFill>
              <a:schemeClr val="accent2"/>
            </a:solidFill>
            <a:prstDash val="solid"/>
            <a:tailEnd type="triangle"/>
          </a:ln>
        </p:spPr>
        <p:txBody>
          <a:bodyPr/>
          <a:lstStyle/>
          <a:p>
            <a:endParaRPr lang="en-US" sz="2400"/>
          </a:p>
        </p:txBody>
      </p:sp>
      <p:sp>
        <p:nvSpPr>
          <p:cNvPr id="30" name="Text 28"/>
          <p:cNvSpPr txBox="1"/>
          <p:nvPr/>
        </p:nvSpPr>
        <p:spPr>
          <a:xfrm>
            <a:off x="4169664" y="1584960"/>
            <a:ext cx="1706880" cy="304800"/>
          </a:xfrm>
          <a:prstGeom prst="rect">
            <a:avLst/>
          </a:prstGeom>
          <a:noFill/>
          <a:ln/>
        </p:spPr>
        <p:txBody>
          <a:bodyPr wrap="square" lIns="0" tIns="0" rIns="0" bIns="0" rtlCol="0" anchor="ctr"/>
          <a:lstStyle/>
          <a:p>
            <a:r>
              <a:rPr lang="en-US" sz="1467" b="1" dirty="0">
                <a:solidFill>
                  <a:schemeClr val="accent2"/>
                </a:solidFill>
              </a:rPr>
              <a:t>Strong Raman signal</a:t>
            </a:r>
            <a:endParaRPr lang="en-US" sz="1467" dirty="0"/>
          </a:p>
        </p:txBody>
      </p:sp>
      <p:sp>
        <p:nvSpPr>
          <p:cNvPr id="31" name="Legend hot spot"/>
          <p:cNvSpPr/>
          <p:nvPr/>
        </p:nvSpPr>
        <p:spPr>
          <a:xfrm>
            <a:off x="731520" y="4047744"/>
            <a:ext cx="195072" cy="195072"/>
          </a:xfrm>
          <a:prstGeom prst="ellipse">
            <a:avLst/>
          </a:prstGeom>
          <a:solidFill>
            <a:schemeClr val="accent4">
              <a:alpha val="55000"/>
            </a:schemeClr>
          </a:solidFill>
          <a:ln/>
        </p:spPr>
        <p:txBody>
          <a:bodyPr/>
          <a:lstStyle/>
          <a:p>
            <a:endParaRPr lang="en-US" sz="2400"/>
          </a:p>
        </p:txBody>
      </p:sp>
      <p:sp>
        <p:nvSpPr>
          <p:cNvPr id="32" name="Text 30"/>
          <p:cNvSpPr txBox="1"/>
          <p:nvPr/>
        </p:nvSpPr>
        <p:spPr>
          <a:xfrm>
            <a:off x="999744" y="3998976"/>
            <a:ext cx="1097280" cy="292608"/>
          </a:xfrm>
          <a:prstGeom prst="rect">
            <a:avLst/>
          </a:prstGeom>
          <a:noFill/>
          <a:ln/>
        </p:spPr>
        <p:txBody>
          <a:bodyPr wrap="square" lIns="0" tIns="0" rIns="0" bIns="0" rtlCol="0" anchor="ctr"/>
          <a:lstStyle/>
          <a:p>
            <a:r>
              <a:rPr lang="en-US" sz="1400" dirty="0">
                <a:solidFill>
                  <a:schemeClr val="accent5"/>
                </a:solidFill>
              </a:rPr>
              <a:t>Hot spot</a:t>
            </a:r>
            <a:endParaRPr lang="en-US" sz="1400" dirty="0"/>
          </a:p>
        </p:txBody>
      </p:sp>
      <p:sp>
        <p:nvSpPr>
          <p:cNvPr id="33" name="Legend molecule"/>
          <p:cNvSpPr/>
          <p:nvPr/>
        </p:nvSpPr>
        <p:spPr>
          <a:xfrm>
            <a:off x="2072640" y="4084320"/>
            <a:ext cx="121920" cy="121920"/>
          </a:xfrm>
          <a:prstGeom prst="ellipse">
            <a:avLst/>
          </a:prstGeom>
          <a:solidFill>
            <a:schemeClr val="accent1"/>
          </a:solidFill>
          <a:ln w="12700">
            <a:solidFill>
              <a:schemeClr val="accent1"/>
            </a:solidFill>
            <a:prstDash val="solid"/>
          </a:ln>
        </p:spPr>
        <p:txBody>
          <a:bodyPr/>
          <a:lstStyle/>
          <a:p>
            <a:endParaRPr lang="en-US" sz="2400"/>
          </a:p>
        </p:txBody>
      </p:sp>
      <p:sp>
        <p:nvSpPr>
          <p:cNvPr id="34" name="Text 32"/>
          <p:cNvSpPr txBox="1"/>
          <p:nvPr/>
        </p:nvSpPr>
        <p:spPr>
          <a:xfrm>
            <a:off x="2292096" y="3998976"/>
            <a:ext cx="1219200" cy="292608"/>
          </a:xfrm>
          <a:prstGeom prst="rect">
            <a:avLst/>
          </a:prstGeom>
          <a:noFill/>
          <a:ln/>
        </p:spPr>
        <p:txBody>
          <a:bodyPr wrap="square" lIns="0" tIns="0" rIns="0" bIns="0" rtlCol="0" anchor="ctr"/>
          <a:lstStyle/>
          <a:p>
            <a:r>
              <a:rPr lang="en-US" sz="1400" dirty="0">
                <a:solidFill>
                  <a:schemeClr val="accent5"/>
                </a:solidFill>
              </a:rPr>
              <a:t>Biomolecule</a:t>
            </a:r>
            <a:endParaRPr lang="en-US" sz="1400" dirty="0"/>
          </a:p>
        </p:txBody>
      </p:sp>
      <p:sp>
        <p:nvSpPr>
          <p:cNvPr id="35" name="Legend metal"/>
          <p:cNvSpPr/>
          <p:nvPr/>
        </p:nvSpPr>
        <p:spPr>
          <a:xfrm>
            <a:off x="3474720" y="4059936"/>
            <a:ext cx="219456" cy="170688"/>
          </a:xfrm>
          <a:prstGeom prst="ellipse">
            <a:avLst/>
          </a:prstGeom>
          <a:solidFill>
            <a:srgbClr val="C9D1D6"/>
          </a:solidFill>
          <a:ln w="9525">
            <a:solidFill>
              <a:srgbClr val="8A979E"/>
            </a:solidFill>
            <a:prstDash val="solid"/>
          </a:ln>
        </p:spPr>
        <p:txBody>
          <a:bodyPr/>
          <a:lstStyle/>
          <a:p>
            <a:endParaRPr lang="en-US" sz="2400"/>
          </a:p>
        </p:txBody>
      </p:sp>
      <p:sp>
        <p:nvSpPr>
          <p:cNvPr id="36" name="Text 34"/>
          <p:cNvSpPr txBox="1"/>
          <p:nvPr/>
        </p:nvSpPr>
        <p:spPr>
          <a:xfrm>
            <a:off x="3755136" y="3998976"/>
            <a:ext cx="1828800" cy="292608"/>
          </a:xfrm>
          <a:prstGeom prst="rect">
            <a:avLst/>
          </a:prstGeom>
          <a:noFill/>
          <a:ln/>
        </p:spPr>
        <p:txBody>
          <a:bodyPr wrap="square" lIns="0" tIns="0" rIns="0" bIns="0" rtlCol="0" anchor="ctr"/>
          <a:lstStyle/>
          <a:p>
            <a:r>
              <a:rPr lang="en-US" sz="1400" dirty="0">
                <a:solidFill>
                  <a:schemeClr val="accent5"/>
                </a:solidFill>
              </a:rPr>
              <a:t>Ag/Au on Si nanowire</a:t>
            </a:r>
            <a:endParaRPr lang="en-US" sz="1400" dirty="0"/>
          </a:p>
        </p:txBody>
      </p:sp>
      <p:sp>
        <p:nvSpPr>
          <p:cNvPr id="37" name="Text 35"/>
          <p:cNvSpPr txBox="1"/>
          <p:nvPr/>
        </p:nvSpPr>
        <p:spPr>
          <a:xfrm>
            <a:off x="609600" y="4511040"/>
            <a:ext cx="4998720" cy="1950720"/>
          </a:xfrm>
          <a:prstGeom prst="rect">
            <a:avLst/>
          </a:prstGeom>
          <a:noFill/>
          <a:ln/>
        </p:spPr>
        <p:txBody>
          <a:bodyPr wrap="square" lIns="0" tIns="0" rIns="0" bIns="0" rtlCol="0" anchor="t"/>
          <a:lstStyle/>
          <a:p>
            <a:pPr marL="203195" indent="-203195">
              <a:spcAft>
                <a:spcPts val="800"/>
              </a:spcAft>
              <a:buSzPct val="100000"/>
              <a:buChar char="•"/>
            </a:pPr>
            <a:r>
              <a:rPr lang="en-US" sz="1733" dirty="0"/>
              <a:t>Some biomolecules scatter too little light to detect on a normal substrate</a:t>
            </a:r>
          </a:p>
          <a:p>
            <a:pPr marL="203195" indent="-203195">
              <a:spcAft>
                <a:spcPts val="800"/>
              </a:spcAft>
              <a:buSzPct val="100000"/>
              <a:buChar char="•"/>
            </a:pPr>
            <a:r>
              <a:rPr lang="en-US" sz="1733" dirty="0"/>
              <a:t>Laser excites surface plasmons in the metal, creating intense fields in the gaps (hot spots)</a:t>
            </a:r>
          </a:p>
          <a:p>
            <a:pPr marL="203195" indent="-203195">
              <a:spcAft>
                <a:spcPts val="800"/>
              </a:spcAft>
              <a:buSzPct val="100000"/>
              <a:buChar char="•"/>
            </a:pPr>
            <a:r>
              <a:rPr lang="en-US" sz="1733" dirty="0"/>
              <a:t>Molecules in hot spots give a much stronger Raman signal, typically 10⁴–10⁸× enhanced</a:t>
            </a:r>
          </a:p>
        </p:txBody>
      </p:sp>
      <p:pic>
        <p:nvPicPr>
          <p:cNvPr id="38" name="SERS vs CaF2" descr="spec_sers.png"/>
          <p:cNvPicPr>
            <a:picLocks noChangeAspect="1"/>
          </p:cNvPicPr>
          <p:nvPr/>
        </p:nvPicPr>
        <p:blipFill>
          <a:blip r:embed="rId3"/>
          <a:stretch>
            <a:fillRect/>
          </a:stretch>
        </p:blipFill>
        <p:spPr>
          <a:xfrm>
            <a:off x="6195754" y="1706880"/>
            <a:ext cx="5386647" cy="4389120"/>
          </a:xfrm>
          <a:prstGeom prst="rect">
            <a:avLst/>
          </a:prstGeom>
        </p:spPr>
      </p:pic>
      <p:sp>
        <p:nvSpPr>
          <p:cNvPr id="39" name="Text 36"/>
          <p:cNvSpPr txBox="1"/>
          <p:nvPr/>
        </p:nvSpPr>
        <p:spPr>
          <a:xfrm>
            <a:off x="5829994" y="6193536"/>
            <a:ext cx="5752407" cy="304800"/>
          </a:xfrm>
          <a:prstGeom prst="rect">
            <a:avLst/>
          </a:prstGeom>
          <a:noFill/>
          <a:ln/>
        </p:spPr>
        <p:txBody>
          <a:bodyPr wrap="square" lIns="0" tIns="0" rIns="0" bIns="0" rtlCol="0" anchor="ctr"/>
          <a:lstStyle/>
          <a:p>
            <a:pPr algn="ctr"/>
            <a:r>
              <a:rPr lang="en-US" sz="1467" i="1" dirty="0">
                <a:solidFill>
                  <a:schemeClr val="accent5"/>
                </a:solidFill>
              </a:rPr>
              <a:t>Same Acacia EV sample: peaks appear only on the SERS substrate</a:t>
            </a:r>
            <a:endParaRPr lang="en-US" sz="1467" dirty="0"/>
          </a:p>
        </p:txBody>
      </p:sp>
      <p:cxnSp>
        <p:nvCxnSpPr>
          <p:cNvPr id="41" name="Straight Arrow Connector 40">
            <a:extLst>
              <a:ext uri="{FF2B5EF4-FFF2-40B4-BE49-F238E27FC236}">
                <a16:creationId xmlns:a16="http://schemas.microsoft.com/office/drawing/2014/main" id="{87EB14C9-99C7-A5B1-407A-CBC78CCBE7EA}"/>
              </a:ext>
            </a:extLst>
          </p:cNvPr>
          <p:cNvCxnSpPr/>
          <p:nvPr/>
        </p:nvCxnSpPr>
        <p:spPr>
          <a:xfrm flipV="1">
            <a:off x="9713167" y="1706880"/>
            <a:ext cx="1474237" cy="33223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3" name="Picture 42">
            <a:extLst>
              <a:ext uri="{FF2B5EF4-FFF2-40B4-BE49-F238E27FC236}">
                <a16:creationId xmlns:a16="http://schemas.microsoft.com/office/drawing/2014/main" id="{6575644A-4BBA-8334-0742-0E933980D48E}"/>
              </a:ext>
            </a:extLst>
          </p:cNvPr>
          <p:cNvPicPr>
            <a:picLocks noChangeAspect="1"/>
          </p:cNvPicPr>
          <p:nvPr/>
        </p:nvPicPr>
        <p:blipFill>
          <a:blip r:embed="rId4"/>
          <a:stretch>
            <a:fillRect/>
          </a:stretch>
        </p:blipFill>
        <p:spPr>
          <a:xfrm>
            <a:off x="10640414" y="303929"/>
            <a:ext cx="1551586" cy="1254348"/>
          </a:xfrm>
          <a:prstGeom prst="rect">
            <a:avLst/>
          </a:prstGeom>
        </p:spPr>
      </p:pic>
      <p:cxnSp>
        <p:nvCxnSpPr>
          <p:cNvPr id="45" name="Straight Arrow Connector 44">
            <a:extLst>
              <a:ext uri="{FF2B5EF4-FFF2-40B4-BE49-F238E27FC236}">
                <a16:creationId xmlns:a16="http://schemas.microsoft.com/office/drawing/2014/main" id="{41835369-4F7D-7629-CFD5-4955FB1FD0A9}"/>
              </a:ext>
            </a:extLst>
          </p:cNvPr>
          <p:cNvCxnSpPr/>
          <p:nvPr/>
        </p:nvCxnSpPr>
        <p:spPr>
          <a:xfrm flipV="1">
            <a:off x="7109927" y="2755392"/>
            <a:ext cx="671804" cy="16673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7" name="Picture 46">
            <a:extLst>
              <a:ext uri="{FF2B5EF4-FFF2-40B4-BE49-F238E27FC236}">
                <a16:creationId xmlns:a16="http://schemas.microsoft.com/office/drawing/2014/main" id="{E6A926F1-1520-6017-6165-076F84BA7231}"/>
              </a:ext>
            </a:extLst>
          </p:cNvPr>
          <p:cNvPicPr>
            <a:picLocks noChangeAspect="1"/>
          </p:cNvPicPr>
          <p:nvPr/>
        </p:nvPicPr>
        <p:blipFill>
          <a:blip r:embed="rId5">
            <a:extLst>
              <a:ext uri="{28A0092B-C50C-407E-A947-70E740481C1C}">
                <a14:useLocalDpi xmlns:a14="http://schemas.microsoft.com/office/drawing/2010/main" val="0"/>
              </a:ext>
            </a:extLst>
          </a:blip>
          <a:srcRect l="28267" t="27555" r="33442" b="41689"/>
          <a:stretch/>
        </p:blipFill>
        <p:spPr>
          <a:xfrm>
            <a:off x="7145256" y="1633728"/>
            <a:ext cx="1659586" cy="9997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Raman animated background" descr="Animated background: Raman spectra and laser scattering">
            <a:extLst>
              <a:ext uri="{C183D7F6-B498-43B3-948B-1728B52AA6E4}">
                <adec:decorative xmlns:adec="http://schemas.microsoft.com/office/drawing/2017/decorative" val="1"/>
              </a:ext>
            </a:extLst>
          </p:cNvPr>
          <p:cNvPicPr>
            <a:picLocks noGrp="1" noChangeAspect="1"/>
          </p:cNvPicPr>
          <p:nvPr userDrawn="1"/>
        </p:nvPicPr>
        <p:blipFill>
          <a:blip r:embed="rIdRamanBg"/>
          <a:stretch>
            <a:fillRect/>
          </a:stretch>
        </p:blipFill>
        <p:spPr>
          <a:xfrm>
            <a:off x="0" y="0"/>
            <a:ext cx="12192000" cy="6858000"/>
          </a:xfrm>
          <a:prstGeom prst="rect">
            <a:avLst/>
          </a:prstGeom>
        </p:spPr>
      </p:pic>
      <p:sp>
        <p:nvSpPr>
          <p:cNvPr id="2" name="Text 0"/>
          <p:cNvSpPr txBox="1"/>
          <p:nvPr/>
        </p:nvSpPr>
        <p:spPr>
          <a:xfrm>
            <a:off x="179492" y="227708"/>
            <a:ext cx="11274552" cy="502920"/>
          </a:xfrm>
          <a:prstGeom prst="rect">
            <a:avLst/>
          </a:prstGeom>
          <a:noFill/>
          <a:ln/>
        </p:spPr>
        <p:txBody>
          <a:bodyPr wrap="square" lIns="0" tIns="0" rIns="0" bIns="0" rtlCol="0" anchor="ctr"/>
          <a:lstStyle/>
          <a:p>
            <a:pPr marL="0" indent="0">
              <a:buNone/>
            </a:pPr>
            <a:r>
              <a:rPr lang="en-US" sz="2300" b="1" dirty="0">
                <a:solidFill>
                  <a:srgbClr val="1F3A4D"/>
                </a:solidFill>
                <a:latin typeface="Cambria" pitchFamily="34" charset="0"/>
                <a:ea typeface="Cambria" pitchFamily="34" charset="-122"/>
                <a:cs typeface="Cambria" pitchFamily="34" charset="-120"/>
              </a:rPr>
              <a:t>ML-Raman Classification of Chromonic Liquid Crystals on Different Substrates</a:t>
            </a:r>
            <a:endParaRPr lang="en-US" sz="2300" dirty="0"/>
          </a:p>
        </p:txBody>
      </p:sp>
      <p:sp>
        <p:nvSpPr>
          <p:cNvPr id="3" name="Text 1"/>
          <p:cNvSpPr txBox="1"/>
          <p:nvPr/>
        </p:nvSpPr>
        <p:spPr>
          <a:xfrm>
            <a:off x="567842" y="789178"/>
            <a:ext cx="11274552" cy="292608"/>
          </a:xfrm>
          <a:prstGeom prst="rect">
            <a:avLst/>
          </a:prstGeom>
          <a:noFill/>
          <a:ln/>
        </p:spPr>
        <p:txBody>
          <a:bodyPr wrap="square" lIns="0" tIns="0" rIns="0" bIns="0" rtlCol="0" anchor="ctr"/>
          <a:lstStyle/>
          <a:p>
            <a:pPr marL="0" indent="0">
              <a:buNone/>
            </a:pPr>
            <a:r>
              <a:rPr lang="en-US" sz="1250" i="1" dirty="0">
                <a:solidFill>
                  <a:srgbClr val="5B6B75"/>
                </a:solidFill>
                <a:latin typeface="Calibri" pitchFamily="34" charset="0"/>
                <a:ea typeface="Calibri" pitchFamily="34" charset="-122"/>
                <a:cs typeface="Calibri" pitchFamily="34" charset="-120"/>
              </a:rPr>
              <a:t>Sunset Yellow (SSY) on PDMS, Gr-PDMS, SiO₂/Si and Gr-SiO₂/Si · 80 Raman spectra (20/class) · λ = 473 nm · Python (scikit-learn)</a:t>
            </a:r>
            <a:endParaRPr lang="en-US" sz="1250" dirty="0"/>
          </a:p>
        </p:txBody>
      </p:sp>
      <p:sp>
        <p:nvSpPr>
          <p:cNvPr id="4" name="Shape 2"/>
          <p:cNvSpPr/>
          <p:nvPr/>
        </p:nvSpPr>
        <p:spPr>
          <a:xfrm>
            <a:off x="457200" y="1188720"/>
            <a:ext cx="2103120" cy="384048"/>
          </a:xfrm>
          <a:prstGeom prst="roundRect">
            <a:avLst>
              <a:gd name="adj" fmla="val 19048"/>
            </a:avLst>
          </a:prstGeom>
          <a:solidFill>
            <a:srgbClr val="EEF6F6"/>
          </a:solidFill>
          <a:ln w="12700">
            <a:solidFill>
              <a:srgbClr val="EEF6F6"/>
            </a:solidFill>
            <a:prstDash val="solid"/>
          </a:ln>
        </p:spPr>
        <p:txBody>
          <a:bodyPr/>
          <a:lstStyle/>
          <a:p>
            <a:endParaRPr lang="en-US"/>
          </a:p>
        </p:txBody>
      </p:sp>
      <p:sp>
        <p:nvSpPr>
          <p:cNvPr id="5" name="Text 3"/>
          <p:cNvSpPr txBox="1"/>
          <p:nvPr/>
        </p:nvSpPr>
        <p:spPr>
          <a:xfrm>
            <a:off x="548640" y="1188720"/>
            <a:ext cx="1920240" cy="384048"/>
          </a:xfrm>
          <a:prstGeom prst="rect">
            <a:avLst/>
          </a:prstGeom>
          <a:noFill/>
          <a:ln/>
        </p:spPr>
        <p:txBody>
          <a:bodyPr wrap="square" lIns="0" tIns="0" rIns="0" bIns="0" rtlCol="0" anchor="ctr"/>
          <a:lstStyle/>
          <a:p>
            <a:pPr marL="0" indent="0" algn="ctr">
              <a:buNone/>
            </a:pPr>
            <a:r>
              <a:rPr lang="en-US" sz="1050" b="1" dirty="0">
                <a:solidFill>
                  <a:srgbClr val="0F7C80"/>
                </a:solidFill>
                <a:latin typeface="Calibri" pitchFamily="34" charset="0"/>
                <a:ea typeface="Calibri" pitchFamily="34" charset="-122"/>
                <a:cs typeface="Calibri" pitchFamily="34" charset="-120"/>
              </a:rPr>
              <a:t>1  </a:t>
            </a:r>
            <a:r>
              <a:rPr lang="en-US" sz="1050" dirty="0">
                <a:solidFill>
                  <a:srgbClr val="1F3A4D"/>
                </a:solidFill>
                <a:latin typeface="Calibri" pitchFamily="34" charset="0"/>
                <a:ea typeface="Calibri" pitchFamily="34" charset="-122"/>
                <a:cs typeface="Calibri" pitchFamily="34" charset="-120"/>
              </a:rPr>
              <a:t>Raw spectra 450–1800 cm⁻¹</a:t>
            </a:r>
            <a:endParaRPr lang="en-US" sz="1050" dirty="0"/>
          </a:p>
        </p:txBody>
      </p:sp>
      <p:sp>
        <p:nvSpPr>
          <p:cNvPr id="6" name="Shape 4"/>
          <p:cNvSpPr/>
          <p:nvPr/>
        </p:nvSpPr>
        <p:spPr>
          <a:xfrm rot="5400000">
            <a:off x="2615184" y="1316736"/>
            <a:ext cx="91440" cy="128016"/>
          </a:xfrm>
          <a:prstGeom prst="triangle">
            <a:avLst/>
          </a:prstGeom>
          <a:solidFill>
            <a:srgbClr val="0F7C80"/>
          </a:solidFill>
          <a:ln w="12700">
            <a:solidFill>
              <a:srgbClr val="0F7C80"/>
            </a:solidFill>
            <a:prstDash val="solid"/>
          </a:ln>
        </p:spPr>
        <p:txBody>
          <a:bodyPr/>
          <a:lstStyle/>
          <a:p>
            <a:endParaRPr lang="en-US"/>
          </a:p>
        </p:txBody>
      </p:sp>
      <p:sp>
        <p:nvSpPr>
          <p:cNvPr id="7" name="Shape 5"/>
          <p:cNvSpPr/>
          <p:nvPr/>
        </p:nvSpPr>
        <p:spPr>
          <a:xfrm>
            <a:off x="2766060" y="1188720"/>
            <a:ext cx="2011680" cy="384048"/>
          </a:xfrm>
          <a:prstGeom prst="roundRect">
            <a:avLst>
              <a:gd name="adj" fmla="val 19048"/>
            </a:avLst>
          </a:prstGeom>
          <a:solidFill>
            <a:srgbClr val="EEF6F6"/>
          </a:solidFill>
          <a:ln w="12700">
            <a:solidFill>
              <a:srgbClr val="EEF6F6"/>
            </a:solidFill>
            <a:prstDash val="solid"/>
          </a:ln>
        </p:spPr>
        <p:txBody>
          <a:bodyPr/>
          <a:lstStyle/>
          <a:p>
            <a:endParaRPr lang="en-US"/>
          </a:p>
        </p:txBody>
      </p:sp>
      <p:sp>
        <p:nvSpPr>
          <p:cNvPr id="8" name="Text 6"/>
          <p:cNvSpPr txBox="1"/>
          <p:nvPr/>
        </p:nvSpPr>
        <p:spPr>
          <a:xfrm>
            <a:off x="2857500" y="1188720"/>
            <a:ext cx="1828800" cy="384048"/>
          </a:xfrm>
          <a:prstGeom prst="rect">
            <a:avLst/>
          </a:prstGeom>
          <a:noFill/>
          <a:ln/>
        </p:spPr>
        <p:txBody>
          <a:bodyPr wrap="square" lIns="0" tIns="0" rIns="0" bIns="0" rtlCol="0" anchor="ctr"/>
          <a:lstStyle/>
          <a:p>
            <a:pPr marL="0" indent="0" algn="ctr">
              <a:buNone/>
            </a:pPr>
            <a:r>
              <a:rPr lang="en-US" sz="1050" b="1" dirty="0">
                <a:solidFill>
                  <a:srgbClr val="0F7C80"/>
                </a:solidFill>
                <a:latin typeface="Calibri" pitchFamily="34" charset="0"/>
                <a:ea typeface="Calibri" pitchFamily="34" charset="-122"/>
                <a:cs typeface="Calibri" pitchFamily="34" charset="-120"/>
              </a:rPr>
              <a:t>2  </a:t>
            </a:r>
            <a:r>
              <a:rPr lang="en-US" sz="1050" dirty="0">
                <a:solidFill>
                  <a:srgbClr val="1F3A4D"/>
                </a:solidFill>
                <a:latin typeface="Calibri" pitchFamily="34" charset="0"/>
                <a:ea typeface="Calibri" pitchFamily="34" charset="-122"/>
                <a:cs typeface="Calibri" pitchFamily="34" charset="-120"/>
              </a:rPr>
              <a:t>Savitzky–Golay + scaling</a:t>
            </a:r>
            <a:endParaRPr lang="en-US" sz="1050" dirty="0"/>
          </a:p>
        </p:txBody>
      </p:sp>
      <p:sp>
        <p:nvSpPr>
          <p:cNvPr id="9" name="Shape 7"/>
          <p:cNvSpPr/>
          <p:nvPr/>
        </p:nvSpPr>
        <p:spPr>
          <a:xfrm rot="5400000">
            <a:off x="4832604" y="1316736"/>
            <a:ext cx="91440" cy="128016"/>
          </a:xfrm>
          <a:prstGeom prst="triangle">
            <a:avLst/>
          </a:prstGeom>
          <a:solidFill>
            <a:srgbClr val="0F7C80"/>
          </a:solidFill>
          <a:ln w="12700">
            <a:solidFill>
              <a:srgbClr val="0F7C80"/>
            </a:solidFill>
            <a:prstDash val="solid"/>
          </a:ln>
        </p:spPr>
        <p:txBody>
          <a:bodyPr/>
          <a:lstStyle/>
          <a:p>
            <a:endParaRPr lang="en-US"/>
          </a:p>
        </p:txBody>
      </p:sp>
      <p:sp>
        <p:nvSpPr>
          <p:cNvPr id="10" name="Shape 8"/>
          <p:cNvSpPr/>
          <p:nvPr/>
        </p:nvSpPr>
        <p:spPr>
          <a:xfrm>
            <a:off x="4983480" y="1188720"/>
            <a:ext cx="1874520" cy="384048"/>
          </a:xfrm>
          <a:prstGeom prst="roundRect">
            <a:avLst>
              <a:gd name="adj" fmla="val 19048"/>
            </a:avLst>
          </a:prstGeom>
          <a:solidFill>
            <a:srgbClr val="EEF6F6"/>
          </a:solidFill>
          <a:ln w="12700">
            <a:solidFill>
              <a:srgbClr val="EEF6F6"/>
            </a:solidFill>
            <a:prstDash val="solid"/>
          </a:ln>
        </p:spPr>
        <p:txBody>
          <a:bodyPr/>
          <a:lstStyle/>
          <a:p>
            <a:endParaRPr lang="en-US"/>
          </a:p>
        </p:txBody>
      </p:sp>
      <p:sp>
        <p:nvSpPr>
          <p:cNvPr id="11" name="Text 9"/>
          <p:cNvSpPr txBox="1"/>
          <p:nvPr/>
        </p:nvSpPr>
        <p:spPr>
          <a:xfrm>
            <a:off x="5074920" y="1188720"/>
            <a:ext cx="1691640" cy="384048"/>
          </a:xfrm>
          <a:prstGeom prst="rect">
            <a:avLst/>
          </a:prstGeom>
          <a:noFill/>
          <a:ln/>
        </p:spPr>
        <p:txBody>
          <a:bodyPr wrap="square" lIns="0" tIns="0" rIns="0" bIns="0" rtlCol="0" anchor="ctr"/>
          <a:lstStyle/>
          <a:p>
            <a:pPr marL="0" indent="0" algn="ctr">
              <a:buNone/>
            </a:pPr>
            <a:r>
              <a:rPr lang="en-US" sz="1050" b="1" dirty="0">
                <a:solidFill>
                  <a:srgbClr val="0F7C80"/>
                </a:solidFill>
                <a:latin typeface="Calibri" pitchFamily="34" charset="0"/>
                <a:ea typeface="Calibri" pitchFamily="34" charset="-122"/>
                <a:cs typeface="Calibri" pitchFamily="34" charset="-120"/>
              </a:rPr>
              <a:t>3  </a:t>
            </a:r>
            <a:r>
              <a:rPr lang="en-US" sz="1050" dirty="0">
                <a:solidFill>
                  <a:srgbClr val="1F3A4D"/>
                </a:solidFill>
                <a:latin typeface="Calibri" pitchFamily="34" charset="0"/>
                <a:ea typeface="Calibri" pitchFamily="34" charset="-122"/>
                <a:cs typeface="Calibri" pitchFamily="34" charset="-120"/>
              </a:rPr>
              <a:t>VIP feature selection</a:t>
            </a:r>
            <a:endParaRPr lang="en-US" sz="1050" dirty="0"/>
          </a:p>
        </p:txBody>
      </p:sp>
      <p:sp>
        <p:nvSpPr>
          <p:cNvPr id="12" name="Shape 10"/>
          <p:cNvSpPr/>
          <p:nvPr/>
        </p:nvSpPr>
        <p:spPr>
          <a:xfrm rot="5400000">
            <a:off x="6912864" y="1316736"/>
            <a:ext cx="91440" cy="128016"/>
          </a:xfrm>
          <a:prstGeom prst="triangle">
            <a:avLst/>
          </a:prstGeom>
          <a:solidFill>
            <a:srgbClr val="0F7C80"/>
          </a:solidFill>
          <a:ln w="12700">
            <a:solidFill>
              <a:srgbClr val="0F7C80"/>
            </a:solidFill>
            <a:prstDash val="solid"/>
          </a:ln>
        </p:spPr>
        <p:txBody>
          <a:bodyPr/>
          <a:lstStyle/>
          <a:p>
            <a:endParaRPr lang="en-US"/>
          </a:p>
        </p:txBody>
      </p:sp>
      <p:sp>
        <p:nvSpPr>
          <p:cNvPr id="13" name="Shape 11"/>
          <p:cNvSpPr/>
          <p:nvPr/>
        </p:nvSpPr>
        <p:spPr>
          <a:xfrm>
            <a:off x="7063740" y="1188720"/>
            <a:ext cx="1783080" cy="384048"/>
          </a:xfrm>
          <a:prstGeom prst="roundRect">
            <a:avLst>
              <a:gd name="adj" fmla="val 19048"/>
            </a:avLst>
          </a:prstGeom>
          <a:solidFill>
            <a:srgbClr val="EEF6F6"/>
          </a:solidFill>
          <a:ln w="12700">
            <a:solidFill>
              <a:srgbClr val="EEF6F6"/>
            </a:solidFill>
            <a:prstDash val="solid"/>
          </a:ln>
        </p:spPr>
        <p:txBody>
          <a:bodyPr/>
          <a:lstStyle/>
          <a:p>
            <a:endParaRPr lang="en-US"/>
          </a:p>
        </p:txBody>
      </p:sp>
      <p:sp>
        <p:nvSpPr>
          <p:cNvPr id="14" name="Text 12"/>
          <p:cNvSpPr txBox="1"/>
          <p:nvPr/>
        </p:nvSpPr>
        <p:spPr>
          <a:xfrm>
            <a:off x="7155180" y="1188720"/>
            <a:ext cx="1600200" cy="384048"/>
          </a:xfrm>
          <a:prstGeom prst="rect">
            <a:avLst/>
          </a:prstGeom>
          <a:noFill/>
          <a:ln/>
        </p:spPr>
        <p:txBody>
          <a:bodyPr wrap="square" lIns="0" tIns="0" rIns="0" bIns="0" rtlCol="0" anchor="ctr"/>
          <a:lstStyle/>
          <a:p>
            <a:pPr marL="0" indent="0" algn="ctr">
              <a:buNone/>
            </a:pPr>
            <a:r>
              <a:rPr lang="en-US" sz="1050" b="1" dirty="0">
                <a:solidFill>
                  <a:srgbClr val="0F7C80"/>
                </a:solidFill>
                <a:latin typeface="Calibri" pitchFamily="34" charset="0"/>
                <a:ea typeface="Calibri" pitchFamily="34" charset="-122"/>
                <a:cs typeface="Calibri" pitchFamily="34" charset="-120"/>
              </a:rPr>
              <a:t>4  </a:t>
            </a:r>
            <a:r>
              <a:rPr lang="en-US" sz="1050" dirty="0">
                <a:solidFill>
                  <a:srgbClr val="1F3A4D"/>
                </a:solidFill>
                <a:latin typeface="Calibri" pitchFamily="34" charset="0"/>
                <a:ea typeface="Calibri" pitchFamily="34" charset="-122"/>
                <a:cs typeface="Calibri" pitchFamily="34" charset="-120"/>
              </a:rPr>
              <a:t>PLS-DA &amp; SVM-RBF</a:t>
            </a:r>
            <a:endParaRPr lang="en-US" sz="1050" dirty="0"/>
          </a:p>
        </p:txBody>
      </p:sp>
      <p:sp>
        <p:nvSpPr>
          <p:cNvPr id="15" name="Shape 13"/>
          <p:cNvSpPr/>
          <p:nvPr/>
        </p:nvSpPr>
        <p:spPr>
          <a:xfrm rot="5400000">
            <a:off x="8901684" y="1316736"/>
            <a:ext cx="91440" cy="128016"/>
          </a:xfrm>
          <a:prstGeom prst="triangle">
            <a:avLst/>
          </a:prstGeom>
          <a:solidFill>
            <a:srgbClr val="0F7C80"/>
          </a:solidFill>
          <a:ln w="12700">
            <a:solidFill>
              <a:srgbClr val="0F7C80"/>
            </a:solidFill>
            <a:prstDash val="solid"/>
          </a:ln>
        </p:spPr>
        <p:txBody>
          <a:bodyPr/>
          <a:lstStyle/>
          <a:p>
            <a:endParaRPr lang="en-US"/>
          </a:p>
        </p:txBody>
      </p:sp>
      <p:sp>
        <p:nvSpPr>
          <p:cNvPr id="16" name="Shape 14"/>
          <p:cNvSpPr/>
          <p:nvPr/>
        </p:nvSpPr>
        <p:spPr>
          <a:xfrm>
            <a:off x="9052560" y="1188720"/>
            <a:ext cx="2679192" cy="384048"/>
          </a:xfrm>
          <a:prstGeom prst="roundRect">
            <a:avLst>
              <a:gd name="adj" fmla="val 19048"/>
            </a:avLst>
          </a:prstGeom>
          <a:solidFill>
            <a:srgbClr val="EEF6F6"/>
          </a:solidFill>
          <a:ln w="12700">
            <a:solidFill>
              <a:srgbClr val="EEF6F6"/>
            </a:solidFill>
            <a:prstDash val="solid"/>
          </a:ln>
        </p:spPr>
        <p:txBody>
          <a:bodyPr/>
          <a:lstStyle/>
          <a:p>
            <a:endParaRPr lang="en-US"/>
          </a:p>
        </p:txBody>
      </p:sp>
      <p:sp>
        <p:nvSpPr>
          <p:cNvPr id="17" name="Text 15"/>
          <p:cNvSpPr txBox="1"/>
          <p:nvPr/>
        </p:nvSpPr>
        <p:spPr>
          <a:xfrm>
            <a:off x="9144000" y="1188720"/>
            <a:ext cx="2496312" cy="384048"/>
          </a:xfrm>
          <a:prstGeom prst="rect">
            <a:avLst/>
          </a:prstGeom>
          <a:noFill/>
          <a:ln/>
        </p:spPr>
        <p:txBody>
          <a:bodyPr wrap="square" lIns="0" tIns="0" rIns="0" bIns="0" rtlCol="0" anchor="ctr"/>
          <a:lstStyle/>
          <a:p>
            <a:pPr marL="0" indent="0" algn="ctr">
              <a:buNone/>
            </a:pPr>
            <a:r>
              <a:rPr lang="en-US" sz="1050" b="1" dirty="0">
                <a:solidFill>
                  <a:srgbClr val="0F7C80"/>
                </a:solidFill>
                <a:latin typeface="Calibri" pitchFamily="34" charset="0"/>
                <a:ea typeface="Calibri" pitchFamily="34" charset="-122"/>
                <a:cs typeface="Calibri" pitchFamily="34" charset="-120"/>
              </a:rPr>
              <a:t>5  </a:t>
            </a:r>
            <a:r>
              <a:rPr lang="en-US" sz="1050" dirty="0">
                <a:solidFill>
                  <a:srgbClr val="1F3A4D"/>
                </a:solidFill>
                <a:latin typeface="Calibri" pitchFamily="34" charset="0"/>
                <a:ea typeface="Calibri" pitchFamily="34" charset="-122"/>
                <a:cs typeface="Calibri" pitchFamily="34" charset="-120"/>
              </a:rPr>
              <a:t>CV · external · permutation test</a:t>
            </a:r>
            <a:endParaRPr lang="en-US" sz="1050" dirty="0"/>
          </a:p>
        </p:txBody>
      </p:sp>
      <p:pic>
        <p:nvPicPr>
          <p:cNvPr id="18" name="Image 0" descr="/tmp/claude-0/z/ppt/media/image22.png"/>
          <p:cNvPicPr>
            <a:picLocks noChangeAspect="1"/>
          </p:cNvPicPr>
          <p:nvPr/>
        </p:nvPicPr>
        <p:blipFill>
          <a:blip r:embed="rId3"/>
          <a:stretch>
            <a:fillRect/>
          </a:stretch>
        </p:blipFill>
        <p:spPr>
          <a:xfrm>
            <a:off x="5979262" y="1841023"/>
            <a:ext cx="3236976" cy="2560320"/>
          </a:xfrm>
          <a:prstGeom prst="rect">
            <a:avLst/>
          </a:prstGeom>
        </p:spPr>
      </p:pic>
      <p:sp>
        <p:nvSpPr>
          <p:cNvPr id="19" name="Text 16"/>
          <p:cNvSpPr txBox="1"/>
          <p:nvPr/>
        </p:nvSpPr>
        <p:spPr>
          <a:xfrm>
            <a:off x="6076696" y="4448556"/>
            <a:ext cx="3236976" cy="274320"/>
          </a:xfrm>
          <a:prstGeom prst="rect">
            <a:avLst/>
          </a:prstGeom>
          <a:noFill/>
          <a:ln/>
        </p:spPr>
        <p:txBody>
          <a:bodyPr wrap="square" lIns="0" tIns="0" rIns="0" bIns="0" rtlCol="0" anchor="ctr"/>
          <a:lstStyle/>
          <a:p>
            <a:pPr marL="0" indent="0" algn="ctr">
              <a:buNone/>
            </a:pPr>
            <a:r>
              <a:rPr lang="en-US" sz="1050" i="1" dirty="0">
                <a:solidFill>
                  <a:srgbClr val="5B6B75"/>
                </a:solidFill>
                <a:latin typeface="Calibri" pitchFamily="34" charset="0"/>
                <a:ea typeface="Calibri" pitchFamily="34" charset="-122"/>
                <a:cs typeface="Calibri" pitchFamily="34" charset="-120"/>
              </a:rPr>
              <a:t>Raman spectra: visually indistinguishable</a:t>
            </a:r>
            <a:endParaRPr lang="en-US" sz="1050" dirty="0"/>
          </a:p>
        </p:txBody>
      </p:sp>
      <p:pic>
        <p:nvPicPr>
          <p:cNvPr id="22" name="Image 2" descr="/tmp/claude-0/z/ppt/media/image26.png"/>
          <p:cNvPicPr>
            <a:picLocks noChangeAspect="1"/>
          </p:cNvPicPr>
          <p:nvPr/>
        </p:nvPicPr>
        <p:blipFill>
          <a:blip r:embed="rId4"/>
          <a:stretch>
            <a:fillRect/>
          </a:stretch>
        </p:blipFill>
        <p:spPr>
          <a:xfrm>
            <a:off x="9161374" y="1815592"/>
            <a:ext cx="2569464" cy="2560320"/>
          </a:xfrm>
          <a:prstGeom prst="rect">
            <a:avLst/>
          </a:prstGeom>
        </p:spPr>
      </p:pic>
      <p:sp>
        <p:nvSpPr>
          <p:cNvPr id="23" name="Text 18"/>
          <p:cNvSpPr txBox="1"/>
          <p:nvPr/>
        </p:nvSpPr>
        <p:spPr>
          <a:xfrm>
            <a:off x="9216238" y="4421124"/>
            <a:ext cx="2569464" cy="274320"/>
          </a:xfrm>
          <a:prstGeom prst="rect">
            <a:avLst/>
          </a:prstGeom>
          <a:noFill/>
          <a:ln/>
        </p:spPr>
        <p:txBody>
          <a:bodyPr wrap="square" lIns="0" tIns="0" rIns="0" bIns="0" rtlCol="0" anchor="ctr"/>
          <a:lstStyle/>
          <a:p>
            <a:pPr marL="0" indent="0" algn="ctr">
              <a:buNone/>
            </a:pPr>
            <a:r>
              <a:rPr lang="en-US" sz="1050" i="1" dirty="0">
                <a:solidFill>
                  <a:srgbClr val="5B6B75"/>
                </a:solidFill>
                <a:latin typeface="Calibri" pitchFamily="34" charset="0"/>
                <a:ea typeface="Calibri" pitchFamily="34" charset="-122"/>
                <a:cs typeface="Calibri" pitchFamily="34" charset="-120"/>
              </a:rPr>
              <a:t>PLS-DA 3D scores: PDMS vs SiO₂/Si split</a:t>
            </a:r>
            <a:endParaRPr lang="en-US" sz="1050" dirty="0"/>
          </a:p>
        </p:txBody>
      </p:sp>
      <p:sp>
        <p:nvSpPr>
          <p:cNvPr id="27" name="Shape 22"/>
          <p:cNvSpPr/>
          <p:nvPr/>
        </p:nvSpPr>
        <p:spPr>
          <a:xfrm>
            <a:off x="323799" y="4796028"/>
            <a:ext cx="2651760" cy="868680"/>
          </a:xfrm>
          <a:prstGeom prst="roundRect">
            <a:avLst>
              <a:gd name="adj" fmla="val 8421"/>
            </a:avLst>
          </a:prstGeom>
          <a:solidFill>
            <a:srgbClr val="FFFFFF"/>
          </a:solidFill>
          <a:ln w="12700">
            <a:solidFill>
              <a:srgbClr val="CFE0E1"/>
            </a:solidFill>
            <a:prstDash val="solid"/>
          </a:ln>
        </p:spPr>
        <p:txBody>
          <a:bodyPr/>
          <a:lstStyle/>
          <a:p>
            <a:endParaRPr lang="en-US"/>
          </a:p>
        </p:txBody>
      </p:sp>
      <p:sp>
        <p:nvSpPr>
          <p:cNvPr id="28" name="Text 23"/>
          <p:cNvSpPr txBox="1"/>
          <p:nvPr/>
        </p:nvSpPr>
        <p:spPr>
          <a:xfrm>
            <a:off x="598322" y="4813300"/>
            <a:ext cx="2377440" cy="457200"/>
          </a:xfrm>
          <a:prstGeom prst="rect">
            <a:avLst/>
          </a:prstGeom>
          <a:noFill/>
          <a:ln/>
        </p:spPr>
        <p:txBody>
          <a:bodyPr wrap="square" lIns="0" tIns="0" rIns="0" bIns="0" rtlCol="0" anchor="ctr"/>
          <a:lstStyle/>
          <a:p>
            <a:pPr marL="0" indent="0">
              <a:buNone/>
            </a:pPr>
            <a:r>
              <a:rPr lang="en-US" sz="2400" b="1" dirty="0">
                <a:solidFill>
                  <a:srgbClr val="0F7C80"/>
                </a:solidFill>
                <a:latin typeface="Cambria" pitchFamily="34" charset="0"/>
                <a:ea typeface="Cambria" pitchFamily="34" charset="-122"/>
                <a:cs typeface="Cambria" pitchFamily="34" charset="-120"/>
              </a:rPr>
              <a:t>75%</a:t>
            </a:r>
            <a:endParaRPr lang="en-US" sz="2400" dirty="0"/>
          </a:p>
        </p:txBody>
      </p:sp>
      <p:sp>
        <p:nvSpPr>
          <p:cNvPr id="29" name="Text 24"/>
          <p:cNvSpPr txBox="1"/>
          <p:nvPr/>
        </p:nvSpPr>
        <p:spPr>
          <a:xfrm>
            <a:off x="480060" y="5238496"/>
            <a:ext cx="2377440" cy="329184"/>
          </a:xfrm>
          <a:prstGeom prst="rect">
            <a:avLst/>
          </a:prstGeom>
          <a:noFill/>
          <a:ln/>
        </p:spPr>
        <p:txBody>
          <a:bodyPr wrap="square" lIns="0" tIns="0" rIns="0" bIns="0" rtlCol="0" anchor="t"/>
          <a:lstStyle/>
          <a:p>
            <a:pPr marL="0" indent="0">
              <a:buNone/>
            </a:pPr>
            <a:r>
              <a:rPr lang="en-US" sz="1100" dirty="0">
                <a:solidFill>
                  <a:srgbClr val="1F3A4D"/>
                </a:solidFill>
                <a:latin typeface="Calibri" pitchFamily="34" charset="0"/>
                <a:ea typeface="Calibri" pitchFamily="34" charset="-122"/>
                <a:cs typeface="Calibri" pitchFamily="34" charset="-120"/>
              </a:rPr>
              <a:t>Binary, mixed external test (SVM)</a:t>
            </a:r>
            <a:endParaRPr lang="en-US" sz="1100" dirty="0"/>
          </a:p>
        </p:txBody>
      </p:sp>
      <p:sp>
        <p:nvSpPr>
          <p:cNvPr id="30" name="Shape 25"/>
          <p:cNvSpPr/>
          <p:nvPr/>
        </p:nvSpPr>
        <p:spPr>
          <a:xfrm>
            <a:off x="6205118" y="4846320"/>
            <a:ext cx="2651760" cy="868680"/>
          </a:xfrm>
          <a:prstGeom prst="roundRect">
            <a:avLst>
              <a:gd name="adj" fmla="val 8421"/>
            </a:avLst>
          </a:prstGeom>
          <a:solidFill>
            <a:srgbClr val="FFFFFF"/>
          </a:solidFill>
          <a:ln w="12700">
            <a:solidFill>
              <a:srgbClr val="CFE0E1"/>
            </a:solidFill>
            <a:prstDash val="solid"/>
          </a:ln>
        </p:spPr>
        <p:txBody>
          <a:bodyPr/>
          <a:lstStyle/>
          <a:p>
            <a:endParaRPr lang="en-US"/>
          </a:p>
        </p:txBody>
      </p:sp>
      <p:sp>
        <p:nvSpPr>
          <p:cNvPr id="31" name="Text 26"/>
          <p:cNvSpPr txBox="1"/>
          <p:nvPr/>
        </p:nvSpPr>
        <p:spPr>
          <a:xfrm>
            <a:off x="6342278" y="4873752"/>
            <a:ext cx="2377440" cy="457200"/>
          </a:xfrm>
          <a:prstGeom prst="rect">
            <a:avLst/>
          </a:prstGeom>
          <a:noFill/>
          <a:ln/>
        </p:spPr>
        <p:txBody>
          <a:bodyPr wrap="square" lIns="0" tIns="0" rIns="0" bIns="0" rtlCol="0" anchor="ctr"/>
          <a:lstStyle/>
          <a:p>
            <a:pPr marL="0" indent="0">
              <a:buNone/>
            </a:pPr>
            <a:r>
              <a:rPr lang="en-US" sz="2400" b="1" dirty="0">
                <a:solidFill>
                  <a:srgbClr val="0F7C80"/>
                </a:solidFill>
                <a:latin typeface="Cambria" pitchFamily="34" charset="0"/>
                <a:ea typeface="Cambria" pitchFamily="34" charset="-122"/>
                <a:cs typeface="Cambria" pitchFamily="34" charset="-120"/>
              </a:rPr>
              <a:t>90%</a:t>
            </a:r>
            <a:endParaRPr lang="en-US" sz="2400" dirty="0"/>
          </a:p>
        </p:txBody>
      </p:sp>
      <p:sp>
        <p:nvSpPr>
          <p:cNvPr id="32" name="Text 27"/>
          <p:cNvSpPr txBox="1"/>
          <p:nvPr/>
        </p:nvSpPr>
        <p:spPr>
          <a:xfrm>
            <a:off x="6342278" y="5330952"/>
            <a:ext cx="2377440" cy="329184"/>
          </a:xfrm>
          <a:prstGeom prst="rect">
            <a:avLst/>
          </a:prstGeom>
          <a:noFill/>
          <a:ln/>
        </p:spPr>
        <p:txBody>
          <a:bodyPr wrap="square" lIns="0" tIns="0" rIns="0" bIns="0" rtlCol="0" anchor="t"/>
          <a:lstStyle/>
          <a:p>
            <a:pPr marL="0" indent="0">
              <a:buNone/>
            </a:pPr>
            <a:r>
              <a:rPr lang="en-US" sz="1100" dirty="0">
                <a:solidFill>
                  <a:srgbClr val="1F3A4D"/>
                </a:solidFill>
                <a:latin typeface="Calibri" pitchFamily="34" charset="0"/>
                <a:ea typeface="Calibri" pitchFamily="34" charset="-122"/>
                <a:cs typeface="Calibri" pitchFamily="34" charset="-120"/>
              </a:rPr>
              <a:t>Graphene-only external test (PLS-DA)</a:t>
            </a:r>
            <a:endParaRPr lang="en-US" sz="1100" dirty="0"/>
          </a:p>
        </p:txBody>
      </p:sp>
      <p:sp>
        <p:nvSpPr>
          <p:cNvPr id="33" name="Shape 28"/>
          <p:cNvSpPr/>
          <p:nvPr/>
        </p:nvSpPr>
        <p:spPr>
          <a:xfrm>
            <a:off x="9079078" y="4846320"/>
            <a:ext cx="2651760" cy="868680"/>
          </a:xfrm>
          <a:prstGeom prst="roundRect">
            <a:avLst>
              <a:gd name="adj" fmla="val 8421"/>
            </a:avLst>
          </a:prstGeom>
          <a:solidFill>
            <a:srgbClr val="FFFFFF"/>
          </a:solidFill>
          <a:ln w="12700">
            <a:solidFill>
              <a:srgbClr val="CFE0E1"/>
            </a:solidFill>
            <a:prstDash val="solid"/>
          </a:ln>
        </p:spPr>
        <p:txBody>
          <a:bodyPr/>
          <a:lstStyle/>
          <a:p>
            <a:endParaRPr lang="en-US"/>
          </a:p>
        </p:txBody>
      </p:sp>
      <p:sp>
        <p:nvSpPr>
          <p:cNvPr id="34" name="Text 29"/>
          <p:cNvSpPr txBox="1"/>
          <p:nvPr/>
        </p:nvSpPr>
        <p:spPr>
          <a:xfrm>
            <a:off x="9216238" y="4873752"/>
            <a:ext cx="2377440" cy="457200"/>
          </a:xfrm>
          <a:prstGeom prst="rect">
            <a:avLst/>
          </a:prstGeom>
          <a:noFill/>
          <a:ln/>
        </p:spPr>
        <p:txBody>
          <a:bodyPr wrap="square" lIns="0" tIns="0" rIns="0" bIns="0" rtlCol="0" anchor="ctr"/>
          <a:lstStyle/>
          <a:p>
            <a:pPr marL="0" indent="0">
              <a:buNone/>
            </a:pPr>
            <a:r>
              <a:rPr lang="en-US" sz="2400" b="1" dirty="0">
                <a:solidFill>
                  <a:srgbClr val="0F7C80"/>
                </a:solidFill>
                <a:latin typeface="Cambria" pitchFamily="34" charset="0"/>
                <a:ea typeface="Cambria" pitchFamily="34" charset="-122"/>
                <a:cs typeface="Cambria" pitchFamily="34" charset="-120"/>
              </a:rPr>
              <a:t>p = 0.001</a:t>
            </a:r>
            <a:endParaRPr lang="en-US" sz="2400" dirty="0"/>
          </a:p>
        </p:txBody>
      </p:sp>
      <p:sp>
        <p:nvSpPr>
          <p:cNvPr id="35" name="Text 30"/>
          <p:cNvSpPr txBox="1"/>
          <p:nvPr/>
        </p:nvSpPr>
        <p:spPr>
          <a:xfrm>
            <a:off x="9216238" y="5330952"/>
            <a:ext cx="2377440" cy="329184"/>
          </a:xfrm>
          <a:prstGeom prst="rect">
            <a:avLst/>
          </a:prstGeom>
          <a:noFill/>
          <a:ln/>
        </p:spPr>
        <p:txBody>
          <a:bodyPr wrap="square" lIns="0" tIns="0" rIns="0" bIns="0" rtlCol="0" anchor="t"/>
          <a:lstStyle/>
          <a:p>
            <a:pPr marL="0" indent="0">
              <a:buNone/>
            </a:pPr>
            <a:r>
              <a:rPr lang="en-US" sz="1100" dirty="0">
                <a:solidFill>
                  <a:srgbClr val="1F3A4D"/>
                </a:solidFill>
                <a:latin typeface="Calibri" pitchFamily="34" charset="0"/>
                <a:ea typeface="Calibri" pitchFamily="34" charset="-122"/>
                <a:cs typeface="Calibri" pitchFamily="34" charset="-120"/>
              </a:rPr>
              <a:t>Permutation test (999 permutations)</a:t>
            </a:r>
            <a:endParaRPr lang="en-US" sz="1100" dirty="0"/>
          </a:p>
        </p:txBody>
      </p:sp>
      <p:sp>
        <p:nvSpPr>
          <p:cNvPr id="36" name="Shape 31"/>
          <p:cNvSpPr/>
          <p:nvPr/>
        </p:nvSpPr>
        <p:spPr>
          <a:xfrm>
            <a:off x="457200" y="5897880"/>
            <a:ext cx="11274552" cy="731520"/>
          </a:xfrm>
          <a:prstGeom prst="roundRect">
            <a:avLst>
              <a:gd name="adj" fmla="val 10000"/>
            </a:avLst>
          </a:prstGeom>
          <a:solidFill>
            <a:srgbClr val="EEF6F6"/>
          </a:solidFill>
          <a:ln w="12700">
            <a:solidFill>
              <a:srgbClr val="EEF6F6"/>
            </a:solidFill>
            <a:prstDash val="solid"/>
          </a:ln>
        </p:spPr>
        <p:txBody>
          <a:bodyPr/>
          <a:lstStyle/>
          <a:p>
            <a:endParaRPr lang="en-US"/>
          </a:p>
        </p:txBody>
      </p:sp>
      <p:sp>
        <p:nvSpPr>
          <p:cNvPr id="37" name="Text 32"/>
          <p:cNvSpPr txBox="1"/>
          <p:nvPr/>
        </p:nvSpPr>
        <p:spPr>
          <a:xfrm>
            <a:off x="640080" y="5925312"/>
            <a:ext cx="10908792" cy="676656"/>
          </a:xfrm>
          <a:prstGeom prst="rect">
            <a:avLst/>
          </a:prstGeom>
          <a:noFill/>
          <a:ln/>
        </p:spPr>
        <p:txBody>
          <a:bodyPr wrap="square" lIns="0" tIns="0" rIns="0" bIns="0" rtlCol="0" anchor="ctr"/>
          <a:lstStyle/>
          <a:p>
            <a:pPr marL="0" indent="0">
              <a:buNone/>
            </a:pPr>
            <a:r>
              <a:rPr lang="en-US" sz="1250" b="1" dirty="0">
                <a:solidFill>
                  <a:srgbClr val="0F7C80"/>
                </a:solidFill>
                <a:latin typeface="Calibri" pitchFamily="34" charset="0"/>
                <a:ea typeface="Calibri" pitchFamily="34" charset="-122"/>
                <a:cs typeface="Calibri" pitchFamily="34" charset="-120"/>
              </a:rPr>
              <a:t>Conclusion: </a:t>
            </a:r>
            <a:r>
              <a:rPr lang="en-US" sz="1250" dirty="0">
                <a:solidFill>
                  <a:srgbClr val="1F3A4D"/>
                </a:solidFill>
                <a:latin typeface="Calibri" pitchFamily="34" charset="0"/>
                <a:ea typeface="Calibri" pitchFamily="34" charset="-122"/>
                <a:cs typeface="Calibri" pitchFamily="34" charset="-120"/>
              </a:rPr>
              <a:t>ML reveals substrate- and graphene-dependent SSY self-organisation invisible by eye. The main discriminating axis is the substrate (PDMS vs SiO₂/Si); SVM-RBF suits mixed sets, PLS-DA graphene-coated sets.</a:t>
            </a:r>
            <a:endParaRPr lang="en-US" sz="1250" dirty="0"/>
          </a:p>
        </p:txBody>
      </p:sp>
      <p:pic>
        <p:nvPicPr>
          <p:cNvPr id="38" name="Picture 37">
            <a:extLst>
              <a:ext uri="{FF2B5EF4-FFF2-40B4-BE49-F238E27FC236}">
                <a16:creationId xmlns:a16="http://schemas.microsoft.com/office/drawing/2014/main" id="{267AAEFC-9B4C-0989-F21D-A699C55C6601}"/>
              </a:ext>
            </a:extLst>
          </p:cNvPr>
          <p:cNvPicPr>
            <a:picLocks noChangeAspect="1"/>
          </p:cNvPicPr>
          <p:nvPr/>
        </p:nvPicPr>
        <p:blipFill>
          <a:blip r:embed="rId5"/>
          <a:stretch>
            <a:fillRect/>
          </a:stretch>
        </p:blipFill>
        <p:spPr>
          <a:xfrm>
            <a:off x="179492" y="1844325"/>
            <a:ext cx="5741248" cy="2654523"/>
          </a:xfrm>
          <a:prstGeom prst="rect">
            <a:avLst/>
          </a:prstGeom>
        </p:spPr>
      </p:pic>
      <p:pic>
        <p:nvPicPr>
          <p:cNvPr id="24" name="Picture 23">
            <a:extLst>
              <a:ext uri="{FF2B5EF4-FFF2-40B4-BE49-F238E27FC236}">
                <a16:creationId xmlns:a16="http://schemas.microsoft.com/office/drawing/2014/main" id="{D8F411D5-BCAE-4A5C-5F24-02F8E6010202}"/>
              </a:ext>
            </a:extLst>
          </p:cNvPr>
          <p:cNvPicPr>
            <a:picLocks noChangeAspect="1"/>
          </p:cNvPicPr>
          <p:nvPr/>
        </p:nvPicPr>
        <p:blipFill>
          <a:blip r:embed="rId6"/>
          <a:stretch>
            <a:fillRect/>
          </a:stretch>
        </p:blipFill>
        <p:spPr>
          <a:xfrm>
            <a:off x="10775499" y="131308"/>
            <a:ext cx="1357089" cy="9956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Raman animated background" descr="Animated background: Raman spectra and laser scattering">
            <a:extLst>
              <a:ext uri="{C183D7F6-B498-43B3-948B-1728B52AA6E4}">
                <adec:decorative xmlns:adec="http://schemas.microsoft.com/office/drawing/2017/decorative" val="1"/>
              </a:ext>
            </a:extLst>
          </p:cNvPr>
          <p:cNvPicPr>
            <a:picLocks noGrp="1" noChangeAspect="1"/>
          </p:cNvPicPr>
          <p:nvPr userDrawn="1"/>
        </p:nvPicPr>
        <p:blipFill>
          <a:blip r:embed="rIdRamanBg"/>
          <a:stretch>
            <a:fillRect/>
          </a:stretch>
        </p:blipFill>
        <p:spPr>
          <a:xfrm>
            <a:off x="0" y="0"/>
            <a:ext cx="12192000" cy="6858000"/>
          </a:xfrm>
          <a:prstGeom prst="rect">
            <a:avLst/>
          </a:prstGeom>
        </p:spPr>
      </p:pic>
      <p:sp>
        <p:nvSpPr>
          <p:cNvPr id="2" name="Text 0"/>
          <p:cNvSpPr>
            <a:spLocks noGrp="1"/>
          </p:cNvSpPr>
          <p:nvPr>
            <p:ph type="title" idx="100" hasCustomPrompt="1"/>
          </p:nvPr>
        </p:nvSpPr>
        <p:spPr>
          <a:xfrm>
            <a:off x="365760" y="292608"/>
            <a:ext cx="9418320" cy="548640"/>
          </a:xfrm>
          <a:prstGeom prst="rect">
            <a:avLst/>
          </a:prstGeom>
          <a:noFill/>
          <a:ln/>
        </p:spPr>
        <p:txBody>
          <a:bodyPr wrap="square" lIns="0" tIns="0" rIns="0" bIns="0" rtlCol="0" anchor="ctr"/>
          <a:lstStyle/>
          <a:p>
            <a:pPr marL="0" indent="0" algn="l">
              <a:buNone/>
            </a:pPr>
            <a:r>
              <a:rPr lang="en-US" sz="3000" b="1" dirty="0">
                <a:solidFill>
                  <a:schemeClr val="tx2"/>
                </a:solidFill>
              </a:rPr>
              <a:t>Ag/SiNW SERS: Acacia EVs vs Nanovesicles</a:t>
            </a:r>
            <a:endParaRPr lang="en-US" sz="3000" dirty="0"/>
          </a:p>
        </p:txBody>
      </p:sp>
      <p:sp>
        <p:nvSpPr>
          <p:cNvPr id="3" name="Text 1"/>
          <p:cNvSpPr txBox="1"/>
          <p:nvPr/>
        </p:nvSpPr>
        <p:spPr>
          <a:xfrm>
            <a:off x="365760" y="877824"/>
            <a:ext cx="8229600" cy="292608"/>
          </a:xfrm>
          <a:prstGeom prst="rect">
            <a:avLst/>
          </a:prstGeom>
          <a:noFill/>
          <a:ln/>
        </p:spPr>
        <p:txBody>
          <a:bodyPr wrap="square" lIns="0" tIns="0" rIns="0" bIns="0" rtlCol="0" anchor="ctr"/>
          <a:lstStyle/>
          <a:p>
            <a:pPr marL="0" indent="0">
              <a:buNone/>
            </a:pPr>
            <a:r>
              <a:rPr lang="en-US" sz="1500" i="1" dirty="0">
                <a:solidFill>
                  <a:schemeClr val="accent1"/>
                </a:solidFill>
              </a:rPr>
              <a:t>From plant sample to machine-learning classification</a:t>
            </a:r>
            <a:endParaRPr lang="en-US" sz="1500" dirty="0"/>
          </a:p>
        </p:txBody>
      </p:sp>
      <p:sp>
        <p:nvSpPr>
          <p:cNvPr id="6" name="Step 1 card"/>
          <p:cNvSpPr/>
          <p:nvPr/>
        </p:nvSpPr>
        <p:spPr>
          <a:xfrm>
            <a:off x="365760" y="1417320"/>
            <a:ext cx="2697480" cy="2103120"/>
          </a:xfrm>
          <a:prstGeom prst="roundRect">
            <a:avLst>
              <a:gd name="adj" fmla="val 4348"/>
            </a:avLst>
          </a:prstGeom>
          <a:solidFill>
            <a:schemeClr val="bg2"/>
          </a:solidFill>
          <a:ln/>
        </p:spPr>
        <p:txBody>
          <a:bodyPr/>
          <a:lstStyle/>
          <a:p>
            <a:endParaRPr lang="en-US"/>
          </a:p>
        </p:txBody>
      </p:sp>
      <p:sp>
        <p:nvSpPr>
          <p:cNvPr id="7" name="Step 1 badge"/>
          <p:cNvSpPr/>
          <p:nvPr/>
        </p:nvSpPr>
        <p:spPr>
          <a:xfrm>
            <a:off x="502920" y="1545336"/>
            <a:ext cx="347472" cy="347472"/>
          </a:xfrm>
          <a:prstGeom prst="ellipse">
            <a:avLst/>
          </a:prstGeom>
          <a:solidFill>
            <a:schemeClr val="accent1"/>
          </a:solidFill>
          <a:ln/>
        </p:spPr>
        <p:txBody>
          <a:bodyPr/>
          <a:lstStyle/>
          <a:p>
            <a:endParaRPr lang="en-US"/>
          </a:p>
        </p:txBody>
      </p:sp>
      <p:sp>
        <p:nvSpPr>
          <p:cNvPr id="8" name="Text 6"/>
          <p:cNvSpPr txBox="1"/>
          <p:nvPr/>
        </p:nvSpPr>
        <p:spPr>
          <a:xfrm>
            <a:off x="502920" y="1545336"/>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7"/>
          <p:cNvSpPr txBox="1"/>
          <p:nvPr/>
        </p:nvSpPr>
        <p:spPr>
          <a:xfrm>
            <a:off x="960120" y="1545336"/>
            <a:ext cx="2011680" cy="347472"/>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Sample</a:t>
            </a:r>
            <a:endParaRPr lang="en-US" sz="1600" dirty="0"/>
          </a:p>
        </p:txBody>
      </p:sp>
      <p:sp>
        <p:nvSpPr>
          <p:cNvPr id="10" name="Flow arrow 1"/>
          <p:cNvSpPr/>
          <p:nvPr/>
        </p:nvSpPr>
        <p:spPr>
          <a:xfrm>
            <a:off x="3108960" y="2331720"/>
            <a:ext cx="137160" cy="274320"/>
          </a:xfrm>
          <a:prstGeom prst="chevron">
            <a:avLst/>
          </a:prstGeom>
          <a:solidFill>
            <a:schemeClr val="accent1"/>
          </a:solidFill>
          <a:ln/>
        </p:spPr>
        <p:txBody>
          <a:bodyPr/>
          <a:lstStyle/>
          <a:p>
            <a:endParaRPr lang="en-US"/>
          </a:p>
        </p:txBody>
      </p:sp>
      <p:sp>
        <p:nvSpPr>
          <p:cNvPr id="11" name="Step 2 card"/>
          <p:cNvSpPr/>
          <p:nvPr/>
        </p:nvSpPr>
        <p:spPr>
          <a:xfrm>
            <a:off x="3291840" y="1417320"/>
            <a:ext cx="2697480" cy="2103120"/>
          </a:xfrm>
          <a:prstGeom prst="roundRect">
            <a:avLst>
              <a:gd name="adj" fmla="val 4348"/>
            </a:avLst>
          </a:prstGeom>
          <a:solidFill>
            <a:schemeClr val="bg2"/>
          </a:solidFill>
          <a:ln/>
        </p:spPr>
        <p:txBody>
          <a:bodyPr/>
          <a:lstStyle/>
          <a:p>
            <a:endParaRPr lang="en-US"/>
          </a:p>
        </p:txBody>
      </p:sp>
      <p:sp>
        <p:nvSpPr>
          <p:cNvPr id="12" name="Step 2 badge"/>
          <p:cNvSpPr/>
          <p:nvPr/>
        </p:nvSpPr>
        <p:spPr>
          <a:xfrm>
            <a:off x="3429000" y="1545336"/>
            <a:ext cx="347472" cy="347472"/>
          </a:xfrm>
          <a:prstGeom prst="ellipse">
            <a:avLst/>
          </a:prstGeom>
          <a:solidFill>
            <a:schemeClr val="accent1"/>
          </a:solidFill>
          <a:ln/>
        </p:spPr>
        <p:txBody>
          <a:bodyPr/>
          <a:lstStyle/>
          <a:p>
            <a:endParaRPr lang="en-US"/>
          </a:p>
        </p:txBody>
      </p:sp>
      <p:sp>
        <p:nvSpPr>
          <p:cNvPr id="13" name="Text 11"/>
          <p:cNvSpPr txBox="1"/>
          <p:nvPr/>
        </p:nvSpPr>
        <p:spPr>
          <a:xfrm>
            <a:off x="3429000" y="1545336"/>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3886200" y="1545336"/>
            <a:ext cx="2011680" cy="347472"/>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Raman mapping</a:t>
            </a:r>
            <a:endParaRPr lang="en-US" sz="1600" dirty="0"/>
          </a:p>
        </p:txBody>
      </p:sp>
      <p:sp>
        <p:nvSpPr>
          <p:cNvPr id="15" name="Flow arrow 2"/>
          <p:cNvSpPr/>
          <p:nvPr/>
        </p:nvSpPr>
        <p:spPr>
          <a:xfrm>
            <a:off x="6035040" y="2331720"/>
            <a:ext cx="137160" cy="274320"/>
          </a:xfrm>
          <a:prstGeom prst="chevron">
            <a:avLst/>
          </a:prstGeom>
          <a:solidFill>
            <a:schemeClr val="accent1"/>
          </a:solidFill>
          <a:ln/>
        </p:spPr>
        <p:txBody>
          <a:bodyPr/>
          <a:lstStyle/>
          <a:p>
            <a:endParaRPr lang="en-US"/>
          </a:p>
        </p:txBody>
      </p:sp>
      <p:sp>
        <p:nvSpPr>
          <p:cNvPr id="16" name="Step 3 card"/>
          <p:cNvSpPr/>
          <p:nvPr/>
        </p:nvSpPr>
        <p:spPr>
          <a:xfrm>
            <a:off x="6217920" y="1417320"/>
            <a:ext cx="2697480" cy="2103120"/>
          </a:xfrm>
          <a:prstGeom prst="roundRect">
            <a:avLst>
              <a:gd name="adj" fmla="val 4348"/>
            </a:avLst>
          </a:prstGeom>
          <a:solidFill>
            <a:schemeClr val="bg2"/>
          </a:solidFill>
          <a:ln/>
        </p:spPr>
        <p:txBody>
          <a:bodyPr/>
          <a:lstStyle/>
          <a:p>
            <a:endParaRPr lang="en-US"/>
          </a:p>
        </p:txBody>
      </p:sp>
      <p:sp>
        <p:nvSpPr>
          <p:cNvPr id="17" name="Step 3 badge"/>
          <p:cNvSpPr/>
          <p:nvPr/>
        </p:nvSpPr>
        <p:spPr>
          <a:xfrm>
            <a:off x="6355080" y="1545336"/>
            <a:ext cx="347472" cy="347472"/>
          </a:xfrm>
          <a:prstGeom prst="ellipse">
            <a:avLst/>
          </a:prstGeom>
          <a:solidFill>
            <a:schemeClr val="accent1"/>
          </a:solidFill>
          <a:ln/>
        </p:spPr>
        <p:txBody>
          <a:bodyPr/>
          <a:lstStyle/>
          <a:p>
            <a:endParaRPr lang="en-US"/>
          </a:p>
        </p:txBody>
      </p:sp>
      <p:sp>
        <p:nvSpPr>
          <p:cNvPr id="18" name="Text 16"/>
          <p:cNvSpPr txBox="1"/>
          <p:nvPr/>
        </p:nvSpPr>
        <p:spPr>
          <a:xfrm>
            <a:off x="6355080" y="1545336"/>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9" name="Text 17"/>
          <p:cNvSpPr txBox="1"/>
          <p:nvPr/>
        </p:nvSpPr>
        <p:spPr>
          <a:xfrm>
            <a:off x="6812280" y="1545336"/>
            <a:ext cx="2011680" cy="347472"/>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Preprocessing</a:t>
            </a:r>
            <a:endParaRPr lang="en-US" sz="1600" dirty="0"/>
          </a:p>
        </p:txBody>
      </p:sp>
      <p:sp>
        <p:nvSpPr>
          <p:cNvPr id="20" name="Flow arrow 3"/>
          <p:cNvSpPr/>
          <p:nvPr/>
        </p:nvSpPr>
        <p:spPr>
          <a:xfrm>
            <a:off x="8961120" y="2331720"/>
            <a:ext cx="137160" cy="274320"/>
          </a:xfrm>
          <a:prstGeom prst="chevron">
            <a:avLst/>
          </a:prstGeom>
          <a:solidFill>
            <a:schemeClr val="accent1"/>
          </a:solidFill>
          <a:ln/>
        </p:spPr>
        <p:txBody>
          <a:bodyPr/>
          <a:lstStyle/>
          <a:p>
            <a:endParaRPr lang="en-US"/>
          </a:p>
        </p:txBody>
      </p:sp>
      <p:sp>
        <p:nvSpPr>
          <p:cNvPr id="21" name="Step 4 card"/>
          <p:cNvSpPr/>
          <p:nvPr/>
        </p:nvSpPr>
        <p:spPr>
          <a:xfrm>
            <a:off x="9144000" y="1417320"/>
            <a:ext cx="2697480" cy="2103120"/>
          </a:xfrm>
          <a:prstGeom prst="roundRect">
            <a:avLst>
              <a:gd name="adj" fmla="val 4348"/>
            </a:avLst>
          </a:prstGeom>
          <a:solidFill>
            <a:schemeClr val="bg2"/>
          </a:solidFill>
          <a:ln/>
        </p:spPr>
        <p:txBody>
          <a:bodyPr/>
          <a:lstStyle/>
          <a:p>
            <a:endParaRPr lang="en-US"/>
          </a:p>
        </p:txBody>
      </p:sp>
      <p:sp>
        <p:nvSpPr>
          <p:cNvPr id="22" name="Step 4 badge"/>
          <p:cNvSpPr/>
          <p:nvPr/>
        </p:nvSpPr>
        <p:spPr>
          <a:xfrm>
            <a:off x="9281160" y="1545336"/>
            <a:ext cx="347472" cy="347472"/>
          </a:xfrm>
          <a:prstGeom prst="ellipse">
            <a:avLst/>
          </a:prstGeom>
          <a:solidFill>
            <a:schemeClr val="accent1"/>
          </a:solidFill>
          <a:ln/>
        </p:spPr>
        <p:txBody>
          <a:bodyPr/>
          <a:lstStyle/>
          <a:p>
            <a:endParaRPr lang="en-US"/>
          </a:p>
        </p:txBody>
      </p:sp>
      <p:sp>
        <p:nvSpPr>
          <p:cNvPr id="23" name="Text 21"/>
          <p:cNvSpPr txBox="1"/>
          <p:nvPr/>
        </p:nvSpPr>
        <p:spPr>
          <a:xfrm>
            <a:off x="9281160" y="1545336"/>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4" name="Text 22"/>
          <p:cNvSpPr txBox="1"/>
          <p:nvPr/>
        </p:nvSpPr>
        <p:spPr>
          <a:xfrm>
            <a:off x="9738360" y="1545336"/>
            <a:ext cx="2011680" cy="347472"/>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Machine learning</a:t>
            </a:r>
            <a:endParaRPr lang="en-US" sz="1600" dirty="0"/>
          </a:p>
        </p:txBody>
      </p:sp>
      <p:pic>
        <p:nvPicPr>
          <p:cNvPr id="25" name="Acacia plant" descr="p_acacia.png"/>
          <p:cNvPicPr>
            <a:picLocks noChangeAspect="1"/>
          </p:cNvPicPr>
          <p:nvPr/>
        </p:nvPicPr>
        <p:blipFill>
          <a:blip r:embed="rId3"/>
          <a:stretch>
            <a:fillRect/>
          </a:stretch>
        </p:blipFill>
        <p:spPr>
          <a:xfrm>
            <a:off x="502920" y="2103120"/>
            <a:ext cx="987552" cy="731520"/>
          </a:xfrm>
          <a:prstGeom prst="rect">
            <a:avLst/>
          </a:prstGeom>
        </p:spPr>
      </p:pic>
      <p:sp>
        <p:nvSpPr>
          <p:cNvPr id="26" name="Sample arrow"/>
          <p:cNvSpPr/>
          <p:nvPr/>
        </p:nvSpPr>
        <p:spPr>
          <a:xfrm>
            <a:off x="1536192" y="2377440"/>
            <a:ext cx="182880" cy="182880"/>
          </a:xfrm>
          <a:prstGeom prst="rightArrow">
            <a:avLst/>
          </a:prstGeom>
          <a:solidFill>
            <a:schemeClr val="accent5"/>
          </a:solidFill>
          <a:ln/>
        </p:spPr>
        <p:txBody>
          <a:bodyPr/>
          <a:lstStyle/>
          <a:p>
            <a:endParaRPr lang="en-US"/>
          </a:p>
        </p:txBody>
      </p:sp>
      <p:pic>
        <p:nvPicPr>
          <p:cNvPr id="27" name="Ag/SiNW substrate" descr="p_sub.png"/>
          <p:cNvPicPr>
            <a:picLocks noChangeAspect="1"/>
          </p:cNvPicPr>
          <p:nvPr/>
        </p:nvPicPr>
        <p:blipFill>
          <a:blip r:embed="rId4"/>
          <a:stretch>
            <a:fillRect/>
          </a:stretch>
        </p:blipFill>
        <p:spPr>
          <a:xfrm>
            <a:off x="1764792" y="2029968"/>
            <a:ext cx="1207008" cy="758691"/>
          </a:xfrm>
          <a:prstGeom prst="rect">
            <a:avLst/>
          </a:prstGeom>
        </p:spPr>
      </p:pic>
      <p:sp>
        <p:nvSpPr>
          <p:cNvPr id="28" name="Text 24"/>
          <p:cNvSpPr txBox="1"/>
          <p:nvPr/>
        </p:nvSpPr>
        <p:spPr>
          <a:xfrm>
            <a:off x="502920" y="2880360"/>
            <a:ext cx="2423160" cy="548640"/>
          </a:xfrm>
          <a:prstGeom prst="rect">
            <a:avLst/>
          </a:prstGeom>
          <a:noFill/>
          <a:ln/>
        </p:spPr>
        <p:txBody>
          <a:bodyPr wrap="square" lIns="0" tIns="0" rIns="0" bIns="0" rtlCol="0" anchor="t"/>
          <a:lstStyle/>
          <a:p>
            <a:pPr marL="0" indent="0">
              <a:buNone/>
            </a:pPr>
            <a:r>
              <a:rPr lang="en-US" sz="1150" dirty="0">
                <a:solidFill>
                  <a:schemeClr val="tx1"/>
                </a:solidFill>
              </a:rPr>
              <a:t>Acacia vesicles dropped on the Ag/SiNW SERS substrate</a:t>
            </a:r>
            <a:endParaRPr lang="en-US" sz="1150" dirty="0"/>
          </a:p>
        </p:txBody>
      </p:sp>
      <p:pic>
        <p:nvPicPr>
          <p:cNvPr id="29" name="EV micrograph" descr="p_ev.png"/>
          <p:cNvPicPr>
            <a:picLocks noChangeAspect="1"/>
          </p:cNvPicPr>
          <p:nvPr/>
        </p:nvPicPr>
        <p:blipFill>
          <a:blip r:embed="rId5"/>
          <a:stretch>
            <a:fillRect/>
          </a:stretch>
        </p:blipFill>
        <p:spPr>
          <a:xfrm>
            <a:off x="3429000" y="2011680"/>
            <a:ext cx="1143000" cy="929577"/>
          </a:xfrm>
          <a:prstGeom prst="rect">
            <a:avLst/>
          </a:prstGeom>
        </p:spPr>
      </p:pic>
      <p:pic>
        <p:nvPicPr>
          <p:cNvPr id="30" name="NV micrograph" descr="p_nv.png"/>
          <p:cNvPicPr>
            <a:picLocks noChangeAspect="1"/>
          </p:cNvPicPr>
          <p:nvPr/>
        </p:nvPicPr>
        <p:blipFill>
          <a:blip r:embed="rId6"/>
          <a:stretch>
            <a:fillRect/>
          </a:stretch>
        </p:blipFill>
        <p:spPr>
          <a:xfrm>
            <a:off x="4709160" y="2011680"/>
            <a:ext cx="1143000" cy="922421"/>
          </a:xfrm>
          <a:prstGeom prst="rect">
            <a:avLst/>
          </a:prstGeom>
        </p:spPr>
      </p:pic>
      <p:sp>
        <p:nvSpPr>
          <p:cNvPr id="31" name="Text 25"/>
          <p:cNvSpPr txBox="1"/>
          <p:nvPr/>
        </p:nvSpPr>
        <p:spPr>
          <a:xfrm>
            <a:off x="3429000" y="2971800"/>
            <a:ext cx="1143000" cy="228600"/>
          </a:xfrm>
          <a:prstGeom prst="rect">
            <a:avLst/>
          </a:prstGeom>
          <a:noFill/>
          <a:ln/>
        </p:spPr>
        <p:txBody>
          <a:bodyPr wrap="square" lIns="0" tIns="0" rIns="0" bIns="0" rtlCol="0" anchor="ctr"/>
          <a:lstStyle/>
          <a:p>
            <a:pPr marL="0" indent="0" algn="ctr">
              <a:buNone/>
            </a:pPr>
            <a:r>
              <a:rPr lang="en-US" sz="1150" b="1" dirty="0">
                <a:solidFill>
                  <a:schemeClr val="tx2"/>
                </a:solidFill>
              </a:rPr>
              <a:t>EV Acacia</a:t>
            </a:r>
            <a:endParaRPr lang="en-US" sz="1150" dirty="0"/>
          </a:p>
        </p:txBody>
      </p:sp>
      <p:sp>
        <p:nvSpPr>
          <p:cNvPr id="32" name="Text 26"/>
          <p:cNvSpPr txBox="1"/>
          <p:nvPr/>
        </p:nvSpPr>
        <p:spPr>
          <a:xfrm>
            <a:off x="4709160" y="2971800"/>
            <a:ext cx="1143000" cy="228600"/>
          </a:xfrm>
          <a:prstGeom prst="rect">
            <a:avLst/>
          </a:prstGeom>
          <a:noFill/>
          <a:ln/>
        </p:spPr>
        <p:txBody>
          <a:bodyPr wrap="square" lIns="0" tIns="0" rIns="0" bIns="0" rtlCol="0" anchor="ctr"/>
          <a:lstStyle/>
          <a:p>
            <a:pPr marL="0" indent="0" algn="ctr">
              <a:buNone/>
            </a:pPr>
            <a:r>
              <a:rPr lang="en-US" sz="1150" b="1" dirty="0">
                <a:solidFill>
                  <a:schemeClr val="tx2"/>
                </a:solidFill>
              </a:rPr>
              <a:t>NV Acacia</a:t>
            </a:r>
            <a:endParaRPr lang="en-US" sz="1150" dirty="0"/>
          </a:p>
        </p:txBody>
      </p:sp>
      <p:sp>
        <p:nvSpPr>
          <p:cNvPr id="33" name="Text 27"/>
          <p:cNvSpPr txBox="1"/>
          <p:nvPr/>
        </p:nvSpPr>
        <p:spPr>
          <a:xfrm>
            <a:off x="3429000" y="3200400"/>
            <a:ext cx="2423160" cy="228600"/>
          </a:xfrm>
          <a:prstGeom prst="rect">
            <a:avLst/>
          </a:prstGeom>
          <a:noFill/>
          <a:ln/>
        </p:spPr>
        <p:txBody>
          <a:bodyPr wrap="square" lIns="0" tIns="0" rIns="0" bIns="0" rtlCol="0" anchor="ctr"/>
          <a:lstStyle/>
          <a:p>
            <a:pPr marL="0" indent="0" algn="ctr">
              <a:buNone/>
            </a:pPr>
            <a:r>
              <a:rPr lang="en-US" sz="1100" i="1" dirty="0">
                <a:solidFill>
                  <a:schemeClr val="accent5"/>
                </a:solidFill>
              </a:rPr>
              <a:t>100× optical images of mapped areas</a:t>
            </a:r>
            <a:endParaRPr lang="en-US" sz="1100" dirty="0"/>
          </a:p>
        </p:txBody>
      </p:sp>
      <p:sp>
        <p:nvSpPr>
          <p:cNvPr id="34" name="Text 28"/>
          <p:cNvSpPr txBox="1"/>
          <p:nvPr/>
        </p:nvSpPr>
        <p:spPr>
          <a:xfrm>
            <a:off x="6400800" y="2011680"/>
            <a:ext cx="2377440" cy="1417320"/>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chemeClr val="tx1"/>
                </a:solidFill>
              </a:rPr>
              <a:t>Python pipeline</a:t>
            </a:r>
            <a:endParaRPr lang="en-US" sz="1250" dirty="0"/>
          </a:p>
          <a:p>
            <a:pPr marL="152400" indent="-152400">
              <a:spcAft>
                <a:spcPts val="500"/>
              </a:spcAft>
              <a:buSzPct val="100000"/>
              <a:buChar char="•"/>
            </a:pPr>
            <a:r>
              <a:rPr lang="en-US" sz="1250" dirty="0">
                <a:solidFill>
                  <a:schemeClr val="tx1"/>
                </a:solidFill>
              </a:rPr>
              <a:t>Crop the informative spectral region</a:t>
            </a:r>
            <a:endParaRPr lang="en-US" sz="1250" dirty="0"/>
          </a:p>
          <a:p>
            <a:pPr marL="152400" indent="-152400">
              <a:spcAft>
                <a:spcPts val="500"/>
              </a:spcAft>
              <a:buSzPct val="100000"/>
              <a:buChar char="•"/>
            </a:pPr>
            <a:r>
              <a:rPr lang="en-US" sz="1250" dirty="0">
                <a:solidFill>
                  <a:schemeClr val="tx1"/>
                </a:solidFill>
              </a:rPr>
              <a:t>Smoothing</a:t>
            </a:r>
            <a:endParaRPr lang="en-US" sz="1250" dirty="0"/>
          </a:p>
          <a:p>
            <a:pPr marL="152400" indent="-152400">
              <a:spcAft>
                <a:spcPts val="500"/>
              </a:spcAft>
              <a:buSzPct val="100000"/>
              <a:buChar char="•"/>
            </a:pPr>
            <a:r>
              <a:rPr lang="en-US" sz="1250" dirty="0">
                <a:solidFill>
                  <a:schemeClr val="tx1"/>
                </a:solidFill>
              </a:rPr>
              <a:t>SNV normalisation</a:t>
            </a:r>
            <a:endParaRPr lang="en-US" sz="1250" dirty="0"/>
          </a:p>
        </p:txBody>
      </p:sp>
      <p:sp>
        <p:nvSpPr>
          <p:cNvPr id="35" name="Text 29"/>
          <p:cNvSpPr txBox="1"/>
          <p:nvPr/>
        </p:nvSpPr>
        <p:spPr>
          <a:xfrm>
            <a:off x="9326880" y="2011680"/>
            <a:ext cx="2377440" cy="1417320"/>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chemeClr val="tx1"/>
                </a:solidFill>
              </a:rPr>
              <a:t>PCA for dimensionality reduction</a:t>
            </a:r>
            <a:endParaRPr lang="en-US" sz="1250" dirty="0"/>
          </a:p>
          <a:p>
            <a:pPr marL="152400" indent="-152400">
              <a:spcAft>
                <a:spcPts val="500"/>
              </a:spcAft>
              <a:buSzPct val="100000"/>
              <a:buChar char="•"/>
            </a:pPr>
            <a:r>
              <a:rPr lang="en-US" sz="1250" dirty="0">
                <a:solidFill>
                  <a:schemeClr val="tx1"/>
                </a:solidFill>
              </a:rPr>
              <a:t>PCA-LDA classification</a:t>
            </a:r>
            <a:endParaRPr lang="en-US" sz="1250" dirty="0"/>
          </a:p>
          <a:p>
            <a:pPr marL="152400" indent="-152400">
              <a:spcAft>
                <a:spcPts val="500"/>
              </a:spcAft>
              <a:buSzPct val="100000"/>
              <a:buChar char="•"/>
            </a:pPr>
            <a:r>
              <a:rPr lang="en-US" sz="1250" dirty="0">
                <a:solidFill>
                  <a:schemeClr val="tx1"/>
                </a:solidFill>
              </a:rPr>
              <a:t>Cross-checked with PLS-DA</a:t>
            </a:r>
            <a:endParaRPr lang="en-US" sz="1250" dirty="0"/>
          </a:p>
          <a:p>
            <a:pPr marL="152400" indent="-152400">
              <a:spcAft>
                <a:spcPts val="500"/>
              </a:spcAft>
              <a:buSzPct val="100000"/>
              <a:buChar char="•"/>
            </a:pPr>
            <a:r>
              <a:rPr lang="en-US" sz="1250" dirty="0">
                <a:solidFill>
                  <a:schemeClr val="tx1"/>
                </a:solidFill>
              </a:rPr>
              <a:t>Site-grouped 5-fold cross-validation</a:t>
            </a:r>
            <a:endParaRPr lang="en-US" sz="1250" dirty="0"/>
          </a:p>
        </p:txBody>
      </p:sp>
      <p:sp>
        <p:nvSpPr>
          <p:cNvPr id="36" name="Text 30"/>
          <p:cNvSpPr txBox="1"/>
          <p:nvPr/>
        </p:nvSpPr>
        <p:spPr>
          <a:xfrm>
            <a:off x="365760" y="3794760"/>
            <a:ext cx="5120640" cy="274320"/>
          </a:xfrm>
          <a:prstGeom prst="rect">
            <a:avLst/>
          </a:prstGeom>
          <a:noFill/>
          <a:ln/>
        </p:spPr>
        <p:txBody>
          <a:bodyPr wrap="square" lIns="0" tIns="0" rIns="0" bIns="0" rtlCol="0" anchor="ctr"/>
          <a:lstStyle/>
          <a:p>
            <a:pPr marL="0" indent="0">
              <a:buNone/>
            </a:pPr>
            <a:r>
              <a:rPr lang="en-US" sz="1300" b="1" dirty="0">
                <a:solidFill>
                  <a:schemeClr val="tx2"/>
                </a:solidFill>
              </a:rPr>
              <a:t>Mean ± SD spectra · fingerprint region (250–1790 cm⁻¹)</a:t>
            </a:r>
            <a:endParaRPr lang="en-US" sz="1300" dirty="0"/>
          </a:p>
        </p:txBody>
      </p:sp>
      <p:sp>
        <p:nvSpPr>
          <p:cNvPr id="37" name="Text 31"/>
          <p:cNvSpPr txBox="1"/>
          <p:nvPr/>
        </p:nvSpPr>
        <p:spPr>
          <a:xfrm rot="16200000">
            <a:off x="-777240" y="5074920"/>
            <a:ext cx="1920240" cy="228600"/>
          </a:xfrm>
          <a:prstGeom prst="rect">
            <a:avLst/>
          </a:prstGeom>
          <a:noFill/>
          <a:ln/>
        </p:spPr>
        <p:txBody>
          <a:bodyPr wrap="square" lIns="0" tIns="0" rIns="0" bIns="0" rtlCol="0" anchor="ctr"/>
          <a:lstStyle/>
          <a:p>
            <a:pPr marL="0" indent="0" algn="ctr">
              <a:buNone/>
            </a:pPr>
            <a:r>
              <a:rPr lang="en-US" sz="1050" dirty="0">
                <a:solidFill>
                  <a:schemeClr val="tx1"/>
                </a:solidFill>
              </a:rPr>
              <a:t>SNV intensity (a.u.)</a:t>
            </a:r>
            <a:endParaRPr lang="en-US" sz="1050" dirty="0"/>
          </a:p>
        </p:txBody>
      </p:sp>
      <p:pic>
        <p:nvPicPr>
          <p:cNvPr id="38" name="Mean spectra" descr="p_specs.png"/>
          <p:cNvPicPr>
            <a:picLocks noChangeAspect="1"/>
          </p:cNvPicPr>
          <p:nvPr/>
        </p:nvPicPr>
        <p:blipFill>
          <a:blip r:embed="rId7"/>
          <a:stretch>
            <a:fillRect/>
          </a:stretch>
        </p:blipFill>
        <p:spPr>
          <a:xfrm>
            <a:off x="457200" y="4160520"/>
            <a:ext cx="4340454" cy="2423160"/>
          </a:xfrm>
          <a:prstGeom prst="rect">
            <a:avLst/>
          </a:prstGeom>
        </p:spPr>
      </p:pic>
      <p:sp>
        <p:nvSpPr>
          <p:cNvPr id="39" name="Text 32"/>
          <p:cNvSpPr txBox="1"/>
          <p:nvPr/>
        </p:nvSpPr>
        <p:spPr>
          <a:xfrm>
            <a:off x="5029200" y="3794760"/>
            <a:ext cx="3840480" cy="274320"/>
          </a:xfrm>
          <a:prstGeom prst="rect">
            <a:avLst/>
          </a:prstGeom>
          <a:noFill/>
          <a:ln/>
        </p:spPr>
        <p:txBody>
          <a:bodyPr wrap="square" lIns="0" tIns="0" rIns="0" bIns="0" rtlCol="0" anchor="ctr"/>
          <a:lstStyle/>
          <a:p>
            <a:pPr marL="0" indent="0">
              <a:buNone/>
            </a:pPr>
            <a:r>
              <a:rPr lang="en-US" sz="1300" b="1" dirty="0">
                <a:solidFill>
                  <a:schemeClr val="tx2"/>
                </a:solidFill>
              </a:rPr>
              <a:t>PCA scores · C–H stretch region (2760–3095 cm⁻¹)</a:t>
            </a:r>
            <a:endParaRPr lang="en-US" sz="1300" dirty="0"/>
          </a:p>
        </p:txBody>
      </p:sp>
      <p:pic>
        <p:nvPicPr>
          <p:cNvPr id="40" name="PCA scores" descr="p_pca.png"/>
          <p:cNvPicPr>
            <a:picLocks noChangeAspect="1"/>
          </p:cNvPicPr>
          <p:nvPr/>
        </p:nvPicPr>
        <p:blipFill>
          <a:blip r:embed="rId8"/>
          <a:stretch>
            <a:fillRect/>
          </a:stretch>
        </p:blipFill>
        <p:spPr>
          <a:xfrm>
            <a:off x="5074920" y="4160520"/>
            <a:ext cx="3012924" cy="2423160"/>
          </a:xfrm>
          <a:prstGeom prst="rect">
            <a:avLst/>
          </a:prstGeom>
        </p:spPr>
      </p:pic>
      <p:sp>
        <p:nvSpPr>
          <p:cNvPr id="41" name="Key findings"/>
          <p:cNvSpPr/>
          <p:nvPr/>
        </p:nvSpPr>
        <p:spPr>
          <a:xfrm>
            <a:off x="8823960" y="3794760"/>
            <a:ext cx="3017520" cy="2788920"/>
          </a:xfrm>
          <a:prstGeom prst="roundRect">
            <a:avLst>
              <a:gd name="adj" fmla="val 3279"/>
            </a:avLst>
          </a:prstGeom>
          <a:solidFill>
            <a:schemeClr val="accent1"/>
          </a:solidFill>
          <a:ln/>
        </p:spPr>
        <p:txBody>
          <a:bodyPr/>
          <a:lstStyle/>
          <a:p>
            <a:endParaRPr lang="en-US"/>
          </a:p>
        </p:txBody>
      </p:sp>
      <p:sp>
        <p:nvSpPr>
          <p:cNvPr id="42" name="Text 34"/>
          <p:cNvSpPr txBox="1"/>
          <p:nvPr/>
        </p:nvSpPr>
        <p:spPr>
          <a:xfrm>
            <a:off x="9006840" y="3931920"/>
            <a:ext cx="2651760" cy="320040"/>
          </a:xfrm>
          <a:prstGeom prst="rect">
            <a:avLst/>
          </a:prstGeom>
          <a:noFill/>
          <a:ln/>
        </p:spPr>
        <p:txBody>
          <a:bodyPr wrap="square" lIns="0" tIns="0" rIns="0" bIns="0" rtlCol="0" anchor="ctr"/>
          <a:lstStyle/>
          <a:p>
            <a:pPr marL="0" indent="0">
              <a:buNone/>
            </a:pPr>
            <a:r>
              <a:rPr lang="en-US" sz="1600" b="1" dirty="0">
                <a:solidFill>
                  <a:schemeClr val="bg1"/>
                </a:solidFill>
                <a:latin typeface="Cambria" pitchFamily="34" charset="0"/>
                <a:ea typeface="Cambria" pitchFamily="34" charset="-122"/>
                <a:cs typeface="Cambria" pitchFamily="34" charset="-120"/>
              </a:rPr>
              <a:t>Key findings</a:t>
            </a:r>
            <a:endParaRPr lang="en-US" sz="1600" dirty="0"/>
          </a:p>
        </p:txBody>
      </p:sp>
      <p:sp>
        <p:nvSpPr>
          <p:cNvPr id="43" name="Text 35"/>
          <p:cNvSpPr txBox="1"/>
          <p:nvPr/>
        </p:nvSpPr>
        <p:spPr>
          <a:xfrm>
            <a:off x="9006840" y="4343400"/>
            <a:ext cx="2697480" cy="210312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chemeClr val="bg1"/>
                </a:solidFill>
              </a:rPr>
              <a:t>EV and NV Acacia form two distinct clusters in PCA</a:t>
            </a:r>
            <a:endParaRPr lang="en-US" sz="1300" dirty="0"/>
          </a:p>
          <a:p>
            <a:pPr marL="152400" indent="-152400">
              <a:spcAft>
                <a:spcPts val="800"/>
              </a:spcAft>
              <a:buSzPct val="100000"/>
              <a:buChar char="•"/>
            </a:pPr>
            <a:r>
              <a:rPr lang="en-US" sz="1300" dirty="0">
                <a:solidFill>
                  <a:schemeClr val="bg1"/>
                </a:solidFill>
              </a:rPr>
              <a:t>Main spectral differences in the ~1380 and ~1600 cm⁻¹ bands</a:t>
            </a:r>
            <a:endParaRPr lang="en-US" sz="1300" dirty="0"/>
          </a:p>
          <a:p>
            <a:pPr marL="152400" indent="-152400">
              <a:buSzPct val="100000"/>
              <a:buChar char="•"/>
            </a:pPr>
            <a:r>
              <a:rPr lang="en-US" sz="1300" dirty="0">
                <a:solidFill>
                  <a:schemeClr val="bg1"/>
                </a:solidFill>
              </a:rPr>
              <a:t>SERS + ML separates vesicle types without labels</a:t>
            </a:r>
            <a:endParaRPr lang="en-US" sz="1300" dirty="0"/>
          </a:p>
        </p:txBody>
      </p:sp>
      <p:pic>
        <p:nvPicPr>
          <p:cNvPr id="44" name="Picture 2" descr="473 Unpublished Royalty-Free Images, Stock Photos &amp; Pictures | Shutterstock">
            <a:extLst>
              <a:ext uri="{FF2B5EF4-FFF2-40B4-BE49-F238E27FC236}">
                <a16:creationId xmlns:a16="http://schemas.microsoft.com/office/drawing/2014/main" id="{62DF81E9-AF68-184D-184C-89CB62DFFEC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6840" y="323520"/>
            <a:ext cx="1440248" cy="6091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Raman animated background" descr="Animated background: Raman spectra and laser scattering">
            <a:extLst>
              <a:ext uri="{C183D7F6-B498-43B3-948B-1728B52AA6E4}">
                <adec:decorative xmlns:adec="http://schemas.microsoft.com/office/drawing/2017/decorative" val="1"/>
              </a:ext>
            </a:extLst>
          </p:cNvPr>
          <p:cNvPicPr>
            <a:picLocks noGrp="1" noChangeAspect="1"/>
          </p:cNvPicPr>
          <p:nvPr userDrawn="1"/>
        </p:nvPicPr>
        <p:blipFill>
          <a:blip r:embed="rIdRamanBg"/>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9E0171-661B-D4C0-732E-2AD5B2CFCD18}"/>
              </a:ext>
            </a:extLst>
          </p:cNvPr>
          <p:cNvSpPr>
            <a:spLocks noGrp="1"/>
          </p:cNvSpPr>
          <p:nvPr>
            <p:ph type="title"/>
          </p:nvPr>
        </p:nvSpPr>
        <p:spPr>
          <a:xfrm>
            <a:off x="3952535" y="-131186"/>
            <a:ext cx="6262396" cy="670573"/>
          </a:xfrm>
        </p:spPr>
        <p:txBody>
          <a:bodyPr>
            <a:normAutofit fontScale="90000"/>
          </a:bodyPr>
          <a:lstStyle/>
          <a:p>
            <a:r>
              <a:rPr lang="it-IT" sz="3100" dirty="0"/>
              <a:t>Ag/</a:t>
            </a:r>
            <a:r>
              <a:rPr lang="it-IT" sz="3100" dirty="0" err="1"/>
              <a:t>SiNW</a:t>
            </a:r>
            <a:r>
              <a:rPr lang="it-IT" sz="3100" dirty="0"/>
              <a:t> SERS </a:t>
            </a:r>
            <a:r>
              <a:rPr lang="it-IT" sz="3100" dirty="0" err="1"/>
              <a:t>Substrate</a:t>
            </a:r>
            <a:r>
              <a:rPr lang="it-IT" sz="3100" dirty="0"/>
              <a:t> </a:t>
            </a:r>
            <a:r>
              <a:rPr lang="it-IT" dirty="0"/>
              <a:t>:</a:t>
            </a:r>
            <a:endParaRPr lang="en-US" dirty="0"/>
          </a:p>
        </p:txBody>
      </p:sp>
      <p:pic>
        <p:nvPicPr>
          <p:cNvPr id="4" name="Picture 3">
            <a:extLst>
              <a:ext uri="{FF2B5EF4-FFF2-40B4-BE49-F238E27FC236}">
                <a16:creationId xmlns:a16="http://schemas.microsoft.com/office/drawing/2014/main" id="{0F8240AA-73BB-1A4A-072A-194A87AEB237}"/>
              </a:ext>
            </a:extLst>
          </p:cNvPr>
          <p:cNvPicPr>
            <a:picLocks noChangeAspect="1"/>
          </p:cNvPicPr>
          <p:nvPr/>
        </p:nvPicPr>
        <p:blipFill>
          <a:blip r:embed="rId2"/>
          <a:srcRect l="25125" t="18756" r="24160" b="36543"/>
          <a:stretch/>
        </p:blipFill>
        <p:spPr>
          <a:xfrm>
            <a:off x="38349" y="1491769"/>
            <a:ext cx="2459773" cy="1626081"/>
          </a:xfrm>
          <a:prstGeom prst="ellipse">
            <a:avLst/>
          </a:prstGeom>
          <a:ln>
            <a:noFill/>
          </a:ln>
          <a:effectLst>
            <a:softEdge rad="112500"/>
          </a:effectLst>
        </p:spPr>
      </p:pic>
      <p:cxnSp>
        <p:nvCxnSpPr>
          <p:cNvPr id="6" name="Straight Arrow Connector 5">
            <a:extLst>
              <a:ext uri="{FF2B5EF4-FFF2-40B4-BE49-F238E27FC236}">
                <a16:creationId xmlns:a16="http://schemas.microsoft.com/office/drawing/2014/main" id="{508C0044-BDC7-13A3-842F-6637C1D3ECA8}"/>
              </a:ext>
            </a:extLst>
          </p:cNvPr>
          <p:cNvCxnSpPr>
            <a:cxnSpLocks/>
          </p:cNvCxnSpPr>
          <p:nvPr/>
        </p:nvCxnSpPr>
        <p:spPr>
          <a:xfrm flipV="1">
            <a:off x="2245330" y="1670180"/>
            <a:ext cx="1381125" cy="6346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5680D6EC-F4F3-8C17-ED7A-34CE361FF4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6455" y="697787"/>
            <a:ext cx="2295330" cy="1607023"/>
          </a:xfrm>
          <a:prstGeom prst="rect">
            <a:avLst/>
          </a:prstGeom>
        </p:spPr>
      </p:pic>
      <p:pic>
        <p:nvPicPr>
          <p:cNvPr id="8" name="Picture 7">
            <a:extLst>
              <a:ext uri="{FF2B5EF4-FFF2-40B4-BE49-F238E27FC236}">
                <a16:creationId xmlns:a16="http://schemas.microsoft.com/office/drawing/2014/main" id="{26C34A88-04F0-D727-B373-86A21222B8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2165" y="750238"/>
            <a:ext cx="2145495" cy="1502119"/>
          </a:xfrm>
          <a:prstGeom prst="rect">
            <a:avLst/>
          </a:prstGeom>
        </p:spPr>
      </p:pic>
      <p:sp>
        <p:nvSpPr>
          <p:cNvPr id="9" name="TextBox 8">
            <a:extLst>
              <a:ext uri="{FF2B5EF4-FFF2-40B4-BE49-F238E27FC236}">
                <a16:creationId xmlns:a16="http://schemas.microsoft.com/office/drawing/2014/main" id="{9AEEFCB0-E42E-6BD0-1C40-FABB9448FD71}"/>
              </a:ext>
            </a:extLst>
          </p:cNvPr>
          <p:cNvSpPr txBox="1"/>
          <p:nvPr/>
        </p:nvSpPr>
        <p:spPr>
          <a:xfrm>
            <a:off x="4031097" y="390010"/>
            <a:ext cx="954941" cy="307777"/>
          </a:xfrm>
          <a:prstGeom prst="rect">
            <a:avLst/>
          </a:prstGeom>
          <a:noFill/>
        </p:spPr>
        <p:txBody>
          <a:bodyPr wrap="none" rtlCol="0">
            <a:spAutoFit/>
          </a:bodyPr>
          <a:lstStyle/>
          <a:p>
            <a:r>
              <a:rPr lang="it-IT" sz="1400" dirty="0"/>
              <a:t>EV Acacia</a:t>
            </a:r>
            <a:endParaRPr lang="en-US" sz="1400" dirty="0"/>
          </a:p>
        </p:txBody>
      </p:sp>
      <p:sp>
        <p:nvSpPr>
          <p:cNvPr id="10" name="TextBox 9">
            <a:extLst>
              <a:ext uri="{FF2B5EF4-FFF2-40B4-BE49-F238E27FC236}">
                <a16:creationId xmlns:a16="http://schemas.microsoft.com/office/drawing/2014/main" id="{8C12C54F-2905-EE54-0A00-DAC446805B24}"/>
              </a:ext>
            </a:extLst>
          </p:cNvPr>
          <p:cNvSpPr txBox="1"/>
          <p:nvPr/>
        </p:nvSpPr>
        <p:spPr>
          <a:xfrm>
            <a:off x="5296418" y="670573"/>
            <a:ext cx="497252" cy="276999"/>
          </a:xfrm>
          <a:prstGeom prst="rect">
            <a:avLst/>
          </a:prstGeom>
          <a:noFill/>
        </p:spPr>
        <p:txBody>
          <a:bodyPr wrap="none" rtlCol="0">
            <a:spAutoFit/>
          </a:bodyPr>
          <a:lstStyle/>
          <a:p>
            <a:r>
              <a:rPr lang="it-IT" sz="1200" dirty="0">
                <a:solidFill>
                  <a:srgbClr val="FF0000"/>
                </a:solidFill>
              </a:rPr>
              <a:t>100x</a:t>
            </a:r>
            <a:endParaRPr lang="en-US" sz="1200" dirty="0">
              <a:solidFill>
                <a:srgbClr val="FF0000"/>
              </a:solidFill>
            </a:endParaRPr>
          </a:p>
        </p:txBody>
      </p:sp>
      <p:sp>
        <p:nvSpPr>
          <p:cNvPr id="11" name="TextBox 10">
            <a:extLst>
              <a:ext uri="{FF2B5EF4-FFF2-40B4-BE49-F238E27FC236}">
                <a16:creationId xmlns:a16="http://schemas.microsoft.com/office/drawing/2014/main" id="{C5935EEB-DB55-451E-D83E-8B9E2C143B54}"/>
              </a:ext>
            </a:extLst>
          </p:cNvPr>
          <p:cNvSpPr txBox="1"/>
          <p:nvPr/>
        </p:nvSpPr>
        <p:spPr>
          <a:xfrm>
            <a:off x="7744263" y="704030"/>
            <a:ext cx="497252" cy="276999"/>
          </a:xfrm>
          <a:prstGeom prst="rect">
            <a:avLst/>
          </a:prstGeom>
          <a:noFill/>
        </p:spPr>
        <p:txBody>
          <a:bodyPr wrap="none" rtlCol="0">
            <a:spAutoFit/>
          </a:bodyPr>
          <a:lstStyle/>
          <a:p>
            <a:r>
              <a:rPr lang="it-IT" sz="1200" dirty="0">
                <a:solidFill>
                  <a:srgbClr val="FF0000"/>
                </a:solidFill>
              </a:rPr>
              <a:t>100x</a:t>
            </a:r>
            <a:endParaRPr lang="en-US" sz="1200" dirty="0">
              <a:solidFill>
                <a:srgbClr val="FF0000"/>
              </a:solidFill>
            </a:endParaRPr>
          </a:p>
        </p:txBody>
      </p:sp>
      <p:sp>
        <p:nvSpPr>
          <p:cNvPr id="12" name="TextBox 11">
            <a:extLst>
              <a:ext uri="{FF2B5EF4-FFF2-40B4-BE49-F238E27FC236}">
                <a16:creationId xmlns:a16="http://schemas.microsoft.com/office/drawing/2014/main" id="{EF215ECD-E89A-C5CE-4BFB-99401151F3BA}"/>
              </a:ext>
            </a:extLst>
          </p:cNvPr>
          <p:cNvSpPr txBox="1"/>
          <p:nvPr/>
        </p:nvSpPr>
        <p:spPr>
          <a:xfrm>
            <a:off x="6039233" y="442461"/>
            <a:ext cx="1836208" cy="307777"/>
          </a:xfrm>
          <a:prstGeom prst="rect">
            <a:avLst/>
          </a:prstGeom>
          <a:noFill/>
        </p:spPr>
        <p:txBody>
          <a:bodyPr wrap="none" rtlCol="0">
            <a:spAutoFit/>
          </a:bodyPr>
          <a:lstStyle/>
          <a:p>
            <a:r>
              <a:rPr lang="it-IT" sz="1400" dirty="0"/>
              <a:t>Nano </a:t>
            </a:r>
            <a:r>
              <a:rPr lang="it-IT" sz="1400" dirty="0" err="1"/>
              <a:t>vesicles</a:t>
            </a:r>
            <a:r>
              <a:rPr lang="it-IT" sz="1400" dirty="0"/>
              <a:t> Acacia</a:t>
            </a:r>
            <a:endParaRPr lang="en-US" sz="1400" dirty="0"/>
          </a:p>
        </p:txBody>
      </p:sp>
      <p:sp>
        <p:nvSpPr>
          <p:cNvPr id="15" name="TextBox 14">
            <a:extLst>
              <a:ext uri="{FF2B5EF4-FFF2-40B4-BE49-F238E27FC236}">
                <a16:creationId xmlns:a16="http://schemas.microsoft.com/office/drawing/2014/main" id="{6DD64465-2AC9-2390-A2C2-A57584FDBEE8}"/>
              </a:ext>
            </a:extLst>
          </p:cNvPr>
          <p:cNvSpPr txBox="1"/>
          <p:nvPr/>
        </p:nvSpPr>
        <p:spPr>
          <a:xfrm>
            <a:off x="9406935" y="947572"/>
            <a:ext cx="2305759" cy="461665"/>
          </a:xfrm>
          <a:prstGeom prst="rect">
            <a:avLst/>
          </a:prstGeom>
          <a:noFill/>
        </p:spPr>
        <p:txBody>
          <a:bodyPr wrap="none" rtlCol="0">
            <a:spAutoFit/>
          </a:bodyPr>
          <a:lstStyle/>
          <a:p>
            <a:r>
              <a:rPr lang="it-IT" sz="1200" dirty="0"/>
              <a:t>Python-</a:t>
            </a:r>
            <a:r>
              <a:rPr lang="it-IT" sz="1200" dirty="0" err="1"/>
              <a:t>Preprocessing</a:t>
            </a:r>
            <a:r>
              <a:rPr lang="it-IT" sz="1200" dirty="0"/>
              <a:t> –</a:t>
            </a:r>
            <a:r>
              <a:rPr lang="it-IT" sz="1200" dirty="0" err="1"/>
              <a:t>Croping</a:t>
            </a:r>
            <a:r>
              <a:rPr lang="it-IT" sz="1200" dirty="0"/>
              <a:t> </a:t>
            </a:r>
          </a:p>
          <a:p>
            <a:r>
              <a:rPr lang="it-IT" sz="1200" dirty="0"/>
              <a:t>Informative </a:t>
            </a:r>
            <a:r>
              <a:rPr lang="it-IT" sz="1200" dirty="0" err="1"/>
              <a:t>region</a:t>
            </a:r>
            <a:r>
              <a:rPr lang="it-IT" sz="1200" dirty="0"/>
              <a:t>- </a:t>
            </a:r>
            <a:r>
              <a:rPr lang="it-IT" sz="1200" dirty="0" err="1"/>
              <a:t>Smoothing</a:t>
            </a:r>
            <a:r>
              <a:rPr lang="it-IT" sz="1200" dirty="0"/>
              <a:t>- </a:t>
            </a:r>
            <a:endParaRPr lang="en-US" sz="1200" dirty="0"/>
          </a:p>
        </p:txBody>
      </p:sp>
      <p:pic>
        <p:nvPicPr>
          <p:cNvPr id="16" name="Picture 15">
            <a:extLst>
              <a:ext uri="{FF2B5EF4-FFF2-40B4-BE49-F238E27FC236}">
                <a16:creationId xmlns:a16="http://schemas.microsoft.com/office/drawing/2014/main" id="{7761223C-49A4-C6FF-B7B2-698F768FD0EA}"/>
              </a:ext>
            </a:extLst>
          </p:cNvPr>
          <p:cNvPicPr>
            <a:picLocks noChangeAspect="1"/>
          </p:cNvPicPr>
          <p:nvPr/>
        </p:nvPicPr>
        <p:blipFill>
          <a:blip r:embed="rId5"/>
          <a:stretch>
            <a:fillRect/>
          </a:stretch>
        </p:blipFill>
        <p:spPr>
          <a:xfrm>
            <a:off x="6610412" y="3491062"/>
            <a:ext cx="5570130" cy="3178953"/>
          </a:xfrm>
          <a:prstGeom prst="rect">
            <a:avLst/>
          </a:prstGeom>
        </p:spPr>
      </p:pic>
      <p:cxnSp>
        <p:nvCxnSpPr>
          <p:cNvPr id="23" name="Straight Arrow Connector 22">
            <a:extLst>
              <a:ext uri="{FF2B5EF4-FFF2-40B4-BE49-F238E27FC236}">
                <a16:creationId xmlns:a16="http://schemas.microsoft.com/office/drawing/2014/main" id="{E5F7AF08-0CD6-BCC8-AFEE-EC9043512C14}"/>
              </a:ext>
            </a:extLst>
          </p:cNvPr>
          <p:cNvCxnSpPr/>
          <p:nvPr/>
        </p:nvCxnSpPr>
        <p:spPr>
          <a:xfrm>
            <a:off x="8377660" y="1250302"/>
            <a:ext cx="85964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15981D90-05A4-248C-2A7A-843DE3671C27}"/>
              </a:ext>
            </a:extLst>
          </p:cNvPr>
          <p:cNvCxnSpPr/>
          <p:nvPr/>
        </p:nvCxnSpPr>
        <p:spPr>
          <a:xfrm>
            <a:off x="10226351" y="1501297"/>
            <a:ext cx="0" cy="13352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6B30D9D6-7D9D-717A-214A-77AA74EFF79C}"/>
              </a:ext>
            </a:extLst>
          </p:cNvPr>
          <p:cNvCxnSpPr/>
          <p:nvPr/>
        </p:nvCxnSpPr>
        <p:spPr>
          <a:xfrm flipH="1">
            <a:off x="6039233" y="4739951"/>
            <a:ext cx="7811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8" name="Picture 27">
            <a:extLst>
              <a:ext uri="{FF2B5EF4-FFF2-40B4-BE49-F238E27FC236}">
                <a16:creationId xmlns:a16="http://schemas.microsoft.com/office/drawing/2014/main" id="{032725A7-2BDD-87A6-D7FF-FA7698216BB8}"/>
              </a:ext>
            </a:extLst>
          </p:cNvPr>
          <p:cNvPicPr>
            <a:picLocks noChangeAspect="1"/>
          </p:cNvPicPr>
          <p:nvPr/>
        </p:nvPicPr>
        <p:blipFill>
          <a:blip r:embed="rId6"/>
          <a:stretch>
            <a:fillRect/>
          </a:stretch>
        </p:blipFill>
        <p:spPr>
          <a:xfrm>
            <a:off x="348342" y="3599782"/>
            <a:ext cx="3604193" cy="3074992"/>
          </a:xfrm>
          <a:prstGeom prst="rect">
            <a:avLst/>
          </a:prstGeom>
        </p:spPr>
      </p:pic>
      <p:pic>
        <p:nvPicPr>
          <p:cNvPr id="30" name="Picture 29">
            <a:extLst>
              <a:ext uri="{FF2B5EF4-FFF2-40B4-BE49-F238E27FC236}">
                <a16:creationId xmlns:a16="http://schemas.microsoft.com/office/drawing/2014/main" id="{D76F6467-063F-8C39-E57C-F80809159967}"/>
              </a:ext>
            </a:extLst>
          </p:cNvPr>
          <p:cNvPicPr>
            <a:picLocks noChangeAspect="1"/>
          </p:cNvPicPr>
          <p:nvPr/>
        </p:nvPicPr>
        <p:blipFill>
          <a:blip r:embed="rId7"/>
          <a:stretch>
            <a:fillRect/>
          </a:stretch>
        </p:blipFill>
        <p:spPr>
          <a:xfrm>
            <a:off x="348342" y="183226"/>
            <a:ext cx="1024172" cy="762439"/>
          </a:xfrm>
          <a:prstGeom prst="rect">
            <a:avLst/>
          </a:prstGeom>
        </p:spPr>
      </p:pic>
      <p:cxnSp>
        <p:nvCxnSpPr>
          <p:cNvPr id="32" name="Straight Arrow Connector 31">
            <a:extLst>
              <a:ext uri="{FF2B5EF4-FFF2-40B4-BE49-F238E27FC236}">
                <a16:creationId xmlns:a16="http://schemas.microsoft.com/office/drawing/2014/main" id="{BA5B0B79-896D-5355-5247-7B57664CE29F}"/>
              </a:ext>
            </a:extLst>
          </p:cNvPr>
          <p:cNvCxnSpPr/>
          <p:nvPr/>
        </p:nvCxnSpPr>
        <p:spPr>
          <a:xfrm>
            <a:off x="730933" y="1022553"/>
            <a:ext cx="0" cy="6476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31890CCB-8AF3-34E7-8A67-A1E8A4731B8D}"/>
              </a:ext>
            </a:extLst>
          </p:cNvPr>
          <p:cNvSpPr txBox="1"/>
          <p:nvPr/>
        </p:nvSpPr>
        <p:spPr>
          <a:xfrm>
            <a:off x="3561635" y="4553191"/>
            <a:ext cx="6097554" cy="738664"/>
          </a:xfrm>
          <a:prstGeom prst="rect">
            <a:avLst/>
          </a:prstGeom>
          <a:noFill/>
        </p:spPr>
        <p:txBody>
          <a:bodyPr wrap="square">
            <a:spAutoFit/>
          </a:bodyPr>
          <a:lstStyle/>
          <a:p>
            <a:r>
              <a:rPr lang="en-US" sz="1050" dirty="0"/>
              <a:t>PCA for dimensionality reduction,</a:t>
            </a:r>
          </a:p>
          <a:p>
            <a:r>
              <a:rPr lang="en-US" sz="1050" dirty="0"/>
              <a:t> followed by LDA classification (PCA-LDA)</a:t>
            </a:r>
          </a:p>
          <a:p>
            <a:r>
              <a:rPr lang="en-US" sz="1050" dirty="0"/>
              <a:t> and cross-validated with PLS-DA, </a:t>
            </a:r>
          </a:p>
          <a:p>
            <a:r>
              <a:rPr lang="en-US" sz="1050" dirty="0"/>
              <a:t>using site-grouped 5-fold cross-validation</a:t>
            </a:r>
          </a:p>
        </p:txBody>
      </p:sp>
      <p:pic>
        <p:nvPicPr>
          <p:cNvPr id="4098" name="Picture 2" descr="473 Unpublished Royalty-Free Images, Stock Photos &amp; Pictures | Shutterstock">
            <a:extLst>
              <a:ext uri="{FF2B5EF4-FFF2-40B4-BE49-F238E27FC236}">
                <a16:creationId xmlns:a16="http://schemas.microsoft.com/office/drawing/2014/main" id="{701092DF-1907-B0B3-671A-3FDFE00C06D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03410" y="187985"/>
            <a:ext cx="1440248" cy="609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8442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Raman animated background" descr="Animated background: Raman spectra and laser scattering">
            <a:extLst>
              <a:ext uri="{C183D7F6-B498-43B3-948B-1728B52AA6E4}">
                <adec:decorative xmlns:adec="http://schemas.microsoft.com/office/drawing/2017/decorative" val="1"/>
              </a:ext>
            </a:extLst>
          </p:cNvPr>
          <p:cNvPicPr>
            <a:picLocks noGrp="1" noChangeAspect="1"/>
          </p:cNvPicPr>
          <p:nvPr userDrawn="1"/>
        </p:nvPicPr>
        <p:blipFill>
          <a:blip r:embed="rIdRamanBg"/>
          <a:stretch>
            <a:fillRect/>
          </a:stretch>
        </p:blipFill>
        <p:spPr>
          <a:xfrm>
            <a:off x="0" y="0"/>
            <a:ext cx="12192000" cy="6858000"/>
          </a:xfrm>
          <a:prstGeom prst="rect">
            <a:avLst/>
          </a:prstGeom>
        </p:spPr>
      </p:pic>
      <p:sp>
        <p:nvSpPr>
          <p:cNvPr id="2" name="Text 0"/>
          <p:cNvSpPr txBox="1"/>
          <p:nvPr/>
        </p:nvSpPr>
        <p:spPr>
          <a:xfrm>
            <a:off x="457200" y="274320"/>
            <a:ext cx="11247120" cy="640080"/>
          </a:xfrm>
          <a:prstGeom prst="rect">
            <a:avLst/>
          </a:prstGeom>
          <a:noFill/>
          <a:ln/>
        </p:spPr>
        <p:txBody>
          <a:bodyPr wrap="square" lIns="0" tIns="0" rIns="0" bIns="0" rtlCol="0" anchor="ctr"/>
          <a:lstStyle/>
          <a:p>
            <a:pPr marL="0" indent="0">
              <a:buNone/>
            </a:pPr>
            <a:r>
              <a:rPr lang="en-US" sz="3000" b="1" dirty="0">
                <a:solidFill>
                  <a:srgbClr val="1F3A4D"/>
                </a:solidFill>
                <a:latin typeface="Cambria" pitchFamily="34" charset="0"/>
                <a:ea typeface="Cambria" pitchFamily="34" charset="-122"/>
                <a:cs typeface="Cambria" pitchFamily="34" charset="-120"/>
              </a:rPr>
              <a:t>Training Activities: Mini-courses, Seminars &amp; Conferences</a:t>
            </a:r>
            <a:endParaRPr lang="en-US" sz="3000" dirty="0"/>
          </a:p>
        </p:txBody>
      </p:sp>
      <p:sp>
        <p:nvSpPr>
          <p:cNvPr id="3" name="Text 1"/>
          <p:cNvSpPr txBox="1"/>
          <p:nvPr/>
        </p:nvSpPr>
        <p:spPr>
          <a:xfrm>
            <a:off x="457200" y="896112"/>
            <a:ext cx="11247120" cy="320040"/>
          </a:xfrm>
          <a:prstGeom prst="rect">
            <a:avLst/>
          </a:prstGeom>
          <a:noFill/>
          <a:ln/>
        </p:spPr>
        <p:txBody>
          <a:bodyPr wrap="square" lIns="0" tIns="0" rIns="0" bIns="0" rtlCol="0" anchor="ctr"/>
          <a:lstStyle/>
          <a:p>
            <a:pPr marL="0" indent="0">
              <a:buNone/>
            </a:pPr>
            <a:r>
              <a:rPr lang="en-US" sz="1300" i="1" dirty="0">
                <a:solidFill>
                  <a:srgbClr val="5B6B75"/>
                </a:solidFill>
                <a:latin typeface="Calibri" pitchFamily="34" charset="0"/>
                <a:ea typeface="Calibri" pitchFamily="34" charset="-122"/>
                <a:cs typeface="Calibri" pitchFamily="34" charset="-120"/>
              </a:rPr>
              <a:t>PhD Programme in Information Engineering – 41</a:t>
            </a:r>
            <a:r>
              <a:rPr lang="en-US" sz="1300" i="1" baseline="30000" dirty="0">
                <a:solidFill>
                  <a:srgbClr val="5B6B75"/>
                </a:solidFill>
                <a:latin typeface="Calibri" pitchFamily="34" charset="0"/>
                <a:ea typeface="Calibri" pitchFamily="34" charset="-122"/>
                <a:cs typeface="Calibri" pitchFamily="34" charset="-120"/>
              </a:rPr>
              <a:t>st</a:t>
            </a:r>
            <a:r>
              <a:rPr lang="en-US" sz="1300" i="1" dirty="0">
                <a:solidFill>
                  <a:srgbClr val="5B6B75"/>
                </a:solidFill>
                <a:latin typeface="Calibri" pitchFamily="34" charset="0"/>
                <a:ea typeface="Calibri" pitchFamily="34" charset="-122"/>
                <a:cs typeface="Calibri" pitchFamily="34" charset="-120"/>
              </a:rPr>
              <a:t>  Cycle · DIIES</a:t>
            </a:r>
            <a:endParaRPr lang="en-US" sz="1300" dirty="0"/>
          </a:p>
        </p:txBody>
      </p:sp>
      <p:sp>
        <p:nvSpPr>
          <p:cNvPr id="4" name="Shape 2"/>
          <p:cNvSpPr/>
          <p:nvPr/>
        </p:nvSpPr>
        <p:spPr>
          <a:xfrm>
            <a:off x="457200" y="1463040"/>
            <a:ext cx="4023360" cy="3429000"/>
          </a:xfrm>
          <a:prstGeom prst="roundRect">
            <a:avLst>
              <a:gd name="adj" fmla="val 2667"/>
            </a:avLst>
          </a:prstGeom>
          <a:solidFill>
            <a:srgbClr val="EEF6F6"/>
          </a:solidFill>
          <a:ln w="12700">
            <a:solidFill>
              <a:srgbClr val="EEF6F6"/>
            </a:solidFill>
            <a:prstDash val="solid"/>
          </a:ln>
        </p:spPr>
        <p:txBody>
          <a:bodyPr/>
          <a:lstStyle/>
          <a:p>
            <a:endParaRPr lang="en-US"/>
          </a:p>
        </p:txBody>
      </p:sp>
      <p:sp>
        <p:nvSpPr>
          <p:cNvPr id="5" name="Shape 3"/>
          <p:cNvSpPr/>
          <p:nvPr/>
        </p:nvSpPr>
        <p:spPr>
          <a:xfrm>
            <a:off x="685800" y="1627632"/>
            <a:ext cx="411480" cy="411480"/>
          </a:xfrm>
          <a:prstGeom prst="ellipse">
            <a:avLst/>
          </a:prstGeom>
          <a:solidFill>
            <a:srgbClr val="0F7C80"/>
          </a:solidFill>
          <a:ln w="12700">
            <a:solidFill>
              <a:srgbClr val="0F7C80"/>
            </a:solidFill>
            <a:prstDash val="solid"/>
          </a:ln>
        </p:spPr>
        <p:txBody>
          <a:bodyPr/>
          <a:lstStyle/>
          <a:p>
            <a:endParaRPr lang="en-US"/>
          </a:p>
        </p:txBody>
      </p:sp>
      <p:sp>
        <p:nvSpPr>
          <p:cNvPr id="6" name="Text 4"/>
          <p:cNvSpPr txBox="1"/>
          <p:nvPr/>
        </p:nvSpPr>
        <p:spPr>
          <a:xfrm>
            <a:off x="685800" y="162763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34440" y="1627632"/>
            <a:ext cx="3383280" cy="411480"/>
          </a:xfrm>
          <a:prstGeom prst="rect">
            <a:avLst/>
          </a:prstGeom>
          <a:noFill/>
          <a:ln/>
        </p:spPr>
        <p:txBody>
          <a:bodyPr wrap="square" lIns="0" tIns="0" rIns="0" bIns="0" rtlCol="0" anchor="ctr"/>
          <a:lstStyle/>
          <a:p>
            <a:pPr marL="0" indent="0">
              <a:buNone/>
            </a:pPr>
            <a:r>
              <a:rPr lang="en-US" sz="1700" b="1" dirty="0">
                <a:solidFill>
                  <a:srgbClr val="1F3A4D"/>
                </a:solidFill>
                <a:latin typeface="Cambria" pitchFamily="34" charset="0"/>
                <a:ea typeface="Cambria" pitchFamily="34" charset="-122"/>
                <a:cs typeface="Cambria" pitchFamily="34" charset="-120"/>
              </a:rPr>
              <a:t>Mini-courses (8 h each= 10 CFU)</a:t>
            </a:r>
            <a:endParaRPr lang="en-US" sz="1700" dirty="0"/>
          </a:p>
        </p:txBody>
      </p:sp>
      <p:sp>
        <p:nvSpPr>
          <p:cNvPr id="8" name="Text 6"/>
          <p:cNvSpPr txBox="1"/>
          <p:nvPr/>
        </p:nvSpPr>
        <p:spPr>
          <a:xfrm>
            <a:off x="685800" y="2176272"/>
            <a:ext cx="3566160" cy="2651760"/>
          </a:xfrm>
          <a:prstGeom prst="rect">
            <a:avLst/>
          </a:prstGeom>
          <a:noFill/>
          <a:ln/>
        </p:spPr>
        <p:txBody>
          <a:bodyPr wrap="square" lIns="0" tIns="0" rIns="0" bIns="0" rtlCol="0" anchor="t"/>
          <a:lstStyle/>
          <a:p>
            <a:pPr marL="0" indent="0">
              <a:buNone/>
            </a:pPr>
            <a:r>
              <a:rPr lang="en-US" sz="1150" b="1" dirty="0">
                <a:solidFill>
                  <a:srgbClr val="1F3A4D"/>
                </a:solidFill>
                <a:latin typeface="Calibri" pitchFamily="34" charset="0"/>
                <a:ea typeface="Calibri" pitchFamily="34" charset="-122"/>
                <a:cs typeface="Calibri" pitchFamily="34" charset="-120"/>
              </a:rPr>
              <a:t>Edge Machine Learning for Data Analysis on Low Computational Capacity Devices</a:t>
            </a:r>
            <a:endParaRPr lang="en-US" sz="1150" dirty="0"/>
          </a:p>
          <a:p>
            <a:pPr marL="0" indent="0">
              <a:spcAft>
                <a:spcPts val="600"/>
              </a:spcAft>
              <a:buNone/>
            </a:pPr>
            <a:r>
              <a:rPr lang="en-US" sz="1000" dirty="0">
                <a:solidFill>
                  <a:srgbClr val="5B6B75"/>
                </a:solidFill>
                <a:latin typeface="Calibri" pitchFamily="34" charset="0"/>
                <a:ea typeface="Calibri" pitchFamily="34" charset="-122"/>
                <a:cs typeface="Calibri" pitchFamily="34" charset="-120"/>
              </a:rPr>
              <a:t>Prof. Merenda</a:t>
            </a:r>
            <a:endParaRPr lang="en-US" sz="1150" dirty="0"/>
          </a:p>
          <a:p>
            <a:pPr marL="0" indent="0">
              <a:buNone/>
            </a:pPr>
            <a:r>
              <a:rPr lang="en-US" sz="1150" b="1" dirty="0">
                <a:solidFill>
                  <a:srgbClr val="1F3A4D"/>
                </a:solidFill>
                <a:latin typeface="Calibri" pitchFamily="34" charset="0"/>
                <a:ea typeface="Calibri" pitchFamily="34" charset="-122"/>
                <a:cs typeface="Calibri" pitchFamily="34" charset="-120"/>
              </a:rPr>
              <a:t>Ensuring Trustworthiness in Federated Learning</a:t>
            </a:r>
            <a:endParaRPr lang="en-US" sz="1150" dirty="0"/>
          </a:p>
          <a:p>
            <a:pPr marL="0" indent="0">
              <a:spcAft>
                <a:spcPts val="600"/>
              </a:spcAft>
              <a:buNone/>
            </a:pPr>
            <a:r>
              <a:rPr lang="en-US" sz="1000" dirty="0">
                <a:solidFill>
                  <a:srgbClr val="5B6B75"/>
                </a:solidFill>
                <a:latin typeface="Calibri" pitchFamily="34" charset="0"/>
                <a:ea typeface="Calibri" pitchFamily="34" charset="-122"/>
                <a:cs typeface="Calibri" pitchFamily="34" charset="-120"/>
              </a:rPr>
              <a:t>Prof. Fisichella</a:t>
            </a:r>
            <a:endParaRPr lang="en-US" sz="1150" dirty="0"/>
          </a:p>
          <a:p>
            <a:pPr marL="0" indent="0">
              <a:buNone/>
            </a:pPr>
            <a:r>
              <a:rPr lang="en-US" sz="1150" b="1" dirty="0">
                <a:solidFill>
                  <a:srgbClr val="1F3A4D"/>
                </a:solidFill>
                <a:latin typeface="Calibri" pitchFamily="34" charset="0"/>
                <a:ea typeface="Calibri" pitchFamily="34" charset="-122"/>
                <a:cs typeface="Calibri" pitchFamily="34" charset="-120"/>
              </a:rPr>
              <a:t>Digital Identity</a:t>
            </a:r>
            <a:endParaRPr lang="en-US" sz="1150" dirty="0"/>
          </a:p>
          <a:p>
            <a:pPr marL="0" indent="0">
              <a:spcAft>
                <a:spcPts val="600"/>
              </a:spcAft>
              <a:buNone/>
            </a:pPr>
            <a:r>
              <a:rPr lang="en-US" sz="1000" dirty="0">
                <a:solidFill>
                  <a:srgbClr val="5B6B75"/>
                </a:solidFill>
                <a:latin typeface="Calibri" pitchFamily="34" charset="0"/>
                <a:ea typeface="Calibri" pitchFamily="34" charset="-122"/>
                <a:cs typeface="Calibri" pitchFamily="34" charset="-120"/>
              </a:rPr>
              <a:t>Prof. Lax</a:t>
            </a:r>
            <a:endParaRPr lang="en-US" sz="1150" dirty="0"/>
          </a:p>
          <a:p>
            <a:pPr marL="0" indent="0">
              <a:buNone/>
            </a:pPr>
            <a:r>
              <a:rPr lang="en-US" sz="1150" b="1" dirty="0">
                <a:solidFill>
                  <a:srgbClr val="1F3A4D"/>
                </a:solidFill>
                <a:latin typeface="Calibri" pitchFamily="34" charset="0"/>
                <a:ea typeface="Calibri" pitchFamily="34" charset="-122"/>
                <a:cs typeface="Calibri" pitchFamily="34" charset="-120"/>
              </a:rPr>
              <a:t>Health Management</a:t>
            </a:r>
            <a:endParaRPr lang="en-US" sz="1150" dirty="0"/>
          </a:p>
          <a:p>
            <a:pPr marL="0" indent="0">
              <a:spcAft>
                <a:spcPts val="600"/>
              </a:spcAft>
              <a:buNone/>
            </a:pPr>
            <a:r>
              <a:rPr lang="en-US" sz="1000" dirty="0">
                <a:solidFill>
                  <a:srgbClr val="5B6B75"/>
                </a:solidFill>
                <a:latin typeface="Calibri" pitchFamily="34" charset="0"/>
                <a:ea typeface="Calibri" pitchFamily="34" charset="-122"/>
                <a:cs typeface="Calibri" pitchFamily="34" charset="-120"/>
              </a:rPr>
              <a:t>Prof. Romano</a:t>
            </a:r>
            <a:endParaRPr lang="en-US" sz="1150" dirty="0"/>
          </a:p>
          <a:p>
            <a:pPr marL="0" indent="0">
              <a:buNone/>
            </a:pPr>
            <a:r>
              <a:rPr lang="en-US" sz="1150" b="1" dirty="0">
                <a:solidFill>
                  <a:srgbClr val="1F3A4D"/>
                </a:solidFill>
                <a:latin typeface="Calibri" pitchFamily="34" charset="0"/>
                <a:ea typeface="Calibri" pitchFamily="34" charset="-122"/>
                <a:cs typeface="Calibri" pitchFamily="34" charset="-120"/>
              </a:rPr>
              <a:t>Foundations of Quantum Mechanics and Applications</a:t>
            </a:r>
            <a:endParaRPr lang="en-US" sz="1150" dirty="0"/>
          </a:p>
          <a:p>
            <a:pPr marL="0" indent="0">
              <a:spcAft>
                <a:spcPts val="600"/>
              </a:spcAft>
              <a:buNone/>
            </a:pPr>
            <a:r>
              <a:rPr lang="en-US" sz="1000" dirty="0">
                <a:solidFill>
                  <a:srgbClr val="5B6B75"/>
                </a:solidFill>
                <a:latin typeface="Calibri" pitchFamily="34" charset="0"/>
                <a:ea typeface="Calibri" pitchFamily="34" charset="-122"/>
                <a:cs typeface="Calibri" pitchFamily="34" charset="-120"/>
              </a:rPr>
              <a:t>Profs. Messina and Faggio</a:t>
            </a:r>
            <a:endParaRPr lang="en-US" sz="1150" dirty="0"/>
          </a:p>
        </p:txBody>
      </p:sp>
      <p:sp>
        <p:nvSpPr>
          <p:cNvPr id="9" name="Shape 7"/>
          <p:cNvSpPr/>
          <p:nvPr/>
        </p:nvSpPr>
        <p:spPr>
          <a:xfrm>
            <a:off x="457200" y="5074920"/>
            <a:ext cx="4023360" cy="1508760"/>
          </a:xfrm>
          <a:prstGeom prst="roundRect">
            <a:avLst>
              <a:gd name="adj" fmla="val 6061"/>
            </a:avLst>
          </a:prstGeom>
          <a:solidFill>
            <a:srgbClr val="EEF6F6"/>
          </a:solidFill>
          <a:ln w="12700">
            <a:solidFill>
              <a:srgbClr val="EEF6F6"/>
            </a:solidFill>
            <a:prstDash val="solid"/>
          </a:ln>
        </p:spPr>
        <p:txBody>
          <a:bodyPr/>
          <a:lstStyle/>
          <a:p>
            <a:endParaRPr lang="en-US"/>
          </a:p>
        </p:txBody>
      </p:sp>
      <p:sp>
        <p:nvSpPr>
          <p:cNvPr id="10" name="Shape 8"/>
          <p:cNvSpPr/>
          <p:nvPr/>
        </p:nvSpPr>
        <p:spPr>
          <a:xfrm>
            <a:off x="685800" y="5230368"/>
            <a:ext cx="411480" cy="411480"/>
          </a:xfrm>
          <a:prstGeom prst="ellipse">
            <a:avLst/>
          </a:prstGeom>
          <a:solidFill>
            <a:srgbClr val="0F7C80"/>
          </a:solidFill>
          <a:ln w="12700">
            <a:solidFill>
              <a:srgbClr val="0F7C80"/>
            </a:solidFill>
            <a:prstDash val="solid"/>
          </a:ln>
        </p:spPr>
        <p:txBody>
          <a:bodyPr/>
          <a:lstStyle/>
          <a:p>
            <a:endParaRPr lang="en-US"/>
          </a:p>
        </p:txBody>
      </p:sp>
      <p:sp>
        <p:nvSpPr>
          <p:cNvPr id="11" name="Text 9"/>
          <p:cNvSpPr txBox="1"/>
          <p:nvPr/>
        </p:nvSpPr>
        <p:spPr>
          <a:xfrm>
            <a:off x="685800" y="5230368"/>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234440" y="5230368"/>
            <a:ext cx="3017520" cy="411480"/>
          </a:xfrm>
          <a:prstGeom prst="rect">
            <a:avLst/>
          </a:prstGeom>
          <a:noFill/>
          <a:ln/>
        </p:spPr>
        <p:txBody>
          <a:bodyPr wrap="square" lIns="0" tIns="0" rIns="0" bIns="0" rtlCol="0" anchor="ctr"/>
          <a:lstStyle/>
          <a:p>
            <a:pPr marL="0" indent="0">
              <a:buNone/>
            </a:pPr>
            <a:r>
              <a:rPr lang="en-US" sz="1700" b="1" dirty="0">
                <a:solidFill>
                  <a:srgbClr val="1F3A4D"/>
                </a:solidFill>
                <a:latin typeface="Cambria" pitchFamily="34" charset="0"/>
                <a:ea typeface="Cambria" pitchFamily="34" charset="-122"/>
                <a:cs typeface="Cambria" pitchFamily="34" charset="-120"/>
              </a:rPr>
              <a:t> International Conference</a:t>
            </a:r>
            <a:endParaRPr lang="en-US" sz="1700" dirty="0"/>
          </a:p>
        </p:txBody>
      </p:sp>
      <p:sp>
        <p:nvSpPr>
          <p:cNvPr id="13" name="Text 11"/>
          <p:cNvSpPr txBox="1"/>
          <p:nvPr/>
        </p:nvSpPr>
        <p:spPr>
          <a:xfrm>
            <a:off x="685800" y="5733288"/>
            <a:ext cx="3566160" cy="822960"/>
          </a:xfrm>
          <a:prstGeom prst="rect">
            <a:avLst/>
          </a:prstGeom>
          <a:noFill/>
          <a:ln/>
        </p:spPr>
        <p:txBody>
          <a:bodyPr wrap="square" lIns="0" tIns="0" rIns="0" bIns="0" rtlCol="0" anchor="t"/>
          <a:lstStyle/>
          <a:p>
            <a:pPr marL="0" indent="0">
              <a:buNone/>
            </a:pPr>
            <a:r>
              <a:rPr lang="en-US" sz="1150" b="1" dirty="0">
                <a:solidFill>
                  <a:srgbClr val="1F3A4D"/>
                </a:solidFill>
                <a:latin typeface="Calibri" pitchFamily="34" charset="0"/>
                <a:ea typeface="Calibri" pitchFamily="34" charset="-122"/>
                <a:cs typeface="Calibri" pitchFamily="34" charset="-120"/>
              </a:rPr>
              <a:t>NanoInnovation 2026 · Rome · 14–18 Sept 2026</a:t>
            </a:r>
            <a:endParaRPr lang="en-US" sz="1150" dirty="0"/>
          </a:p>
          <a:p>
            <a:pPr marL="0" indent="0">
              <a:spcAft>
                <a:spcPts val="600"/>
              </a:spcAft>
              <a:buNone/>
            </a:pPr>
            <a:r>
              <a:rPr lang="en-US" sz="1000" dirty="0">
                <a:solidFill>
                  <a:srgbClr val="5B6B75"/>
                </a:solidFill>
                <a:latin typeface="Calibri" pitchFamily="34" charset="0"/>
                <a:ea typeface="Calibri" pitchFamily="34" charset="-122"/>
                <a:cs typeface="Calibri" pitchFamily="34" charset="-120"/>
              </a:rPr>
              <a:t>Oral presentation: "Machine Learning Raman Classification of Chromonic Liquid Crystal Self-Organisation on Different Substrates"</a:t>
            </a:r>
            <a:endParaRPr lang="en-US" sz="1150" dirty="0"/>
          </a:p>
        </p:txBody>
      </p:sp>
      <p:sp>
        <p:nvSpPr>
          <p:cNvPr id="14" name="Shape 12"/>
          <p:cNvSpPr/>
          <p:nvPr/>
        </p:nvSpPr>
        <p:spPr>
          <a:xfrm>
            <a:off x="4754880" y="1463040"/>
            <a:ext cx="411480" cy="411480"/>
          </a:xfrm>
          <a:prstGeom prst="ellipse">
            <a:avLst/>
          </a:prstGeom>
          <a:solidFill>
            <a:srgbClr val="0F7C80"/>
          </a:solidFill>
          <a:ln w="12700">
            <a:solidFill>
              <a:srgbClr val="0F7C80"/>
            </a:solidFill>
            <a:prstDash val="solid"/>
          </a:ln>
        </p:spPr>
        <p:txBody>
          <a:bodyPr/>
          <a:lstStyle/>
          <a:p>
            <a:endParaRPr lang="en-US"/>
          </a:p>
        </p:txBody>
      </p:sp>
      <p:sp>
        <p:nvSpPr>
          <p:cNvPr id="15" name="Text 13"/>
          <p:cNvSpPr txBox="1"/>
          <p:nvPr/>
        </p:nvSpPr>
        <p:spPr>
          <a:xfrm>
            <a:off x="4754880" y="14630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5303520" y="1463040"/>
            <a:ext cx="6428232" cy="411480"/>
          </a:xfrm>
          <a:prstGeom prst="rect">
            <a:avLst/>
          </a:prstGeom>
          <a:noFill/>
          <a:ln/>
        </p:spPr>
        <p:txBody>
          <a:bodyPr wrap="square" lIns="0" tIns="0" rIns="0" bIns="0" rtlCol="0" anchor="ctr"/>
          <a:lstStyle/>
          <a:p>
            <a:pPr marL="0" indent="0">
              <a:buNone/>
            </a:pPr>
            <a:r>
              <a:rPr lang="en-US" sz="1700" b="1" dirty="0">
                <a:solidFill>
                  <a:srgbClr val="1F3A4D"/>
                </a:solidFill>
                <a:latin typeface="Cambria" pitchFamily="34" charset="0"/>
                <a:ea typeface="Cambria" pitchFamily="34" charset="-122"/>
                <a:cs typeface="Cambria" pitchFamily="34" charset="-120"/>
              </a:rPr>
              <a:t>Seminars= 5 CFU</a:t>
            </a:r>
            <a:endParaRPr lang="en-US" sz="1700" dirty="0"/>
          </a:p>
        </p:txBody>
      </p:sp>
      <p:graphicFrame>
        <p:nvGraphicFramePr>
          <p:cNvPr id="17" name="Table 0"/>
          <p:cNvGraphicFramePr>
            <a:graphicFrameLocks noGrp="1"/>
          </p:cNvGraphicFramePr>
          <p:nvPr/>
        </p:nvGraphicFramePr>
        <p:xfrm>
          <a:off x="4754880" y="2011680"/>
          <a:ext cx="6976872" cy="2987040"/>
        </p:xfrm>
        <a:graphic>
          <a:graphicData uri="http://schemas.openxmlformats.org/drawingml/2006/table">
            <a:tbl>
              <a:tblPr/>
              <a:tblGrid>
                <a:gridCol w="3886200">
                  <a:extLst>
                    <a:ext uri="{9D8B030D-6E8A-4147-A177-3AD203B41FA5}">
                      <a16:colId xmlns:a16="http://schemas.microsoft.com/office/drawing/2014/main" val="20000"/>
                    </a:ext>
                  </a:extLst>
                </a:gridCol>
                <a:gridCol w="2404872">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Seminar</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0F7C8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Instructor(s)</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0F7C8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Hours</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0F7C80"/>
                    </a:solidFill>
                  </a:tcPr>
                </a:tc>
                <a:extLst>
                  <a:ext uri="{0D108BD9-81ED-4DB2-BD59-A6C34878D82A}">
                    <a16:rowId xmlns:a16="http://schemas.microsoft.com/office/drawing/2014/main" val="10000"/>
                  </a:ext>
                </a:extLst>
              </a:tr>
              <a:tr h="0">
                <a:tc>
                  <a:txBody>
                    <a:bodyPr/>
                    <a:lstStyle/>
                    <a:p>
                      <a:pPr marL="0" indent="0">
                        <a:buNone/>
                      </a:pPr>
                      <a:r>
                        <a:rPr lang="en-US" sz="1200" b="1" dirty="0">
                          <a:solidFill>
                            <a:srgbClr val="1F3A4D"/>
                          </a:solidFill>
                          <a:latin typeface="Calibri" pitchFamily="34" charset="0"/>
                          <a:ea typeface="Calibri" pitchFamily="34" charset="-122"/>
                          <a:cs typeface="Calibri" pitchFamily="34" charset="-120"/>
                        </a:rPr>
                        <a:t>Some Results for Electromagnetic Design and Retrieval Problems</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EEF6F6"/>
                    </a:solidFill>
                  </a:tcPr>
                </a:tc>
                <a:tc>
                  <a:txBody>
                    <a:bodyPr/>
                    <a:lstStyle/>
                    <a:p>
                      <a:pPr marL="0" indent="0">
                        <a:buNone/>
                      </a:pPr>
                      <a:r>
                        <a:rPr lang="en-US" sz="1200" dirty="0">
                          <a:solidFill>
                            <a:srgbClr val="5B6B75"/>
                          </a:solidFill>
                          <a:latin typeface="Calibri" pitchFamily="34" charset="0"/>
                          <a:ea typeface="Calibri" pitchFamily="34" charset="-122"/>
                          <a:cs typeface="Calibri" pitchFamily="34" charset="-120"/>
                        </a:rPr>
                        <a:t>Prof. Mats Gustafsson</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EEF6F6"/>
                    </a:solidFill>
                  </a:tcPr>
                </a:tc>
                <a:tc>
                  <a:txBody>
                    <a:bodyPr/>
                    <a:lstStyle/>
                    <a:p>
                      <a:pPr marL="0" indent="0" algn="ctr">
                        <a:buNone/>
                      </a:pPr>
                      <a:r>
                        <a:rPr lang="en-US" sz="1200" dirty="0">
                          <a:solidFill>
                            <a:srgbClr val="1F3A4D"/>
                          </a:solidFill>
                          <a:latin typeface="Calibri" pitchFamily="34" charset="0"/>
                          <a:ea typeface="Calibri" pitchFamily="34" charset="-122"/>
                          <a:cs typeface="Calibri" pitchFamily="34" charset="-120"/>
                        </a:rPr>
                        <a:t>1.5 h</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EEF6F6"/>
                    </a:solidFill>
                  </a:tcPr>
                </a:tc>
                <a:extLst>
                  <a:ext uri="{0D108BD9-81ED-4DB2-BD59-A6C34878D82A}">
                    <a16:rowId xmlns:a16="http://schemas.microsoft.com/office/drawing/2014/main" val="10001"/>
                  </a:ext>
                </a:extLst>
              </a:tr>
              <a:tr h="0">
                <a:tc>
                  <a:txBody>
                    <a:bodyPr/>
                    <a:lstStyle/>
                    <a:p>
                      <a:pPr marL="0" indent="0">
                        <a:buNone/>
                      </a:pPr>
                      <a:r>
                        <a:rPr lang="en-US" sz="1200" b="1" dirty="0">
                          <a:solidFill>
                            <a:srgbClr val="1F3A4D"/>
                          </a:solidFill>
                          <a:latin typeface="Calibri" pitchFamily="34" charset="0"/>
                          <a:ea typeface="Calibri" pitchFamily="34" charset="-122"/>
                          <a:cs typeface="Calibri" pitchFamily="34" charset="-120"/>
                        </a:rPr>
                        <a:t>Connected and Automated Mobility (MOST Spoke 6 dissemination activities)</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FFFFFF"/>
                    </a:solidFill>
                  </a:tcPr>
                </a:tc>
                <a:tc>
                  <a:txBody>
                    <a:bodyPr/>
                    <a:lstStyle/>
                    <a:p>
                      <a:pPr marL="0" indent="0">
                        <a:buNone/>
                      </a:pPr>
                      <a:r>
                        <a:rPr lang="en-US" sz="1200" dirty="0">
                          <a:solidFill>
                            <a:srgbClr val="5B6B75"/>
                          </a:solidFill>
                          <a:latin typeface="Calibri" pitchFamily="34" charset="0"/>
                          <a:ea typeface="Calibri" pitchFamily="34" charset="-122"/>
                          <a:cs typeface="Calibri" pitchFamily="34" charset="-120"/>
                        </a:rPr>
                        <a:t>M. Segata, I. Turcanu</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3A4D"/>
                          </a:solidFill>
                          <a:latin typeface="Calibri" pitchFamily="34" charset="0"/>
                          <a:ea typeface="Calibri" pitchFamily="34" charset="-122"/>
                          <a:cs typeface="Calibri" pitchFamily="34" charset="-120"/>
                        </a:rPr>
                        <a:t>3 h</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b="1" dirty="0">
                          <a:solidFill>
                            <a:srgbClr val="1F3A4D"/>
                          </a:solidFill>
                          <a:latin typeface="Calibri" pitchFamily="34" charset="0"/>
                          <a:ea typeface="Calibri" pitchFamily="34" charset="-122"/>
                          <a:cs typeface="Calibri" pitchFamily="34" charset="-120"/>
                        </a:rPr>
                        <a:t>Factors Affecting the Port Times of Container Ships</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EEF6F6"/>
                    </a:solidFill>
                  </a:tcPr>
                </a:tc>
                <a:tc>
                  <a:txBody>
                    <a:bodyPr/>
                    <a:lstStyle/>
                    <a:p>
                      <a:pPr marL="0" indent="0">
                        <a:buNone/>
                      </a:pPr>
                      <a:r>
                        <a:rPr lang="en-US" sz="1200" dirty="0">
                          <a:solidFill>
                            <a:srgbClr val="5B6B7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EEF6F6"/>
                    </a:solidFill>
                  </a:tcPr>
                </a:tc>
                <a:tc>
                  <a:txBody>
                    <a:bodyPr/>
                    <a:lstStyle/>
                    <a:p>
                      <a:pPr marL="0" indent="0" algn="ctr">
                        <a:buNone/>
                      </a:pPr>
                      <a:r>
                        <a:rPr lang="en-US" sz="1200" dirty="0">
                          <a:solidFill>
                            <a:srgbClr val="1F3A4D"/>
                          </a:solidFill>
                          <a:latin typeface="Calibri" pitchFamily="34" charset="0"/>
                          <a:ea typeface="Calibri" pitchFamily="34" charset="-122"/>
                          <a:cs typeface="Calibri" pitchFamily="34" charset="-120"/>
                        </a:rPr>
                        <a:t>4 h</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EEF6F6"/>
                    </a:solidFill>
                  </a:tcPr>
                </a:tc>
                <a:extLst>
                  <a:ext uri="{0D108BD9-81ED-4DB2-BD59-A6C34878D82A}">
                    <a16:rowId xmlns:a16="http://schemas.microsoft.com/office/drawing/2014/main" val="10003"/>
                  </a:ext>
                </a:extLst>
              </a:tr>
              <a:tr h="0">
                <a:tc>
                  <a:txBody>
                    <a:bodyPr/>
                    <a:lstStyle/>
                    <a:p>
                      <a:pPr marL="0" indent="0">
                        <a:buNone/>
                      </a:pPr>
                      <a:r>
                        <a:rPr lang="en-US" sz="1200" b="1" dirty="0">
                          <a:solidFill>
                            <a:srgbClr val="1F3A4D"/>
                          </a:solidFill>
                          <a:latin typeface="Calibri" pitchFamily="34" charset="0"/>
                          <a:ea typeface="Calibri" pitchFamily="34" charset="-122"/>
                          <a:cs typeface="Calibri" pitchFamily="34" charset="-120"/>
                        </a:rPr>
                        <a:t>Resonances in Geometrically Finite Graphs</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FFFFFF"/>
                    </a:solidFill>
                  </a:tcPr>
                </a:tc>
                <a:tc>
                  <a:txBody>
                    <a:bodyPr/>
                    <a:lstStyle/>
                    <a:p>
                      <a:pPr marL="0" indent="0">
                        <a:buNone/>
                      </a:pPr>
                      <a:r>
                        <a:rPr lang="en-US" sz="1200" dirty="0">
                          <a:solidFill>
                            <a:srgbClr val="5B6B75"/>
                          </a:solidFill>
                          <a:latin typeface="Calibri" pitchFamily="34" charset="0"/>
                          <a:ea typeface="Calibri" pitchFamily="34" charset="-122"/>
                          <a:cs typeface="Calibri" pitchFamily="34" charset="-120"/>
                        </a:rPr>
                        <a:t>Dr Carsten Peterson</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3A4D"/>
                          </a:solidFill>
                          <a:latin typeface="Calibri" pitchFamily="34" charset="0"/>
                          <a:ea typeface="Calibri" pitchFamily="34" charset="-122"/>
                          <a:cs typeface="Calibri" pitchFamily="34" charset="-120"/>
                        </a:rPr>
                        <a:t>2 h</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00" b="1" dirty="0">
                          <a:solidFill>
                            <a:srgbClr val="1F3A4D"/>
                          </a:solidFill>
                          <a:latin typeface="Calibri" pitchFamily="34" charset="0"/>
                          <a:ea typeface="Calibri" pitchFamily="34" charset="-122"/>
                          <a:cs typeface="Calibri" pitchFamily="34" charset="-120"/>
                        </a:rPr>
                        <a:t>Networking Solutions for Cooperative, Connected and Automated Mobility</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EEF6F6"/>
                    </a:solidFill>
                  </a:tcPr>
                </a:tc>
                <a:tc>
                  <a:txBody>
                    <a:bodyPr/>
                    <a:lstStyle/>
                    <a:p>
                      <a:pPr marL="0" indent="0">
                        <a:buNone/>
                      </a:pPr>
                      <a:r>
                        <a:rPr lang="en-US" sz="1200" dirty="0">
                          <a:solidFill>
                            <a:srgbClr val="5B6B75"/>
                          </a:solidFill>
                          <a:latin typeface="Calibri" pitchFamily="34" charset="0"/>
                          <a:ea typeface="Calibri" pitchFamily="34" charset="-122"/>
                          <a:cs typeface="Calibri" pitchFamily="34" charset="-120"/>
                        </a:rPr>
                        <a:t>Profs. C. Campolo, A. Bazzi, S. Sargento; Drs F. Brasca, G. Landi</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EEF6F6"/>
                    </a:solidFill>
                  </a:tcPr>
                </a:tc>
                <a:tc>
                  <a:txBody>
                    <a:bodyPr/>
                    <a:lstStyle/>
                    <a:p>
                      <a:pPr marL="0" indent="0" algn="ctr">
                        <a:buNone/>
                      </a:pPr>
                      <a:r>
                        <a:rPr lang="en-US" sz="1200" dirty="0">
                          <a:solidFill>
                            <a:srgbClr val="1F3A4D"/>
                          </a:solidFill>
                          <a:latin typeface="Calibri" pitchFamily="34" charset="0"/>
                          <a:ea typeface="Calibri" pitchFamily="34" charset="-122"/>
                          <a:cs typeface="Calibri" pitchFamily="34" charset="-120"/>
                        </a:rPr>
                        <a:t>4 h</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EEF6F6"/>
                    </a:solidFill>
                  </a:tcPr>
                </a:tc>
                <a:extLst>
                  <a:ext uri="{0D108BD9-81ED-4DB2-BD59-A6C34878D82A}">
                    <a16:rowId xmlns:a16="http://schemas.microsoft.com/office/drawing/2014/main" val="10005"/>
                  </a:ext>
                </a:extLst>
              </a:tr>
              <a:tr h="0">
                <a:tc>
                  <a:txBody>
                    <a:bodyPr/>
                    <a:lstStyle/>
                    <a:p>
                      <a:pPr marL="0" indent="0">
                        <a:buNone/>
                      </a:pPr>
                      <a:r>
                        <a:rPr lang="en-US" sz="1200" b="1" dirty="0">
                          <a:solidFill>
                            <a:srgbClr val="1F3A4D"/>
                          </a:solidFill>
                          <a:latin typeface="Calibri" pitchFamily="34" charset="0"/>
                          <a:ea typeface="Calibri" pitchFamily="34" charset="-122"/>
                          <a:cs typeface="Calibri" pitchFamily="34" charset="-120"/>
                        </a:rPr>
                        <a:t>Digital Twins and Deep Learning: Advancing Infrastructure Sustainability and Resilience through Remote Sensing and Computer Vision</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FFFFFF"/>
                    </a:solidFill>
                  </a:tcPr>
                </a:tc>
                <a:tc>
                  <a:txBody>
                    <a:bodyPr/>
                    <a:lstStyle/>
                    <a:p>
                      <a:pPr marL="0" indent="0">
                        <a:buNone/>
                      </a:pPr>
                      <a:r>
                        <a:rPr lang="en-US" sz="1200" dirty="0">
                          <a:solidFill>
                            <a:srgbClr val="5B6B75"/>
                          </a:solidFill>
                          <a:latin typeface="Calibri" pitchFamily="34" charset="0"/>
                          <a:ea typeface="Calibri" pitchFamily="34" charset="-122"/>
                          <a:cs typeface="Calibri" pitchFamily="34" charset="-120"/>
                        </a:rPr>
                        <a:t>Dr Surya Sarat Chandra Congress</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3A4D"/>
                          </a:solidFill>
                          <a:latin typeface="Calibri" pitchFamily="34" charset="0"/>
                          <a:ea typeface="Calibri" pitchFamily="34" charset="-122"/>
                          <a:cs typeface="Calibri" pitchFamily="34" charset="-120"/>
                        </a:rPr>
                        <a:t>3 h</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200" b="1" dirty="0">
                          <a:solidFill>
                            <a:srgbClr val="1F3A4D"/>
                          </a:solidFill>
                          <a:latin typeface="Calibri" pitchFamily="34" charset="0"/>
                          <a:ea typeface="Calibri" pitchFamily="34" charset="-122"/>
                          <a:cs typeface="Calibri" pitchFamily="34" charset="-120"/>
                        </a:rPr>
                        <a:t>Workshop</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EEF6F6"/>
                    </a:solidFill>
                  </a:tcPr>
                </a:tc>
                <a:tc>
                  <a:txBody>
                    <a:bodyPr/>
                    <a:lstStyle/>
                    <a:p>
                      <a:pPr marL="0" indent="0">
                        <a:buNone/>
                      </a:pPr>
                      <a:r>
                        <a:rPr lang="en-US" sz="1200" dirty="0">
                          <a:solidFill>
                            <a:srgbClr val="5B6B75"/>
                          </a:solidFill>
                          <a:latin typeface="Calibri" pitchFamily="34" charset="0"/>
                          <a:ea typeface="Calibri" pitchFamily="34" charset="-122"/>
                          <a:cs typeface="Calibri" pitchFamily="34" charset="-120"/>
                        </a:rPr>
                        <a:t>DICEAM</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EEF6F6"/>
                    </a:solidFill>
                  </a:tcPr>
                </a:tc>
                <a:tc>
                  <a:txBody>
                    <a:bodyPr/>
                    <a:lstStyle/>
                    <a:p>
                      <a:pPr marL="0" indent="0" algn="ctr">
                        <a:buNone/>
                      </a:pPr>
                      <a:r>
                        <a:rPr lang="en-US" sz="1200" dirty="0">
                          <a:solidFill>
                            <a:srgbClr val="1F3A4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38100" marB="38100" anchor="ctr">
                    <a:lnL w="6350" cap="flat" cmpd="sng" algn="ctr">
                      <a:solidFill>
                        <a:srgbClr val="D5E3E4"/>
                      </a:solidFill>
                      <a:prstDash val="solid"/>
                      <a:round/>
                      <a:headEnd type="none" w="med" len="med"/>
                      <a:tailEnd type="none" w="med" len="med"/>
                    </a:lnL>
                    <a:lnR w="6350" cap="flat" cmpd="sng" algn="ctr">
                      <a:solidFill>
                        <a:srgbClr val="D5E3E4"/>
                      </a:solidFill>
                      <a:prstDash val="solid"/>
                      <a:round/>
                      <a:headEnd type="none" w="med" len="med"/>
                      <a:tailEnd type="none" w="med" len="med"/>
                    </a:lnR>
                    <a:lnT w="6350" cap="flat" cmpd="sng" algn="ctr">
                      <a:solidFill>
                        <a:srgbClr val="D5E3E4"/>
                      </a:solidFill>
                      <a:prstDash val="solid"/>
                      <a:round/>
                      <a:headEnd type="none" w="med" len="med"/>
                      <a:tailEnd type="none" w="med" len="med"/>
                    </a:lnT>
                    <a:lnB w="6350" cap="flat" cmpd="sng" algn="ctr">
                      <a:solidFill>
                        <a:srgbClr val="D5E3E4"/>
                      </a:solidFill>
                      <a:prstDash val="solid"/>
                      <a:round/>
                      <a:headEnd type="none" w="med" len="med"/>
                      <a:tailEnd type="none" w="med" len="med"/>
                    </a:lnB>
                    <a:solidFill>
                      <a:srgbClr val="EEF6F6"/>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Raman animated background" descr="Animated background: Raman spectra and laser scattering">
            <a:extLst>
              <a:ext uri="{C183D7F6-B498-43B3-948B-1728B52AA6E4}">
                <adec:decorative xmlns:adec="http://schemas.microsoft.com/office/drawing/2017/decorative" val="1"/>
              </a:ext>
            </a:extLst>
          </p:cNvPr>
          <p:cNvPicPr>
            <a:picLocks noGrp="1" noChangeAspect="1"/>
          </p:cNvPicPr>
          <p:nvPr userDrawn="1"/>
        </p:nvPicPr>
        <p:blipFill>
          <a:blip r:embed="rIdRamanBg"/>
          <a:stretch>
            <a:fillRect/>
          </a:stretch>
        </p:blipFill>
        <p:spPr>
          <a:xfrm>
            <a:off x="0" y="0"/>
            <a:ext cx="12192000" cy="6858000"/>
          </a:xfrm>
          <a:prstGeom prst="rect">
            <a:avLst/>
          </a:prstGeom>
        </p:spPr>
      </p:pic>
      <p:sp>
        <p:nvSpPr>
          <p:cNvPr id="2" name="Text 0"/>
          <p:cNvSpPr>
            <a:spLocks noGrp="1"/>
          </p:cNvSpPr>
          <p:nvPr>
            <p:ph type="title" idx="100" hasCustomPrompt="1"/>
          </p:nvPr>
        </p:nvSpPr>
        <p:spPr>
          <a:xfrm>
            <a:off x="365760" y="292608"/>
            <a:ext cx="11430000" cy="548640"/>
          </a:xfrm>
          <a:prstGeom prst="rect">
            <a:avLst/>
          </a:prstGeom>
          <a:noFill/>
          <a:ln/>
        </p:spPr>
        <p:txBody>
          <a:bodyPr wrap="square" lIns="0" tIns="0" rIns="0" bIns="0" rtlCol="0" anchor="ctr"/>
          <a:lstStyle/>
          <a:p>
            <a:pPr marL="0" indent="0" algn="l">
              <a:buNone/>
            </a:pPr>
            <a:r>
              <a:rPr lang="en-US" sz="3200" b="1" dirty="0">
                <a:solidFill>
                  <a:schemeClr val="tx2"/>
                </a:solidFill>
              </a:rPr>
              <a:t>Training Activities: Mini-courses, Seminars &amp; Conferences</a:t>
            </a:r>
            <a:endParaRPr lang="en-US" sz="3200" dirty="0"/>
          </a:p>
        </p:txBody>
      </p:sp>
      <p:sp>
        <p:nvSpPr>
          <p:cNvPr id="3" name="Text 1"/>
          <p:cNvSpPr txBox="1"/>
          <p:nvPr/>
        </p:nvSpPr>
        <p:spPr>
          <a:xfrm>
            <a:off x="365760" y="896112"/>
            <a:ext cx="8229600" cy="274320"/>
          </a:xfrm>
          <a:prstGeom prst="rect">
            <a:avLst/>
          </a:prstGeom>
          <a:noFill/>
          <a:ln/>
        </p:spPr>
        <p:txBody>
          <a:bodyPr wrap="square" lIns="0" tIns="0" rIns="0" bIns="0" rtlCol="0" anchor="ctr"/>
          <a:lstStyle/>
          <a:p>
            <a:pPr marL="0" indent="0">
              <a:buNone/>
            </a:pPr>
            <a:r>
              <a:rPr lang="en-US" sz="1300" i="1" dirty="0">
                <a:solidFill>
                  <a:schemeClr val="accent5"/>
                </a:solidFill>
              </a:rPr>
              <a:t>PhD Programme in Information Engineering – 41</a:t>
            </a:r>
            <a:r>
              <a:rPr lang="en-US" sz="1300" i="1" baseline="30000" dirty="0">
                <a:solidFill>
                  <a:schemeClr val="accent5"/>
                </a:solidFill>
              </a:rPr>
              <a:t>st</a:t>
            </a:r>
            <a:r>
              <a:rPr lang="en-US" sz="1300" i="1" dirty="0">
                <a:solidFill>
                  <a:schemeClr val="accent5"/>
                </a:solidFill>
              </a:rPr>
              <a:t> Cycle · DIIES</a:t>
            </a:r>
            <a:endParaRPr lang="en-US" sz="1300" dirty="0"/>
          </a:p>
        </p:txBody>
      </p:sp>
      <p:sp>
        <p:nvSpPr>
          <p:cNvPr id="4" name="Mini-courses card"/>
          <p:cNvSpPr/>
          <p:nvPr/>
        </p:nvSpPr>
        <p:spPr>
          <a:xfrm>
            <a:off x="356616" y="1444752"/>
            <a:ext cx="4224528" cy="3200400"/>
          </a:xfrm>
          <a:prstGeom prst="roundRect">
            <a:avLst>
              <a:gd name="adj" fmla="val 2857"/>
            </a:avLst>
          </a:prstGeom>
          <a:solidFill>
            <a:schemeClr val="bg2"/>
          </a:solidFill>
          <a:ln/>
        </p:spPr>
        <p:txBody>
          <a:bodyPr/>
          <a:lstStyle/>
          <a:p>
            <a:endParaRPr lang="en-US"/>
          </a:p>
        </p:txBody>
      </p:sp>
      <p:sp>
        <p:nvSpPr>
          <p:cNvPr id="5" name="Badge 1"/>
          <p:cNvSpPr/>
          <p:nvPr/>
        </p:nvSpPr>
        <p:spPr>
          <a:xfrm>
            <a:off x="585216" y="1591056"/>
            <a:ext cx="420624" cy="420624"/>
          </a:xfrm>
          <a:prstGeom prst="ellipse">
            <a:avLst/>
          </a:prstGeom>
          <a:solidFill>
            <a:schemeClr val="accent1"/>
          </a:solidFill>
          <a:ln/>
        </p:spPr>
        <p:txBody>
          <a:bodyPr/>
          <a:lstStyle/>
          <a:p>
            <a:endParaRPr lang="en-US"/>
          </a:p>
        </p:txBody>
      </p:sp>
      <p:sp>
        <p:nvSpPr>
          <p:cNvPr id="6" name="Text 4"/>
          <p:cNvSpPr txBox="1"/>
          <p:nvPr/>
        </p:nvSpPr>
        <p:spPr>
          <a:xfrm>
            <a:off x="585216" y="1591056"/>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Text 5"/>
          <p:cNvSpPr txBox="1"/>
          <p:nvPr/>
        </p:nvSpPr>
        <p:spPr>
          <a:xfrm>
            <a:off x="1152144" y="1591056"/>
            <a:ext cx="3429000" cy="420624"/>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Mini-courses (8 h each = 10 CFU)</a:t>
            </a:r>
            <a:endParaRPr lang="en-US" sz="1800" dirty="0"/>
          </a:p>
        </p:txBody>
      </p:sp>
      <p:sp>
        <p:nvSpPr>
          <p:cNvPr id="8" name="Text 6"/>
          <p:cNvSpPr txBox="1"/>
          <p:nvPr/>
        </p:nvSpPr>
        <p:spPr>
          <a:xfrm>
            <a:off x="585216" y="2148840"/>
            <a:ext cx="3703320" cy="2423160"/>
          </a:xfrm>
          <a:prstGeom prst="rect">
            <a:avLst/>
          </a:prstGeom>
          <a:noFill/>
          <a:ln/>
        </p:spPr>
        <p:txBody>
          <a:bodyPr wrap="square" lIns="0" tIns="0" rIns="0" bIns="0" rtlCol="0" anchor="t"/>
          <a:lstStyle/>
          <a:p>
            <a:pPr marL="0" indent="0">
              <a:buNone/>
            </a:pPr>
            <a:r>
              <a:rPr lang="en-US" sz="1250" b="1" dirty="0">
                <a:solidFill>
                  <a:schemeClr val="tx2"/>
                </a:solidFill>
              </a:rPr>
              <a:t>Edge Machine Learning for Data Analysis on Low Computational Capacity Devices</a:t>
            </a:r>
            <a:endParaRPr lang="en-US" sz="1250" dirty="0"/>
          </a:p>
          <a:p>
            <a:pPr marL="0" indent="0">
              <a:spcAft>
                <a:spcPts val="700"/>
              </a:spcAft>
              <a:buNone/>
            </a:pPr>
            <a:r>
              <a:rPr lang="en-US" sz="1100" dirty="0">
                <a:solidFill>
                  <a:schemeClr val="accent5"/>
                </a:solidFill>
              </a:rPr>
              <a:t>Prof. Merenda</a:t>
            </a:r>
            <a:endParaRPr lang="en-US" sz="1250" dirty="0"/>
          </a:p>
          <a:p>
            <a:pPr marL="0" indent="0">
              <a:buNone/>
            </a:pPr>
            <a:r>
              <a:rPr lang="en-US" sz="1250" b="1" dirty="0">
                <a:solidFill>
                  <a:schemeClr val="tx2"/>
                </a:solidFill>
              </a:rPr>
              <a:t>Ensuring Trustworthiness in Federated Learning</a:t>
            </a:r>
            <a:endParaRPr lang="en-US" sz="1250" dirty="0"/>
          </a:p>
          <a:p>
            <a:pPr marL="0" indent="0">
              <a:spcAft>
                <a:spcPts val="700"/>
              </a:spcAft>
              <a:buNone/>
            </a:pPr>
            <a:r>
              <a:rPr lang="en-US" sz="1100" dirty="0">
                <a:solidFill>
                  <a:schemeClr val="accent5"/>
                </a:solidFill>
              </a:rPr>
              <a:t>Prof. Fisichella</a:t>
            </a:r>
            <a:endParaRPr lang="en-US" sz="1250" dirty="0"/>
          </a:p>
          <a:p>
            <a:pPr marL="0" indent="0">
              <a:buNone/>
            </a:pPr>
            <a:r>
              <a:rPr lang="en-US" sz="1250" b="1" dirty="0">
                <a:solidFill>
                  <a:schemeClr val="tx2"/>
                </a:solidFill>
              </a:rPr>
              <a:t>Digital Identity</a:t>
            </a:r>
            <a:endParaRPr lang="en-US" sz="1250" dirty="0"/>
          </a:p>
          <a:p>
            <a:pPr marL="0" indent="0">
              <a:spcAft>
                <a:spcPts val="700"/>
              </a:spcAft>
              <a:buNone/>
            </a:pPr>
            <a:r>
              <a:rPr lang="en-US" sz="1100" dirty="0">
                <a:solidFill>
                  <a:schemeClr val="accent5"/>
                </a:solidFill>
              </a:rPr>
              <a:t>Prof. Lax</a:t>
            </a:r>
            <a:endParaRPr lang="en-US" sz="1250" dirty="0"/>
          </a:p>
          <a:p>
            <a:pPr marL="0" indent="0">
              <a:buNone/>
            </a:pPr>
            <a:r>
              <a:rPr lang="en-US" sz="1250" b="1" dirty="0">
                <a:solidFill>
                  <a:schemeClr val="tx2"/>
                </a:solidFill>
              </a:rPr>
              <a:t>Health Management</a:t>
            </a:r>
            <a:endParaRPr lang="en-US" sz="1250" dirty="0"/>
          </a:p>
          <a:p>
            <a:pPr marL="0" indent="0">
              <a:spcAft>
                <a:spcPts val="700"/>
              </a:spcAft>
              <a:buNone/>
            </a:pPr>
            <a:r>
              <a:rPr lang="en-US" sz="1100" dirty="0">
                <a:solidFill>
                  <a:schemeClr val="accent5"/>
                </a:solidFill>
              </a:rPr>
              <a:t>Prof. Romano</a:t>
            </a:r>
            <a:endParaRPr lang="en-US" sz="1250" dirty="0"/>
          </a:p>
          <a:p>
            <a:pPr marL="0" indent="0">
              <a:buNone/>
            </a:pPr>
            <a:r>
              <a:rPr lang="en-US" sz="1250" b="1" dirty="0">
                <a:solidFill>
                  <a:schemeClr val="tx2"/>
                </a:solidFill>
              </a:rPr>
              <a:t>Foundations of Quantum Mechanics and Applications</a:t>
            </a:r>
            <a:endParaRPr lang="en-US" sz="1250" dirty="0"/>
          </a:p>
          <a:p>
            <a:pPr marL="0" indent="0">
              <a:spcAft>
                <a:spcPts val="700"/>
              </a:spcAft>
              <a:buNone/>
            </a:pPr>
            <a:r>
              <a:rPr lang="en-US" sz="1100" dirty="0">
                <a:solidFill>
                  <a:schemeClr val="accent5"/>
                </a:solidFill>
              </a:rPr>
              <a:t>Profs. Messina and Faggio</a:t>
            </a:r>
            <a:endParaRPr lang="en-US" sz="1250" dirty="0"/>
          </a:p>
        </p:txBody>
      </p:sp>
      <p:sp>
        <p:nvSpPr>
          <p:cNvPr id="9" name="Conference card"/>
          <p:cNvSpPr/>
          <p:nvPr/>
        </p:nvSpPr>
        <p:spPr>
          <a:xfrm>
            <a:off x="356616" y="4800600"/>
            <a:ext cx="4224528" cy="1801368"/>
          </a:xfrm>
          <a:prstGeom prst="roundRect">
            <a:avLst>
              <a:gd name="adj" fmla="val 5076"/>
            </a:avLst>
          </a:prstGeom>
          <a:solidFill>
            <a:schemeClr val="bg2"/>
          </a:solidFill>
          <a:ln/>
        </p:spPr>
        <p:txBody>
          <a:bodyPr/>
          <a:lstStyle/>
          <a:p>
            <a:endParaRPr lang="en-US"/>
          </a:p>
        </p:txBody>
      </p:sp>
      <p:sp>
        <p:nvSpPr>
          <p:cNvPr id="10" name="Badge 3"/>
          <p:cNvSpPr/>
          <p:nvPr/>
        </p:nvSpPr>
        <p:spPr>
          <a:xfrm>
            <a:off x="585216" y="4956048"/>
            <a:ext cx="420624" cy="420624"/>
          </a:xfrm>
          <a:prstGeom prst="ellipse">
            <a:avLst/>
          </a:prstGeom>
          <a:solidFill>
            <a:schemeClr val="accent1"/>
          </a:solidFill>
          <a:ln/>
        </p:spPr>
        <p:txBody>
          <a:bodyPr/>
          <a:lstStyle/>
          <a:p>
            <a:endParaRPr lang="en-US"/>
          </a:p>
        </p:txBody>
      </p:sp>
      <p:sp>
        <p:nvSpPr>
          <p:cNvPr id="11" name="Text 9"/>
          <p:cNvSpPr txBox="1"/>
          <p:nvPr/>
        </p:nvSpPr>
        <p:spPr>
          <a:xfrm>
            <a:off x="585216" y="4956048"/>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2" name="Text 10"/>
          <p:cNvSpPr txBox="1"/>
          <p:nvPr/>
        </p:nvSpPr>
        <p:spPr>
          <a:xfrm>
            <a:off x="1152144" y="4956048"/>
            <a:ext cx="3291840" cy="420624"/>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International Conference</a:t>
            </a:r>
            <a:endParaRPr lang="en-US" sz="1800" dirty="0"/>
          </a:p>
        </p:txBody>
      </p:sp>
      <p:sp>
        <p:nvSpPr>
          <p:cNvPr id="13" name="Text 11"/>
          <p:cNvSpPr txBox="1"/>
          <p:nvPr/>
        </p:nvSpPr>
        <p:spPr>
          <a:xfrm>
            <a:off x="585216" y="5486400"/>
            <a:ext cx="3703320" cy="1005840"/>
          </a:xfrm>
          <a:prstGeom prst="rect">
            <a:avLst/>
          </a:prstGeom>
          <a:noFill/>
          <a:ln/>
        </p:spPr>
        <p:txBody>
          <a:bodyPr wrap="square" lIns="0" tIns="0" rIns="0" bIns="0" rtlCol="0" anchor="t"/>
          <a:lstStyle/>
          <a:p>
            <a:pPr marL="0" indent="0">
              <a:buNone/>
            </a:pPr>
            <a:r>
              <a:rPr lang="en-US" sz="1250" b="1" dirty="0">
                <a:solidFill>
                  <a:schemeClr val="tx2"/>
                </a:solidFill>
              </a:rPr>
              <a:t>NanoInnovation 2026 · Rome · 14–18 Sept 2026</a:t>
            </a:r>
            <a:endParaRPr lang="en-US" sz="1250" dirty="0"/>
          </a:p>
          <a:p>
            <a:pPr marL="0" indent="0">
              <a:spcAft>
                <a:spcPts val="500"/>
              </a:spcAft>
              <a:buNone/>
            </a:pPr>
            <a:r>
              <a:rPr lang="en-US" sz="1100" dirty="0">
                <a:solidFill>
                  <a:schemeClr val="accent5"/>
                </a:solidFill>
              </a:rPr>
              <a:t>Oral presentation: “Machine Learning Raman Classification of Chromonic Liquid Crystal Self-Organisation on Different Substrates”</a:t>
            </a:r>
            <a:endParaRPr lang="en-US" sz="1250" dirty="0"/>
          </a:p>
          <a:p>
            <a:pPr marL="0" indent="0">
              <a:buNone/>
            </a:pPr>
            <a:r>
              <a:rPr lang="en-US" sz="1250" b="1" dirty="0">
                <a:solidFill>
                  <a:schemeClr val="accent1"/>
                </a:solidFill>
              </a:rPr>
              <a:t>→ Outcome: 2 journal articles submitted (under review)</a:t>
            </a:r>
            <a:endParaRPr lang="en-US" sz="1250" dirty="0"/>
          </a:p>
        </p:txBody>
      </p:sp>
      <p:sp>
        <p:nvSpPr>
          <p:cNvPr id="14" name="Badge 2"/>
          <p:cNvSpPr/>
          <p:nvPr/>
        </p:nvSpPr>
        <p:spPr>
          <a:xfrm>
            <a:off x="4736592" y="1444752"/>
            <a:ext cx="420624" cy="420624"/>
          </a:xfrm>
          <a:prstGeom prst="ellipse">
            <a:avLst/>
          </a:prstGeom>
          <a:solidFill>
            <a:schemeClr val="accent1"/>
          </a:solidFill>
          <a:ln/>
        </p:spPr>
        <p:txBody>
          <a:bodyPr/>
          <a:lstStyle/>
          <a:p>
            <a:endParaRPr lang="en-US"/>
          </a:p>
        </p:txBody>
      </p:sp>
      <p:sp>
        <p:nvSpPr>
          <p:cNvPr id="15" name="Text 13"/>
          <p:cNvSpPr txBox="1"/>
          <p:nvPr/>
        </p:nvSpPr>
        <p:spPr>
          <a:xfrm>
            <a:off x="4736592" y="1444752"/>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6" name="Text 14"/>
          <p:cNvSpPr txBox="1"/>
          <p:nvPr/>
        </p:nvSpPr>
        <p:spPr>
          <a:xfrm>
            <a:off x="5303520" y="1444752"/>
            <a:ext cx="4572000" cy="420624"/>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Seminars (5 CFU)</a:t>
            </a:r>
            <a:endParaRPr lang="en-US" sz="1800" dirty="0"/>
          </a:p>
        </p:txBody>
      </p:sp>
      <p:graphicFrame>
        <p:nvGraphicFramePr>
          <p:cNvPr id="17" name="Table 0"/>
          <p:cNvGraphicFramePr>
            <a:graphicFrameLocks noGrp="1"/>
          </p:cNvGraphicFramePr>
          <p:nvPr>
            <p:extLst>
              <p:ext uri="{D42A27DB-BD31-4B8C-83A1-F6EECF244321}">
                <p14:modId xmlns:p14="http://schemas.microsoft.com/office/powerpoint/2010/main" val="2660250594"/>
              </p:ext>
            </p:extLst>
          </p:nvPr>
        </p:nvGraphicFramePr>
        <p:xfrm>
          <a:off x="4736592" y="2011680"/>
          <a:ext cx="7123176" cy="2898648"/>
        </p:xfrm>
        <a:graphic>
          <a:graphicData uri="http://schemas.openxmlformats.org/drawingml/2006/table">
            <a:tbl>
              <a:tblPr/>
              <a:tblGrid>
                <a:gridCol w="3968496">
                  <a:extLst>
                    <a:ext uri="{9D8B030D-6E8A-4147-A177-3AD203B41FA5}">
                      <a16:colId xmlns:a16="http://schemas.microsoft.com/office/drawing/2014/main" val="20000"/>
                    </a:ext>
                  </a:extLst>
                </a:gridCol>
                <a:gridCol w="2459736">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tblGrid>
              <a:tr h="274320">
                <a:tc>
                  <a:txBody>
                    <a:bodyPr/>
                    <a:lstStyle/>
                    <a:p>
                      <a:pPr marL="0" indent="0">
                        <a:buNone/>
                      </a:pPr>
                      <a:r>
                        <a:rPr lang="en-US" sz="1100" b="1" dirty="0">
                          <a:solidFill>
                            <a:srgbClr val="FFFFFF"/>
                          </a:solidFill>
                        </a:rPr>
                        <a:t>Seminar</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137C7C"/>
                    </a:solidFill>
                  </a:tcPr>
                </a:tc>
                <a:tc>
                  <a:txBody>
                    <a:bodyPr/>
                    <a:lstStyle/>
                    <a:p>
                      <a:pPr marL="0" indent="0">
                        <a:buNone/>
                      </a:pPr>
                      <a:r>
                        <a:rPr lang="en-US" sz="1100" b="1" dirty="0">
                          <a:solidFill>
                            <a:srgbClr val="FFFFFF"/>
                          </a:solidFill>
                        </a:rPr>
                        <a:t>Instructor(s)</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137C7C"/>
                    </a:solidFill>
                  </a:tcPr>
                </a:tc>
                <a:tc>
                  <a:txBody>
                    <a:bodyPr/>
                    <a:lstStyle/>
                    <a:p>
                      <a:pPr marL="0" indent="0">
                        <a:buNone/>
                      </a:pPr>
                      <a:r>
                        <a:rPr lang="en-US" sz="1100" b="1" dirty="0">
                          <a:solidFill>
                            <a:srgbClr val="FFFFFF"/>
                          </a:solidFill>
                        </a:rPr>
                        <a:t>Hours</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137C7C"/>
                    </a:solidFill>
                  </a:tcPr>
                </a:tc>
                <a:extLst>
                  <a:ext uri="{0D108BD9-81ED-4DB2-BD59-A6C34878D82A}">
                    <a16:rowId xmlns:a16="http://schemas.microsoft.com/office/drawing/2014/main" val="10000"/>
                  </a:ext>
                </a:extLst>
              </a:tr>
              <a:tr h="274320">
                <a:tc>
                  <a:txBody>
                    <a:bodyPr/>
                    <a:lstStyle/>
                    <a:p>
                      <a:pPr marL="0" indent="0">
                        <a:buNone/>
                      </a:pPr>
                      <a:r>
                        <a:rPr lang="en-US" sz="1100" b="1" dirty="0">
                          <a:solidFill>
                            <a:srgbClr val="1F3A4D"/>
                          </a:solidFill>
                        </a:rPr>
                        <a:t>Some Results for Electromagnetic Design and Retrieval Problems</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DF5F4"/>
                    </a:solidFill>
                  </a:tcPr>
                </a:tc>
                <a:tc>
                  <a:txBody>
                    <a:bodyPr/>
                    <a:lstStyle/>
                    <a:p>
                      <a:pPr marL="0" indent="0">
                        <a:buNone/>
                      </a:pPr>
                      <a:r>
                        <a:rPr lang="en-US" sz="1100" dirty="0">
                          <a:solidFill>
                            <a:srgbClr val="4A5560"/>
                          </a:solidFill>
                        </a:rPr>
                        <a:t>Prof. Mats Gustafsson</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DF5F4"/>
                    </a:solidFill>
                  </a:tcPr>
                </a:tc>
                <a:tc>
                  <a:txBody>
                    <a:bodyPr/>
                    <a:lstStyle/>
                    <a:p>
                      <a:pPr marL="0" indent="0" algn="ctr">
                        <a:buNone/>
                      </a:pPr>
                      <a:r>
                        <a:rPr lang="en-US" sz="1100" dirty="0">
                          <a:solidFill>
                            <a:srgbClr val="1F3A4D"/>
                          </a:solidFill>
                        </a:rPr>
                        <a:t>1.5 h</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DF5F4"/>
                    </a:solidFill>
                  </a:tcPr>
                </a:tc>
                <a:extLst>
                  <a:ext uri="{0D108BD9-81ED-4DB2-BD59-A6C34878D82A}">
                    <a16:rowId xmlns:a16="http://schemas.microsoft.com/office/drawing/2014/main" val="10001"/>
                  </a:ext>
                </a:extLst>
              </a:tr>
              <a:tr h="274320">
                <a:tc>
                  <a:txBody>
                    <a:bodyPr/>
                    <a:lstStyle/>
                    <a:p>
                      <a:pPr marL="0" indent="0">
                        <a:buNone/>
                      </a:pPr>
                      <a:r>
                        <a:rPr lang="en-US" sz="1100" b="1" dirty="0">
                          <a:solidFill>
                            <a:srgbClr val="1F3A4D"/>
                          </a:solidFill>
                        </a:rPr>
                        <a:t>Connected and Automated Mobility (MOST Spoke 6 dissemination activities)</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100" dirty="0">
                          <a:solidFill>
                            <a:srgbClr val="4A5560"/>
                          </a:solidFill>
                        </a:rPr>
                        <a:t>M. Segata, I. Turcanu</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3A4D"/>
                          </a:solidFill>
                        </a:rPr>
                        <a:t>3 h</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100" b="1" dirty="0">
                          <a:solidFill>
                            <a:srgbClr val="1F3A4D"/>
                          </a:solidFill>
                        </a:rPr>
                        <a:t>Factors Affecting the Port Times of Container Ships</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DF5F4"/>
                    </a:solidFill>
                  </a:tcPr>
                </a:tc>
                <a:tc>
                  <a:txBody>
                    <a:bodyPr/>
                    <a:lstStyle/>
                    <a:p>
                      <a:pPr marL="0" indent="0">
                        <a:buNone/>
                      </a:pPr>
                      <a:r>
                        <a:rPr lang="en-US" sz="1100" dirty="0">
                          <a:solidFill>
                            <a:srgbClr val="4A5560"/>
                          </a:solidFill>
                        </a:rPr>
                        <a:t>—</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DF5F4"/>
                    </a:solidFill>
                  </a:tcPr>
                </a:tc>
                <a:tc>
                  <a:txBody>
                    <a:bodyPr/>
                    <a:lstStyle/>
                    <a:p>
                      <a:pPr marL="0" indent="0" algn="ctr">
                        <a:buNone/>
                      </a:pPr>
                      <a:r>
                        <a:rPr lang="en-US" sz="1100" dirty="0">
                          <a:solidFill>
                            <a:srgbClr val="1F3A4D"/>
                          </a:solidFill>
                        </a:rPr>
                        <a:t>4 h</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DF5F4"/>
                    </a:solidFill>
                  </a:tcPr>
                </a:tc>
                <a:extLst>
                  <a:ext uri="{0D108BD9-81ED-4DB2-BD59-A6C34878D82A}">
                    <a16:rowId xmlns:a16="http://schemas.microsoft.com/office/drawing/2014/main" val="10003"/>
                  </a:ext>
                </a:extLst>
              </a:tr>
              <a:tr h="274320">
                <a:tc>
                  <a:txBody>
                    <a:bodyPr/>
                    <a:lstStyle/>
                    <a:p>
                      <a:pPr marL="0" indent="0">
                        <a:buNone/>
                      </a:pPr>
                      <a:r>
                        <a:rPr lang="en-US" sz="1100" b="1" dirty="0">
                          <a:solidFill>
                            <a:srgbClr val="1F3A4D"/>
                          </a:solidFill>
                        </a:rPr>
                        <a:t>Resonances in Geometrically Finite Graphs</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100" dirty="0">
                          <a:solidFill>
                            <a:srgbClr val="4A5560"/>
                          </a:solidFill>
                        </a:rPr>
                        <a:t>Dr Carsten Peterson</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3A4D"/>
                          </a:solidFill>
                        </a:rPr>
                        <a:t>2 h</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buNone/>
                      </a:pPr>
                      <a:r>
                        <a:rPr lang="en-US" sz="1100" b="1" dirty="0">
                          <a:solidFill>
                            <a:srgbClr val="1F3A4D"/>
                          </a:solidFill>
                        </a:rPr>
                        <a:t>Networking Solutions for Cooperative, Connected and Automated Mobility</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DF5F4"/>
                    </a:solidFill>
                  </a:tcPr>
                </a:tc>
                <a:tc>
                  <a:txBody>
                    <a:bodyPr/>
                    <a:lstStyle/>
                    <a:p>
                      <a:pPr marL="0" indent="0">
                        <a:buNone/>
                      </a:pPr>
                      <a:r>
                        <a:rPr lang="en-US" sz="1100" dirty="0">
                          <a:solidFill>
                            <a:srgbClr val="4A5560"/>
                          </a:solidFill>
                        </a:rPr>
                        <a:t>Profs. C. Campolo, A. Bazzi, S. Sargento; Drs F. Brasca, G. Landi</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DF5F4"/>
                    </a:solidFill>
                  </a:tcPr>
                </a:tc>
                <a:tc>
                  <a:txBody>
                    <a:bodyPr/>
                    <a:lstStyle/>
                    <a:p>
                      <a:pPr marL="0" indent="0" algn="ctr">
                        <a:buNone/>
                      </a:pPr>
                      <a:r>
                        <a:rPr lang="en-US" sz="1100" dirty="0">
                          <a:solidFill>
                            <a:srgbClr val="1F3A4D"/>
                          </a:solidFill>
                        </a:rPr>
                        <a:t>4 h</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DF5F4"/>
                    </a:solidFill>
                  </a:tcPr>
                </a:tc>
                <a:extLst>
                  <a:ext uri="{0D108BD9-81ED-4DB2-BD59-A6C34878D82A}">
                    <a16:rowId xmlns:a16="http://schemas.microsoft.com/office/drawing/2014/main" val="10005"/>
                  </a:ext>
                </a:extLst>
              </a:tr>
              <a:tr h="274320">
                <a:tc>
                  <a:txBody>
                    <a:bodyPr/>
                    <a:lstStyle/>
                    <a:p>
                      <a:pPr marL="0" indent="0">
                        <a:buNone/>
                      </a:pPr>
                      <a:r>
                        <a:rPr lang="en-US" sz="1100" b="1" dirty="0">
                          <a:solidFill>
                            <a:srgbClr val="1F3A4D"/>
                          </a:solidFill>
                        </a:rPr>
                        <a:t>Digital Twins and Deep Learning: Advancing Infrastructure Sustainability and Resilience through Remote Sensing and Computer Vision</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100" dirty="0">
                          <a:solidFill>
                            <a:srgbClr val="4A5560"/>
                          </a:solidFill>
                        </a:rPr>
                        <a:t>Dr Surya Sarat Chandra Congress</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3A4D"/>
                          </a:solidFill>
                        </a:rPr>
                        <a:t>3 h</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buNone/>
                      </a:pPr>
                      <a:r>
                        <a:rPr lang="en-US" sz="1100" b="1" dirty="0"/>
                        <a:t>Workshop-Optimization and Equilibrium Problems</a:t>
                      </a:r>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DF5F4"/>
                    </a:solidFill>
                  </a:tcPr>
                </a:tc>
                <a:tc>
                  <a:txBody>
                    <a:bodyPr/>
                    <a:lstStyle/>
                    <a:p>
                      <a:pPr marL="0" indent="0">
                        <a:buNone/>
                      </a:pPr>
                      <a:r>
                        <a:rPr lang="en-US" sz="1100" dirty="0">
                          <a:solidFill>
                            <a:srgbClr val="4A5560"/>
                          </a:solidFill>
                        </a:rPr>
                        <a:t>DICEAM</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DF5F4"/>
                    </a:solidFill>
                  </a:tcPr>
                </a:tc>
                <a:tc>
                  <a:txBody>
                    <a:bodyPr/>
                    <a:lstStyle/>
                    <a:p>
                      <a:pPr marL="0" indent="0" algn="ctr">
                        <a:buNone/>
                      </a:pPr>
                      <a:r>
                        <a:rPr lang="en-US" sz="1100" dirty="0">
                          <a:solidFill>
                            <a:srgbClr val="1F3A4D"/>
                          </a:solidFill>
                        </a:rPr>
                        <a:t>—</a:t>
                      </a:r>
                      <a:endParaRPr lang="en-US" sz="1100" dirty="0"/>
                    </a:p>
                  </a:txBody>
                  <a:tcPr marL="73152" marR="73152" marT="36576" marB="36576"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DF5F4"/>
                    </a:solidFill>
                  </a:tcPr>
                </a:tc>
                <a:extLst>
                  <a:ext uri="{0D108BD9-81ED-4DB2-BD59-A6C34878D82A}">
                    <a16:rowId xmlns:a16="http://schemas.microsoft.com/office/drawing/2014/main" val="10007"/>
                  </a:ext>
                </a:extLst>
              </a:tr>
            </a:tbl>
          </a:graphicData>
        </a:graphic>
      </p:graphicFrame>
      <p:sp>
        <p:nvSpPr>
          <p:cNvPr id="18" name="Publications card"/>
          <p:cNvSpPr/>
          <p:nvPr/>
        </p:nvSpPr>
        <p:spPr>
          <a:xfrm>
            <a:off x="4736592" y="5074920"/>
            <a:ext cx="7123176" cy="1527048"/>
          </a:xfrm>
          <a:prstGeom prst="roundRect">
            <a:avLst>
              <a:gd name="adj" fmla="val 5988"/>
            </a:avLst>
          </a:prstGeom>
          <a:solidFill>
            <a:schemeClr val="bg2"/>
          </a:solidFill>
          <a:ln/>
        </p:spPr>
        <p:txBody>
          <a:bodyPr/>
          <a:lstStyle/>
          <a:p>
            <a:endParaRPr lang="en-US"/>
          </a:p>
        </p:txBody>
      </p:sp>
      <p:sp>
        <p:nvSpPr>
          <p:cNvPr id="19" name="Badge 4"/>
          <p:cNvSpPr/>
          <p:nvPr/>
        </p:nvSpPr>
        <p:spPr>
          <a:xfrm>
            <a:off x="4965192" y="5230368"/>
            <a:ext cx="420624" cy="420624"/>
          </a:xfrm>
          <a:prstGeom prst="ellipse">
            <a:avLst/>
          </a:prstGeom>
          <a:solidFill>
            <a:schemeClr val="accent1"/>
          </a:solidFill>
          <a:ln/>
        </p:spPr>
        <p:txBody>
          <a:bodyPr/>
          <a:lstStyle/>
          <a:p>
            <a:endParaRPr lang="en-US"/>
          </a:p>
        </p:txBody>
      </p:sp>
      <p:sp>
        <p:nvSpPr>
          <p:cNvPr id="20" name="Text 17"/>
          <p:cNvSpPr txBox="1"/>
          <p:nvPr/>
        </p:nvSpPr>
        <p:spPr>
          <a:xfrm>
            <a:off x="4965192" y="5230368"/>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21" name="Text 18"/>
          <p:cNvSpPr txBox="1"/>
          <p:nvPr/>
        </p:nvSpPr>
        <p:spPr>
          <a:xfrm>
            <a:off x="5532120" y="5230368"/>
            <a:ext cx="4572000" cy="420624"/>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Publications from this work</a:t>
            </a:r>
            <a:endParaRPr lang="en-US" sz="1800" dirty="0"/>
          </a:p>
        </p:txBody>
      </p:sp>
      <p:sp>
        <p:nvSpPr>
          <p:cNvPr id="22" name="Text 19"/>
          <p:cNvSpPr txBox="1"/>
          <p:nvPr/>
        </p:nvSpPr>
        <p:spPr>
          <a:xfrm>
            <a:off x="4965192" y="5806440"/>
            <a:ext cx="5212080" cy="292608"/>
          </a:xfrm>
          <a:prstGeom prst="rect">
            <a:avLst/>
          </a:prstGeom>
          <a:noFill/>
          <a:ln/>
        </p:spPr>
        <p:txBody>
          <a:bodyPr wrap="square" lIns="0" tIns="0" rIns="0" bIns="0" rtlCol="0" anchor="ctr"/>
          <a:lstStyle/>
          <a:p>
            <a:pPr marL="0" indent="0">
              <a:buNone/>
            </a:pPr>
            <a:r>
              <a:rPr lang="en-US" sz="1250" dirty="0">
                <a:solidFill>
                  <a:schemeClr val="tx2"/>
                </a:solidFill>
              </a:rPr>
              <a:t>1.  [Paper 1 title] – submitted to [Journal], 2026</a:t>
            </a:r>
            <a:endParaRPr lang="en-US" sz="1250" dirty="0"/>
          </a:p>
        </p:txBody>
      </p:sp>
      <p:sp>
        <p:nvSpPr>
          <p:cNvPr id="23" name="Under review pill 1"/>
          <p:cNvSpPr/>
          <p:nvPr/>
        </p:nvSpPr>
        <p:spPr>
          <a:xfrm>
            <a:off x="10469880" y="5824728"/>
            <a:ext cx="1188720" cy="256032"/>
          </a:xfrm>
          <a:prstGeom prst="roundRect">
            <a:avLst>
              <a:gd name="adj" fmla="val 50000"/>
            </a:avLst>
          </a:prstGeom>
          <a:solidFill>
            <a:schemeClr val="accent1"/>
          </a:solidFill>
          <a:ln/>
        </p:spPr>
        <p:txBody>
          <a:bodyPr/>
          <a:lstStyle/>
          <a:p>
            <a:endParaRPr lang="en-US"/>
          </a:p>
        </p:txBody>
      </p:sp>
      <p:sp>
        <p:nvSpPr>
          <p:cNvPr id="24" name="Text 21"/>
          <p:cNvSpPr txBox="1"/>
          <p:nvPr/>
        </p:nvSpPr>
        <p:spPr>
          <a:xfrm>
            <a:off x="10469880" y="5824728"/>
            <a:ext cx="1188720" cy="256032"/>
          </a:xfrm>
          <a:prstGeom prst="rect">
            <a:avLst/>
          </a:prstGeom>
          <a:noFill/>
          <a:ln/>
        </p:spPr>
        <p:txBody>
          <a:bodyPr wrap="square" lIns="0" tIns="0" rIns="0" bIns="0" rtlCol="0" anchor="ctr"/>
          <a:lstStyle/>
          <a:p>
            <a:pPr marL="0" indent="0" algn="ctr">
              <a:buNone/>
            </a:pPr>
            <a:r>
              <a:rPr lang="en-US" sz="1100" b="1" dirty="0">
                <a:solidFill>
                  <a:schemeClr val="bg1"/>
                </a:solidFill>
              </a:rPr>
              <a:t>Under review</a:t>
            </a:r>
            <a:endParaRPr lang="en-US" sz="1100" dirty="0"/>
          </a:p>
        </p:txBody>
      </p:sp>
      <p:sp>
        <p:nvSpPr>
          <p:cNvPr id="25" name="Text 22"/>
          <p:cNvSpPr txBox="1"/>
          <p:nvPr/>
        </p:nvSpPr>
        <p:spPr>
          <a:xfrm>
            <a:off x="4965192" y="6172200"/>
            <a:ext cx="5212080" cy="292608"/>
          </a:xfrm>
          <a:prstGeom prst="rect">
            <a:avLst/>
          </a:prstGeom>
          <a:noFill/>
          <a:ln/>
        </p:spPr>
        <p:txBody>
          <a:bodyPr wrap="square" lIns="0" tIns="0" rIns="0" bIns="0" rtlCol="0" anchor="ctr"/>
          <a:lstStyle/>
          <a:p>
            <a:pPr marL="0" indent="0">
              <a:buNone/>
            </a:pPr>
            <a:r>
              <a:rPr lang="en-US" sz="1250" dirty="0">
                <a:solidFill>
                  <a:schemeClr val="tx2"/>
                </a:solidFill>
              </a:rPr>
              <a:t>2.  [Paper 2 title] – submitted to [Journal], 2026</a:t>
            </a:r>
            <a:endParaRPr lang="en-US" sz="1250" dirty="0"/>
          </a:p>
        </p:txBody>
      </p:sp>
      <p:sp>
        <p:nvSpPr>
          <p:cNvPr id="26" name="Under review pill 2"/>
          <p:cNvSpPr/>
          <p:nvPr/>
        </p:nvSpPr>
        <p:spPr>
          <a:xfrm>
            <a:off x="10469880" y="6190488"/>
            <a:ext cx="1188720" cy="256032"/>
          </a:xfrm>
          <a:prstGeom prst="roundRect">
            <a:avLst>
              <a:gd name="adj" fmla="val 50000"/>
            </a:avLst>
          </a:prstGeom>
          <a:solidFill>
            <a:schemeClr val="accent1"/>
          </a:solidFill>
          <a:ln/>
        </p:spPr>
        <p:txBody>
          <a:bodyPr/>
          <a:lstStyle/>
          <a:p>
            <a:endParaRPr lang="en-US"/>
          </a:p>
        </p:txBody>
      </p:sp>
      <p:sp>
        <p:nvSpPr>
          <p:cNvPr id="27" name="Text 24"/>
          <p:cNvSpPr txBox="1"/>
          <p:nvPr/>
        </p:nvSpPr>
        <p:spPr>
          <a:xfrm>
            <a:off x="10469880" y="6190488"/>
            <a:ext cx="1188720" cy="256032"/>
          </a:xfrm>
          <a:prstGeom prst="rect">
            <a:avLst/>
          </a:prstGeom>
          <a:noFill/>
          <a:ln/>
        </p:spPr>
        <p:txBody>
          <a:bodyPr wrap="square" lIns="0" tIns="0" rIns="0" bIns="0" rtlCol="0" anchor="ctr"/>
          <a:lstStyle/>
          <a:p>
            <a:pPr marL="0" indent="0" algn="ctr">
              <a:buNone/>
            </a:pPr>
            <a:r>
              <a:rPr lang="en-US" sz="1100" b="1" dirty="0">
                <a:solidFill>
                  <a:schemeClr val="bg1"/>
                </a:solidFill>
              </a:rPr>
              <a:t>Under review</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Raman animated background" descr="Animated background: Raman spectra and laser scattering">
            <a:extLst>
              <a:ext uri="{C183D7F6-B498-43B3-948B-1728B52AA6E4}">
                <adec:decorative xmlns:adec="http://schemas.microsoft.com/office/drawing/2017/decorative" val="1"/>
              </a:ext>
            </a:extLst>
          </p:cNvPr>
          <p:cNvPicPr>
            <a:picLocks noGrp="1" noChangeAspect="1"/>
          </p:cNvPicPr>
          <p:nvPr userDrawn="1"/>
        </p:nvPicPr>
        <p:blipFill>
          <a:blip r:embed="rIdRamanBg"/>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B945649E-A299-FE1E-B7AE-68AFA0F2A786}"/>
              </a:ext>
            </a:extLst>
          </p:cNvPr>
          <p:cNvSpPr txBox="1"/>
          <p:nvPr/>
        </p:nvSpPr>
        <p:spPr>
          <a:xfrm>
            <a:off x="1386865" y="818984"/>
            <a:ext cx="6596245" cy="3268520"/>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800" kern="1200" dirty="0">
                <a:solidFill>
                  <a:schemeClr val="tx2"/>
                </a:solidFill>
                <a:latin typeface="+mj-lt"/>
                <a:ea typeface="+mj-ea"/>
                <a:cs typeface="+mj-cs"/>
              </a:rPr>
              <a:t>Thankyou !</a:t>
            </a:r>
          </a:p>
        </p:txBody>
      </p:sp>
    </p:spTree>
    <p:extLst>
      <p:ext uri="{BB962C8B-B14F-4D97-AF65-F5344CB8AC3E}">
        <p14:creationId xmlns:p14="http://schemas.microsoft.com/office/powerpoint/2010/main" val="34564417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199</TotalTime>
  <Words>1820</Words>
  <Application>Microsoft Office PowerPoint</Application>
  <PresentationFormat>Widescreen</PresentationFormat>
  <Paragraphs>213</Paragraphs>
  <Slides>10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Calibri</vt:lpstr>
      <vt:lpstr>Cambria</vt:lpstr>
      <vt:lpstr>Office Theme</vt:lpstr>
      <vt:lpstr>PowerPoint Presentation</vt:lpstr>
      <vt:lpstr>Research Activity – First Year: Motivation</vt:lpstr>
      <vt:lpstr>Raman Mapping: A Chemical Fingerprint at Every Pixel</vt:lpstr>
      <vt:lpstr>Weak Signal? SERS Makes It Visible</vt:lpstr>
      <vt:lpstr>PowerPoint Presentation</vt:lpstr>
      <vt:lpstr>Ag/SiNW SERS: Acacia EVs vs Nanovesicles</vt:lpstr>
      <vt:lpstr>Ag/SiNW SERS Substrate :</vt:lpstr>
      <vt:lpstr>PowerPoint Presentation</vt:lpstr>
      <vt:lpstr>Training Activities: Mini-courses, Seminars &amp; Conferences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Hira Aman</dc:creator>
  <cp:lastModifiedBy>Hira Aman</cp:lastModifiedBy>
  <cp:revision>8</cp:revision>
  <dcterms:created xsi:type="dcterms:W3CDTF">2026-09-29T18:33:05Z</dcterms:created>
  <dcterms:modified xsi:type="dcterms:W3CDTF">2026-10-16T09:57:38Z</dcterms:modified>
</cp:coreProperties>
</file>